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5"/>
  </p:notesMasterIdLst>
  <p:sldIdLst>
    <p:sldId id="332" r:id="rId2"/>
    <p:sldId id="333" r:id="rId3"/>
    <p:sldId id="340" r:id="rId4"/>
    <p:sldId id="341" r:id="rId5"/>
    <p:sldId id="334" r:id="rId6"/>
    <p:sldId id="335" r:id="rId7"/>
    <p:sldId id="336" r:id="rId8"/>
    <p:sldId id="343" r:id="rId9"/>
    <p:sldId id="344" r:id="rId10"/>
    <p:sldId id="345" r:id="rId11"/>
    <p:sldId id="346" r:id="rId12"/>
    <p:sldId id="347" r:id="rId13"/>
    <p:sldId id="354" r:id="rId14"/>
    <p:sldId id="355" r:id="rId15"/>
    <p:sldId id="356" r:id="rId16"/>
    <p:sldId id="357" r:id="rId17"/>
    <p:sldId id="358" r:id="rId18"/>
    <p:sldId id="365" r:id="rId19"/>
    <p:sldId id="366" r:id="rId20"/>
    <p:sldId id="367" r:id="rId21"/>
    <p:sldId id="330" r:id="rId22"/>
    <p:sldId id="359" r:id="rId23"/>
    <p:sldId id="360" r:id="rId24"/>
    <p:sldId id="361" r:id="rId25"/>
    <p:sldId id="362" r:id="rId26"/>
    <p:sldId id="363" r:id="rId27"/>
    <p:sldId id="364" r:id="rId28"/>
    <p:sldId id="392" r:id="rId29"/>
    <p:sldId id="393" r:id="rId30"/>
    <p:sldId id="394" r:id="rId31"/>
    <p:sldId id="395" r:id="rId32"/>
    <p:sldId id="396" r:id="rId33"/>
    <p:sldId id="397" r:id="rId34"/>
    <p:sldId id="368" r:id="rId35"/>
    <p:sldId id="369" r:id="rId36"/>
    <p:sldId id="370" r:id="rId37"/>
    <p:sldId id="436" r:id="rId38"/>
    <p:sldId id="435" r:id="rId39"/>
    <p:sldId id="372" r:id="rId40"/>
    <p:sldId id="444" r:id="rId41"/>
    <p:sldId id="445" r:id="rId42"/>
    <p:sldId id="447" r:id="rId43"/>
    <p:sldId id="460" r:id="rId44"/>
    <p:sldId id="448" r:id="rId45"/>
    <p:sldId id="449" r:id="rId46"/>
    <p:sldId id="450" r:id="rId47"/>
    <p:sldId id="451" r:id="rId48"/>
    <p:sldId id="452" r:id="rId49"/>
    <p:sldId id="453" r:id="rId50"/>
    <p:sldId id="454" r:id="rId51"/>
    <p:sldId id="455" r:id="rId52"/>
    <p:sldId id="456" r:id="rId53"/>
    <p:sldId id="457" r:id="rId54"/>
    <p:sldId id="458" r:id="rId55"/>
    <p:sldId id="459" r:id="rId56"/>
    <p:sldId id="461" r:id="rId57"/>
    <p:sldId id="380" r:id="rId58"/>
    <p:sldId id="385" r:id="rId59"/>
    <p:sldId id="386" r:id="rId60"/>
    <p:sldId id="387" r:id="rId61"/>
    <p:sldId id="388" r:id="rId62"/>
    <p:sldId id="389" r:id="rId63"/>
    <p:sldId id="381" r:id="rId64"/>
    <p:sldId id="390" r:id="rId65"/>
    <p:sldId id="391" r:id="rId66"/>
    <p:sldId id="382" r:id="rId67"/>
    <p:sldId id="383" r:id="rId68"/>
    <p:sldId id="384" r:id="rId69"/>
    <p:sldId id="462" r:id="rId70"/>
    <p:sldId id="463" r:id="rId71"/>
    <p:sldId id="437" r:id="rId72"/>
    <p:sldId id="442" r:id="rId73"/>
    <p:sldId id="443" r:id="rId7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94660"/>
  </p:normalViewPr>
  <p:slideViewPr>
    <p:cSldViewPr snapToGrid="0" snapToObjects="1">
      <p:cViewPr varScale="1">
        <p:scale>
          <a:sx n="65" d="100"/>
          <a:sy n="65" d="100"/>
        </p:scale>
        <p:origin x="1320" y="4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039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20A4B2-93B7-8840-9297-3EAB8057E27A}" type="datetimeFigureOut">
              <a:rPr lang="en-US" smtClean="0"/>
              <a:pPr/>
              <a:t>9/25/2026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4336D29-F319-EB4C-8CF0-C62648F04A62}" type="slidenum">
              <a:rPr lang="en-US" smtClean="0"/>
              <a:pPr/>
              <a:t>‹#›</a:t>
            </a:fld>
            <a:endParaRPr lang="en-US"/>
          </a:p>
        </p:txBody>
      </p:sp>
    </p:spTree>
    <p:extLst>
      <p:ext uri="{BB962C8B-B14F-4D97-AF65-F5344CB8AC3E}">
        <p14:creationId xmlns:p14="http://schemas.microsoft.com/office/powerpoint/2010/main" val="321105822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068DF0D-4E92-FD4D-AC14-A4F4E6385D31}" type="datetimeFigureOut">
              <a:rPr lang="en-US" smtClean="0"/>
              <a:pPr/>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6A29A6-D9F2-4445-A1D6-345A910FB10B}" type="slidenum">
              <a:rPr lang="en-US" smtClean="0"/>
              <a:pPr/>
              <a:t>‹#›</a:t>
            </a:fld>
            <a:endParaRPr lang="en-US"/>
          </a:p>
        </p:txBody>
      </p:sp>
    </p:spTree>
    <p:extLst>
      <p:ext uri="{BB962C8B-B14F-4D97-AF65-F5344CB8AC3E}">
        <p14:creationId xmlns:p14="http://schemas.microsoft.com/office/powerpoint/2010/main" val="42205765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068DF0D-4E92-FD4D-AC14-A4F4E6385D31}" type="datetimeFigureOut">
              <a:rPr lang="en-US" smtClean="0"/>
              <a:pPr/>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6A29A6-D9F2-4445-A1D6-345A910FB10B}" type="slidenum">
              <a:rPr lang="en-US" smtClean="0"/>
              <a:pPr/>
              <a:t>‹#›</a:t>
            </a:fld>
            <a:endParaRPr lang="en-US"/>
          </a:p>
        </p:txBody>
      </p:sp>
    </p:spTree>
    <p:extLst>
      <p:ext uri="{BB962C8B-B14F-4D97-AF65-F5344CB8AC3E}">
        <p14:creationId xmlns:p14="http://schemas.microsoft.com/office/powerpoint/2010/main" val="11571378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068DF0D-4E92-FD4D-AC14-A4F4E6385D31}" type="datetimeFigureOut">
              <a:rPr lang="en-US" smtClean="0"/>
              <a:pPr/>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6A29A6-D9F2-4445-A1D6-345A910FB10B}" type="slidenum">
              <a:rPr lang="en-US" smtClean="0"/>
              <a:pPr/>
              <a:t>‹#›</a:t>
            </a:fld>
            <a:endParaRPr lang="en-US"/>
          </a:p>
        </p:txBody>
      </p:sp>
    </p:spTree>
    <p:extLst>
      <p:ext uri="{BB962C8B-B14F-4D97-AF65-F5344CB8AC3E}">
        <p14:creationId xmlns:p14="http://schemas.microsoft.com/office/powerpoint/2010/main" val="39051288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068DF0D-4E92-FD4D-AC14-A4F4E6385D31}" type="datetimeFigureOut">
              <a:rPr lang="en-US" smtClean="0"/>
              <a:pPr/>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6A29A6-D9F2-4445-A1D6-345A910FB10B}" type="slidenum">
              <a:rPr lang="en-US" smtClean="0"/>
              <a:pPr/>
              <a:t>‹#›</a:t>
            </a:fld>
            <a:endParaRPr lang="en-US"/>
          </a:p>
        </p:txBody>
      </p:sp>
    </p:spTree>
    <p:extLst>
      <p:ext uri="{BB962C8B-B14F-4D97-AF65-F5344CB8AC3E}">
        <p14:creationId xmlns:p14="http://schemas.microsoft.com/office/powerpoint/2010/main" val="25646818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068DF0D-4E92-FD4D-AC14-A4F4E6385D31}" type="datetimeFigureOut">
              <a:rPr lang="en-US" smtClean="0"/>
              <a:pPr/>
              <a:t>9/25/2026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96A29A6-D9F2-4445-A1D6-345A910FB10B}" type="slidenum">
              <a:rPr lang="en-US" smtClean="0"/>
              <a:pPr/>
              <a:t>‹#›</a:t>
            </a:fld>
            <a:endParaRPr lang="en-US"/>
          </a:p>
        </p:txBody>
      </p:sp>
    </p:spTree>
    <p:extLst>
      <p:ext uri="{BB962C8B-B14F-4D97-AF65-F5344CB8AC3E}">
        <p14:creationId xmlns:p14="http://schemas.microsoft.com/office/powerpoint/2010/main" val="5367247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068DF0D-4E92-FD4D-AC14-A4F4E6385D31}" type="datetimeFigureOut">
              <a:rPr lang="en-US" smtClean="0"/>
              <a:pPr/>
              <a:t>9/25/2026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96A29A6-D9F2-4445-A1D6-345A910FB10B}" type="slidenum">
              <a:rPr lang="en-US" smtClean="0"/>
              <a:pPr/>
              <a:t>‹#›</a:t>
            </a:fld>
            <a:endParaRPr lang="en-US"/>
          </a:p>
        </p:txBody>
      </p:sp>
    </p:spTree>
    <p:extLst>
      <p:ext uri="{BB962C8B-B14F-4D97-AF65-F5344CB8AC3E}">
        <p14:creationId xmlns:p14="http://schemas.microsoft.com/office/powerpoint/2010/main" val="1580915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68DF0D-4E92-FD4D-AC14-A4F4E6385D31}" type="datetimeFigureOut">
              <a:rPr lang="en-US" smtClean="0"/>
              <a:pPr/>
              <a:t>9/25/2026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96A29A6-D9F2-4445-A1D6-345A910FB10B}" type="slidenum">
              <a:rPr lang="en-US" smtClean="0"/>
              <a:pPr/>
              <a:t>‹#›</a:t>
            </a:fld>
            <a:endParaRPr lang="en-US"/>
          </a:p>
        </p:txBody>
      </p:sp>
    </p:spTree>
    <p:extLst>
      <p:ext uri="{BB962C8B-B14F-4D97-AF65-F5344CB8AC3E}">
        <p14:creationId xmlns:p14="http://schemas.microsoft.com/office/powerpoint/2010/main" val="3945889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068DF0D-4E92-FD4D-AC14-A4F4E6385D31}" type="datetimeFigureOut">
              <a:rPr lang="en-US" smtClean="0"/>
              <a:pPr/>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6A29A6-D9F2-4445-A1D6-345A910FB10B}" type="slidenum">
              <a:rPr lang="en-US" smtClean="0"/>
              <a:pPr/>
              <a:t>‹#›</a:t>
            </a:fld>
            <a:endParaRPr lang="en-US"/>
          </a:p>
        </p:txBody>
      </p:sp>
    </p:spTree>
    <p:extLst>
      <p:ext uri="{BB962C8B-B14F-4D97-AF65-F5344CB8AC3E}">
        <p14:creationId xmlns:p14="http://schemas.microsoft.com/office/powerpoint/2010/main" val="4007311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068DF0D-4E92-FD4D-AC14-A4F4E6385D31}" type="datetimeFigureOut">
              <a:rPr lang="en-US" smtClean="0"/>
              <a:pPr/>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6A29A6-D9F2-4445-A1D6-345A910FB10B}" type="slidenum">
              <a:rPr lang="en-US" smtClean="0"/>
              <a:pPr/>
              <a:t>‹#›</a:t>
            </a:fld>
            <a:endParaRPr lang="en-US"/>
          </a:p>
        </p:txBody>
      </p:sp>
    </p:spTree>
    <p:extLst>
      <p:ext uri="{BB962C8B-B14F-4D97-AF65-F5344CB8AC3E}">
        <p14:creationId xmlns:p14="http://schemas.microsoft.com/office/powerpoint/2010/main" val="12876970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068DF0D-4E92-FD4D-AC14-A4F4E6385D31}" type="datetimeFigureOut">
              <a:rPr lang="en-US" smtClean="0"/>
              <a:pPr/>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6A29A6-D9F2-4445-A1D6-345A910FB10B}" type="slidenum">
              <a:rPr lang="en-US" smtClean="0"/>
              <a:pPr/>
              <a:t>‹#›</a:t>
            </a:fld>
            <a:endParaRPr lang="en-US"/>
          </a:p>
        </p:txBody>
      </p:sp>
    </p:spTree>
    <p:extLst>
      <p:ext uri="{BB962C8B-B14F-4D97-AF65-F5344CB8AC3E}">
        <p14:creationId xmlns:p14="http://schemas.microsoft.com/office/powerpoint/2010/main" val="10840286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068DF0D-4E92-FD4D-AC14-A4F4E6385D31}" type="datetimeFigureOut">
              <a:rPr lang="en-US" smtClean="0"/>
              <a:pPr/>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6A29A6-D9F2-4445-A1D6-345A910FB10B}" type="slidenum">
              <a:rPr lang="en-US" smtClean="0"/>
              <a:pPr/>
              <a:t>‹#›</a:t>
            </a:fld>
            <a:endParaRPr lang="en-US"/>
          </a:p>
        </p:txBody>
      </p:sp>
    </p:spTree>
    <p:extLst>
      <p:ext uri="{BB962C8B-B14F-4D97-AF65-F5344CB8AC3E}">
        <p14:creationId xmlns:p14="http://schemas.microsoft.com/office/powerpoint/2010/main" val="41327773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A07EFB43-9D61-41B5-A937-F93141AD66CE}"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57200" y="1600200"/>
            <a:ext cx="8229600" cy="4525963"/>
          </a:xfrm>
        </p:spPr>
        <p:txBody>
          <a:bodyPr/>
          <a:lstStyle/>
          <a:p>
            <a:pPr lvl="0"/>
            <a:endParaRPr lang="en-US" noProof="0" smtClean="0"/>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47C4DA7-BEFE-4A64-B59A-CC73741CDF0C}"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68DF0D-4E92-FD4D-AC14-A4F4E6385D31}" type="datetimeFigureOut">
              <a:rPr lang="en-US" smtClean="0"/>
              <a:pPr/>
              <a:t>9/25/2026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96A29A6-D9F2-4445-A1D6-345A910FB10B}" type="slidenum">
              <a:rPr lang="en-US" smtClean="0"/>
              <a:pPr/>
              <a:t>‹#›</a:t>
            </a:fld>
            <a:endParaRPr lang="en-US"/>
          </a:p>
        </p:txBody>
      </p:sp>
    </p:spTree>
    <p:extLst>
      <p:ext uri="{BB962C8B-B14F-4D97-AF65-F5344CB8AC3E}">
        <p14:creationId xmlns:p14="http://schemas.microsoft.com/office/powerpoint/2010/main" val="1513292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6" r:id="rId12"/>
    <p:sldLayoutId id="2147483667" r:id="rId1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file:///C:\Documents%20and%20Settings\ShriRam\Desktop\Normality%20outliers\Jarque-Bera%20test%20-%20Wikipedia,%20the%20free%20encyclopedia_files\84790e2b15a305120bc3fbeb4a4eeb4f.png" TargetMode="External"/><Relationship Id="rId4" Type="http://schemas.openxmlformats.org/officeDocument/2006/relationships/image" Target="../media/image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image" Target="../media/image10.wmf"/></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Financial  </a:t>
            </a:r>
            <a:r>
              <a:rPr lang="en-IN" dirty="0" err="1" smtClean="0"/>
              <a:t>Modeling</a:t>
            </a:r>
            <a:r>
              <a:rPr lang="en-IN" dirty="0" smtClean="0"/>
              <a:t> -Basics</a:t>
            </a:r>
            <a:endParaRPr lang="en-IN" dirty="0"/>
          </a:p>
        </p:txBody>
      </p:sp>
      <p:sp>
        <p:nvSpPr>
          <p:cNvPr id="3" name="Subtitle 2"/>
          <p:cNvSpPr>
            <a:spLocks noGrp="1"/>
          </p:cNvSpPr>
          <p:nvPr>
            <p:ph type="subTitle" idx="1"/>
          </p:nvPr>
        </p:nvSpPr>
        <p:spPr/>
        <p:txBody>
          <a:bodyPr>
            <a:normAutofit fontScale="85000" lnSpcReduction="20000"/>
          </a:bodyPr>
          <a:lstStyle/>
          <a:p>
            <a:r>
              <a:rPr lang="en-IN" dirty="0" err="1" smtClean="0"/>
              <a:t>M.Thenmozhi</a:t>
            </a:r>
            <a:endParaRPr lang="en-IN" dirty="0" smtClean="0"/>
          </a:p>
          <a:p>
            <a:r>
              <a:rPr lang="en-IN" dirty="0" smtClean="0"/>
              <a:t>Professor</a:t>
            </a:r>
          </a:p>
          <a:p>
            <a:r>
              <a:rPr lang="en-IN" dirty="0" err="1" smtClean="0"/>
              <a:t>DoMS</a:t>
            </a:r>
            <a:r>
              <a:rPr lang="en-IN" dirty="0" smtClean="0"/>
              <a:t>, IIT Madras</a:t>
            </a:r>
          </a:p>
          <a:p>
            <a:r>
              <a:rPr lang="en-IN" dirty="0" smtClean="0"/>
              <a:t>mtm@iitm.ac.in</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 Nobel Prize Winners</a:t>
            </a:r>
            <a:br>
              <a:rPr lang="en-IN" dirty="0" smtClean="0"/>
            </a:br>
            <a:r>
              <a:rPr lang="en-IN" dirty="0" smtClean="0"/>
              <a:t> – Financial Economics</a:t>
            </a:r>
            <a:endParaRPr lang="en-IN" dirty="0"/>
          </a:p>
        </p:txBody>
      </p:sp>
      <p:sp>
        <p:nvSpPr>
          <p:cNvPr id="3" name="Content Placeholder 2"/>
          <p:cNvSpPr>
            <a:spLocks noGrp="1"/>
          </p:cNvSpPr>
          <p:nvPr>
            <p:ph idx="1"/>
          </p:nvPr>
        </p:nvSpPr>
        <p:spPr/>
        <p:txBody>
          <a:bodyPr>
            <a:normAutofit/>
          </a:bodyPr>
          <a:lstStyle/>
          <a:p>
            <a:pPr>
              <a:spcAft>
                <a:spcPts val="600"/>
              </a:spcAft>
              <a:buNone/>
            </a:pPr>
            <a:r>
              <a:rPr lang="en-IN" sz="2000" b="1" dirty="0" smtClean="0"/>
              <a:t>2013  		Eugene F. </a:t>
            </a:r>
            <a:r>
              <a:rPr lang="en-IN" sz="2000" b="1" dirty="0" err="1" smtClean="0"/>
              <a:t>Fama</a:t>
            </a:r>
            <a:r>
              <a:rPr lang="en-IN" sz="2000" b="1" dirty="0" smtClean="0"/>
              <a:t>, Lars Peter Hansen </a:t>
            </a:r>
            <a:r>
              <a:rPr lang="en-IN" sz="2000" dirty="0" smtClean="0"/>
              <a:t>and</a:t>
            </a:r>
            <a:r>
              <a:rPr lang="en-IN" sz="2000" b="1" dirty="0" smtClean="0"/>
              <a:t> Robert J. </a:t>
            </a:r>
            <a:r>
              <a:rPr lang="en-IN" sz="2000" b="1" dirty="0" err="1" smtClean="0"/>
              <a:t>Shiller</a:t>
            </a:r>
            <a:endParaRPr lang="en-IN" sz="2000" dirty="0" smtClean="0"/>
          </a:p>
          <a:p>
            <a:pPr>
              <a:spcAft>
                <a:spcPts val="600"/>
              </a:spcAft>
              <a:buNone/>
            </a:pPr>
            <a:r>
              <a:rPr lang="en-IN" sz="2000" dirty="0" smtClean="0"/>
              <a:t>				"for their empirical analysis of asset prices”</a:t>
            </a:r>
          </a:p>
          <a:p>
            <a:pPr lvl="1"/>
            <a:r>
              <a:rPr lang="en-US" sz="2400" b="1" dirty="0" smtClean="0"/>
              <a:t>Eugene </a:t>
            </a:r>
            <a:r>
              <a:rPr lang="en-US" sz="2400" b="1" dirty="0" err="1" smtClean="0"/>
              <a:t>Fama</a:t>
            </a:r>
            <a:r>
              <a:rPr lang="en-US" sz="2400" b="1" dirty="0" smtClean="0"/>
              <a:t> (</a:t>
            </a:r>
            <a:r>
              <a:rPr lang="en-US" sz="2400" b="1" dirty="0" err="1" smtClean="0"/>
              <a:t>UChicago</a:t>
            </a:r>
            <a:r>
              <a:rPr lang="en-US" sz="2400" b="1" dirty="0" smtClean="0"/>
              <a:t>),</a:t>
            </a:r>
          </a:p>
          <a:p>
            <a:pPr lvl="1"/>
            <a:r>
              <a:rPr lang="en-US" sz="2400" b="1" dirty="0" smtClean="0"/>
              <a:t>Lars Peter Hansen (</a:t>
            </a:r>
            <a:r>
              <a:rPr lang="en-US" sz="2400" b="1" dirty="0" err="1" smtClean="0"/>
              <a:t>UChicago</a:t>
            </a:r>
            <a:r>
              <a:rPr lang="en-US" sz="2400" b="1" dirty="0" smtClean="0"/>
              <a:t>), and</a:t>
            </a:r>
          </a:p>
          <a:p>
            <a:pPr lvl="1"/>
            <a:r>
              <a:rPr lang="en-US" sz="2400" b="1" dirty="0" smtClean="0"/>
              <a:t>Robert </a:t>
            </a:r>
            <a:r>
              <a:rPr lang="en-US" sz="2400" b="1" dirty="0" err="1" smtClean="0"/>
              <a:t>Shiller</a:t>
            </a:r>
            <a:r>
              <a:rPr lang="en-US" sz="2400" b="1" dirty="0" smtClean="0"/>
              <a:t> (Yale)</a:t>
            </a:r>
          </a:p>
          <a:p>
            <a:pPr lvl="2"/>
            <a:r>
              <a:rPr lang="en-US" dirty="0" smtClean="0"/>
              <a:t>For their </a:t>
            </a:r>
            <a:r>
              <a:rPr lang="en-US" i="1" dirty="0" smtClean="0"/>
              <a:t>empirical work aimed at understanding how asset prices are determined</a:t>
            </a:r>
            <a:r>
              <a:rPr lang="en-US" dirty="0" smtClean="0"/>
              <a:t>.</a:t>
            </a:r>
          </a:p>
          <a:p>
            <a:pPr lvl="2"/>
            <a:r>
              <a:rPr lang="en-US" dirty="0" smtClean="0"/>
              <a:t>Their work has, jointly and independently, improve our understanding of asset pricing mechanism.</a:t>
            </a:r>
          </a:p>
          <a:p>
            <a:pPr>
              <a:spcAft>
                <a:spcPts val="600"/>
              </a:spcAft>
              <a:buNone/>
            </a:pPr>
            <a:endParaRPr lang="en-IN" sz="2000" dirty="0" smtClean="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Eugene </a:t>
            </a:r>
            <a:r>
              <a:rPr lang="en-US" dirty="0" err="1" smtClean="0"/>
              <a:t>Fama</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36957742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14348" y="4500570"/>
            <a:ext cx="7772400" cy="1470025"/>
          </a:xfrm>
        </p:spPr>
        <p:txBody>
          <a:bodyPr>
            <a:normAutofit fontScale="90000"/>
          </a:bodyPr>
          <a:lstStyle/>
          <a:p>
            <a:r>
              <a:rPr lang="en-US" sz="3200" b="1" dirty="0" smtClean="0"/>
              <a:t>EUGENE F. FAMA</a:t>
            </a:r>
            <a:r>
              <a:rPr lang="en-US" sz="2400" dirty="0" smtClean="0"/>
              <a:t/>
            </a:r>
            <a:br>
              <a:rPr lang="en-US" sz="2400" dirty="0" smtClean="0"/>
            </a:br>
            <a:r>
              <a:rPr lang="en-US" sz="2400" dirty="0" smtClean="0"/>
              <a:t>“The Father of Modern Finance”</a:t>
            </a:r>
            <a:br>
              <a:rPr lang="en-US" sz="2400" dirty="0" smtClean="0"/>
            </a:br>
            <a:r>
              <a:rPr lang="en-US" sz="2400" dirty="0" smtClean="0"/>
              <a:t>Currently, </a:t>
            </a:r>
            <a:r>
              <a:rPr lang="en-US" sz="2400" dirty="0" smtClean="0">
                <a:solidFill>
                  <a:sysClr val="windowText" lastClr="000000"/>
                </a:solidFill>
              </a:rPr>
              <a:t>a professor in University of Chicago.</a:t>
            </a:r>
            <a:r>
              <a:rPr lang="en-IN" sz="2400" dirty="0" smtClean="0"/>
              <a:t/>
            </a:r>
            <a:br>
              <a:rPr lang="en-IN" sz="2400" dirty="0" smtClean="0"/>
            </a:br>
            <a:endParaRPr lang="en-IN" sz="2400" dirty="0"/>
          </a:p>
        </p:txBody>
      </p:sp>
      <p:sp>
        <p:nvSpPr>
          <p:cNvPr id="1026" name="AutoShape 2" descr="https://gsbcomphoto.chicagobooth.edu/fefama.jpg"/>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IN"/>
          </a:p>
        </p:txBody>
      </p:sp>
      <p:pic>
        <p:nvPicPr>
          <p:cNvPr id="1027" name="Picture 3" descr="C:\Users\Thenmozhi\Desktop\fefama.jpg"/>
          <p:cNvPicPr>
            <a:picLocks noChangeAspect="1" noChangeArrowheads="1"/>
          </p:cNvPicPr>
          <p:nvPr/>
        </p:nvPicPr>
        <p:blipFill>
          <a:blip r:embed="rId2"/>
          <a:srcRect/>
          <a:stretch>
            <a:fillRect/>
          </a:stretch>
        </p:blipFill>
        <p:spPr bwMode="auto">
          <a:xfrm>
            <a:off x="3000364" y="785794"/>
            <a:ext cx="3143272" cy="3714776"/>
          </a:xfrm>
          <a:prstGeom prst="rect">
            <a:avLst/>
          </a:prstGeom>
          <a:noFill/>
        </p:spPr>
      </p:pic>
    </p:spTree>
    <p:extLst>
      <p:ext uri="{BB962C8B-B14F-4D97-AF65-F5344CB8AC3E}">
        <p14:creationId xmlns:p14="http://schemas.microsoft.com/office/powerpoint/2010/main" val="25145725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err="1" smtClean="0"/>
              <a:t>Fama’s</a:t>
            </a:r>
            <a:r>
              <a:rPr lang="en-IN" dirty="0" smtClean="0"/>
              <a:t> Efficient Market Hypothesis (EMH) </a:t>
            </a:r>
            <a:endParaRPr lang="en-IN" dirty="0"/>
          </a:p>
        </p:txBody>
      </p:sp>
      <p:sp>
        <p:nvSpPr>
          <p:cNvPr id="3" name="Content Placeholder 2"/>
          <p:cNvSpPr>
            <a:spLocks noGrp="1"/>
          </p:cNvSpPr>
          <p:nvPr>
            <p:ph idx="1"/>
          </p:nvPr>
        </p:nvSpPr>
        <p:spPr/>
        <p:txBody>
          <a:bodyPr>
            <a:normAutofit fontScale="85000" lnSpcReduction="20000"/>
          </a:bodyPr>
          <a:lstStyle/>
          <a:p>
            <a:r>
              <a:rPr lang="en-IN" dirty="0" smtClean="0"/>
              <a:t>Investment theory  - it is impossible to "beat the market" </a:t>
            </a:r>
          </a:p>
          <a:p>
            <a:r>
              <a:rPr lang="en-IN" dirty="0" smtClean="0"/>
              <a:t>because stock market efficiency causes existing share prices to always incorporate and reflect all relevant information</a:t>
            </a:r>
          </a:p>
          <a:p>
            <a:r>
              <a:rPr lang="en-IN" dirty="0" smtClean="0"/>
              <a:t>stocks always trade - fair value on stock exchanges</a:t>
            </a:r>
          </a:p>
          <a:p>
            <a:pPr lvl="1"/>
            <a:r>
              <a:rPr lang="en-IN" dirty="0" smtClean="0"/>
              <a:t> impossible for investors to either purchase undervalued stocks or sell stocks at  inflated prices.</a:t>
            </a:r>
          </a:p>
          <a:p>
            <a:pPr lvl="1"/>
            <a:r>
              <a:rPr lang="en-IN" dirty="0" smtClean="0"/>
              <a:t>i.e. impossible to outperform the overall market through expert stock selection or market timing, </a:t>
            </a:r>
          </a:p>
          <a:p>
            <a:pPr lvl="1"/>
            <a:r>
              <a:rPr lang="en-IN" dirty="0" smtClean="0"/>
              <a:t>Investors can possibly obtain higher returns is by purchasing riskier investments</a:t>
            </a: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b="1" dirty="0" smtClean="0"/>
              <a:t>Random walk hypothesis</a:t>
            </a:r>
          </a:p>
          <a:p>
            <a:pPr lvl="1"/>
            <a:r>
              <a:rPr lang="en-IN" dirty="0" smtClean="0"/>
              <a:t>Financial theory stating that stock market prices evolve according to a random walk and thus cannot be predicted. </a:t>
            </a:r>
          </a:p>
          <a:p>
            <a:pPr lvl="1"/>
            <a:r>
              <a:rPr lang="en-IN" dirty="0" smtClean="0"/>
              <a:t>It is consistent with the efficient-market hypothesis</a:t>
            </a: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EMH </a:t>
            </a:r>
            <a:endParaRPr lang="en-IN" dirty="0"/>
          </a:p>
        </p:txBody>
      </p:sp>
      <p:sp>
        <p:nvSpPr>
          <p:cNvPr id="3" name="Content Placeholder 2"/>
          <p:cNvSpPr>
            <a:spLocks noGrp="1"/>
          </p:cNvSpPr>
          <p:nvPr>
            <p:ph idx="1"/>
          </p:nvPr>
        </p:nvSpPr>
        <p:spPr/>
        <p:txBody>
          <a:bodyPr>
            <a:normAutofit fontScale="92500"/>
          </a:bodyPr>
          <a:lstStyle/>
          <a:p>
            <a:r>
              <a:rPr lang="en-IN" dirty="0" smtClean="0"/>
              <a:t>all past prices of a stock are reflected in today's stock price. </a:t>
            </a:r>
          </a:p>
          <a:p>
            <a:pPr lvl="1"/>
            <a:r>
              <a:rPr lang="en-IN" dirty="0" smtClean="0"/>
              <a:t>technical analysis cannot yield  superior gain – </a:t>
            </a:r>
            <a:r>
              <a:rPr lang="en-IN" dirty="0" smtClean="0">
                <a:solidFill>
                  <a:srgbClr val="C00000"/>
                </a:solidFill>
              </a:rPr>
              <a:t>weak </a:t>
            </a:r>
          </a:p>
          <a:p>
            <a:r>
              <a:rPr lang="en-IN" dirty="0" smtClean="0"/>
              <a:t>all public information is calculated into a stock's current share price.</a:t>
            </a:r>
          </a:p>
          <a:p>
            <a:pPr lvl="1"/>
            <a:r>
              <a:rPr lang="en-IN" dirty="0" smtClean="0"/>
              <a:t> neither fundamental nor technical analysis can yield  superior gains – </a:t>
            </a:r>
            <a:r>
              <a:rPr lang="en-IN" dirty="0" smtClean="0">
                <a:solidFill>
                  <a:srgbClr val="C00000"/>
                </a:solidFill>
              </a:rPr>
              <a:t>semi- strong </a:t>
            </a:r>
          </a:p>
          <a:p>
            <a:r>
              <a:rPr lang="en-IN" dirty="0" smtClean="0"/>
              <a:t>prices instantly reflect even hidden or insider information - </a:t>
            </a:r>
            <a:r>
              <a:rPr lang="en-IN" dirty="0" smtClean="0">
                <a:solidFill>
                  <a:srgbClr val="C00000"/>
                </a:solidFill>
              </a:rPr>
              <a:t>strong</a:t>
            </a:r>
            <a:endParaRPr lang="en-IN" dirty="0">
              <a:solidFill>
                <a:srgbClr val="C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58091" y="232353"/>
            <a:ext cx="7772400" cy="696318"/>
          </a:xfrm>
        </p:spPr>
        <p:txBody>
          <a:bodyPr>
            <a:normAutofit/>
          </a:bodyPr>
          <a:lstStyle/>
          <a:p>
            <a:r>
              <a:rPr lang="en-US" sz="3200" b="1" u="sng" dirty="0" smtClean="0"/>
              <a:t>Books Published</a:t>
            </a:r>
            <a:endParaRPr lang="en-IN" sz="3200" b="1" u="sng" dirty="0"/>
          </a:p>
        </p:txBody>
      </p:sp>
      <p:sp>
        <p:nvSpPr>
          <p:cNvPr id="3" name="Subtitle 2"/>
          <p:cNvSpPr>
            <a:spLocks noGrp="1"/>
          </p:cNvSpPr>
          <p:nvPr>
            <p:ph type="subTitle" idx="1"/>
          </p:nvPr>
        </p:nvSpPr>
        <p:spPr>
          <a:xfrm>
            <a:off x="785786" y="1142984"/>
            <a:ext cx="7643866" cy="5143536"/>
          </a:xfrm>
        </p:spPr>
        <p:txBody>
          <a:bodyPr>
            <a:normAutofit/>
          </a:bodyPr>
          <a:lstStyle/>
          <a:p>
            <a:pPr algn="just"/>
            <a:r>
              <a:rPr lang="en-IN" sz="2400" dirty="0" smtClean="0">
                <a:solidFill>
                  <a:sysClr val="windowText" lastClr="000000"/>
                </a:solidFill>
              </a:rPr>
              <a:t> 1. The Theory of Finance (with Merton Miller). (Holt, Rinehart and Winston, 1972). </a:t>
            </a:r>
          </a:p>
          <a:p>
            <a:pPr algn="just"/>
            <a:r>
              <a:rPr lang="en-IN" sz="2400" dirty="0" smtClean="0">
                <a:solidFill>
                  <a:sysClr val="windowText" lastClr="000000"/>
                </a:solidFill>
              </a:rPr>
              <a:t> 2. Foundations of Finance (New York: Basic Books, 1976).</a:t>
            </a:r>
          </a:p>
          <a:p>
            <a:pPr algn="just"/>
            <a:endParaRPr lang="en-US" sz="2400" dirty="0" smtClean="0">
              <a:solidFill>
                <a:sysClr val="windowText" lastClr="000000"/>
              </a:solidFill>
            </a:endParaRPr>
          </a:p>
        </p:txBody>
      </p:sp>
    </p:spTree>
    <p:extLst>
      <p:ext uri="{BB962C8B-B14F-4D97-AF65-F5344CB8AC3E}">
        <p14:creationId xmlns:p14="http://schemas.microsoft.com/office/powerpoint/2010/main" val="35253905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85786" y="357166"/>
            <a:ext cx="7772400" cy="441319"/>
          </a:xfrm>
        </p:spPr>
        <p:txBody>
          <a:bodyPr>
            <a:noAutofit/>
          </a:bodyPr>
          <a:lstStyle/>
          <a:p>
            <a:r>
              <a:rPr lang="en-US" sz="3200" b="1" u="sng" dirty="0" smtClean="0"/>
              <a:t>Awards</a:t>
            </a:r>
            <a:endParaRPr lang="en-IN" sz="3200" b="1" u="sng" dirty="0"/>
          </a:p>
        </p:txBody>
      </p:sp>
      <p:sp>
        <p:nvSpPr>
          <p:cNvPr id="3" name="Subtitle 2"/>
          <p:cNvSpPr>
            <a:spLocks noGrp="1"/>
          </p:cNvSpPr>
          <p:nvPr>
            <p:ph type="subTitle" idx="1"/>
          </p:nvPr>
        </p:nvSpPr>
        <p:spPr>
          <a:xfrm>
            <a:off x="642910" y="1142984"/>
            <a:ext cx="7715304" cy="5000660"/>
          </a:xfrm>
        </p:spPr>
        <p:txBody>
          <a:bodyPr>
            <a:noAutofit/>
          </a:bodyPr>
          <a:lstStyle/>
          <a:p>
            <a:pPr algn="just">
              <a:buFont typeface="Wingdings" pitchFamily="2" charset="2"/>
              <a:buChar char="q"/>
            </a:pPr>
            <a:r>
              <a:rPr lang="en-IN" sz="2000" dirty="0" smtClean="0">
                <a:solidFill>
                  <a:sysClr val="windowText" lastClr="000000"/>
                </a:solidFill>
              </a:rPr>
              <a:t>1982 </a:t>
            </a:r>
            <a:r>
              <a:rPr lang="en-IN" sz="2000" dirty="0" err="1" smtClean="0">
                <a:solidFill>
                  <a:sysClr val="windowText" lastClr="000000"/>
                </a:solidFill>
              </a:rPr>
              <a:t>Chaire</a:t>
            </a:r>
            <a:r>
              <a:rPr lang="en-IN" sz="2000" dirty="0" smtClean="0">
                <a:solidFill>
                  <a:sysClr val="windowText" lastClr="000000"/>
                </a:solidFill>
              </a:rPr>
              <a:t> </a:t>
            </a:r>
            <a:r>
              <a:rPr lang="en-IN" sz="2000" dirty="0" err="1" smtClean="0">
                <a:solidFill>
                  <a:sysClr val="windowText" lastClr="000000"/>
                </a:solidFill>
              </a:rPr>
              <a:t>Francqui</a:t>
            </a:r>
            <a:r>
              <a:rPr lang="en-IN" sz="2000" dirty="0" smtClean="0">
                <a:solidFill>
                  <a:sysClr val="windowText" lastClr="000000"/>
                </a:solidFill>
              </a:rPr>
              <a:t> (Belgian National Science Prize), </a:t>
            </a:r>
          </a:p>
          <a:p>
            <a:pPr algn="just">
              <a:buFont typeface="Wingdings" pitchFamily="2" charset="2"/>
              <a:buChar char="q"/>
            </a:pPr>
            <a:r>
              <a:rPr lang="en-IN" sz="2000" dirty="0" smtClean="0">
                <a:solidFill>
                  <a:sysClr val="windowText" lastClr="000000"/>
                </a:solidFill>
              </a:rPr>
              <a:t>2006 Nicholas </a:t>
            </a:r>
            <a:r>
              <a:rPr lang="en-IN" sz="2000" dirty="0" err="1" smtClean="0">
                <a:solidFill>
                  <a:sysClr val="windowText" lastClr="000000"/>
                </a:solidFill>
              </a:rPr>
              <a:t>Molodovsky</a:t>
            </a:r>
            <a:r>
              <a:rPr lang="en-IN" sz="2000" dirty="0" smtClean="0">
                <a:solidFill>
                  <a:sysClr val="windowText" lastClr="000000"/>
                </a:solidFill>
              </a:rPr>
              <a:t> Award from the CFA Institute recognizing his work in portfolio theory and asset pricing.</a:t>
            </a:r>
          </a:p>
          <a:p>
            <a:pPr algn="just">
              <a:buFont typeface="Wingdings" pitchFamily="2" charset="2"/>
              <a:buChar char="q"/>
            </a:pPr>
            <a:r>
              <a:rPr lang="en-IN" sz="2000" dirty="0" smtClean="0">
                <a:solidFill>
                  <a:sysClr val="windowText" lastClr="000000"/>
                </a:solidFill>
              </a:rPr>
              <a:t>2007 recipient of the Fred </a:t>
            </a:r>
            <a:r>
              <a:rPr lang="en-IN" sz="2000" dirty="0" err="1" smtClean="0">
                <a:solidFill>
                  <a:sysClr val="windowText" lastClr="000000"/>
                </a:solidFill>
              </a:rPr>
              <a:t>Arditti</a:t>
            </a:r>
            <a:r>
              <a:rPr lang="en-IN" sz="2000" dirty="0" smtClean="0">
                <a:solidFill>
                  <a:sysClr val="windowText" lastClr="000000"/>
                </a:solidFill>
              </a:rPr>
              <a:t> Innovation Award given by the CME </a:t>
            </a:r>
            <a:r>
              <a:rPr lang="en-IN" sz="2000" dirty="0" err="1" smtClean="0">
                <a:solidFill>
                  <a:sysClr val="windowText" lastClr="000000"/>
                </a:solidFill>
              </a:rPr>
              <a:t>Center</a:t>
            </a:r>
            <a:r>
              <a:rPr lang="en-IN" sz="2000" dirty="0" smtClean="0">
                <a:solidFill>
                  <a:sysClr val="windowText" lastClr="000000"/>
                </a:solidFill>
              </a:rPr>
              <a:t> for Innovation</a:t>
            </a:r>
          </a:p>
          <a:p>
            <a:pPr algn="just">
              <a:buFont typeface="Wingdings" pitchFamily="2" charset="2"/>
              <a:buChar char="q"/>
            </a:pPr>
            <a:r>
              <a:rPr lang="en-IN" sz="2000" dirty="0" smtClean="0">
                <a:solidFill>
                  <a:sysClr val="windowText" lastClr="000000"/>
                </a:solidFill>
              </a:rPr>
              <a:t>First recipient of three major prizes for research in Finance; the Deutsche Bank Prize in Financial Economics, 2005, the Morgan Stanley American Finance Association Award for Excellence in Finance, 2007, and the Onassis Prize in Finance, 2009.</a:t>
            </a:r>
          </a:p>
          <a:p>
            <a:pPr algn="just">
              <a:buFont typeface="Wingdings" pitchFamily="2" charset="2"/>
              <a:buChar char="q"/>
            </a:pPr>
            <a:r>
              <a:rPr lang="en-IN" sz="2000" dirty="0" smtClean="0">
                <a:solidFill>
                  <a:sysClr val="windowText" lastClr="000000"/>
                </a:solidFill>
              </a:rPr>
              <a:t>Graham and Dodd Best Perspectives Award from the Financial Analysts Journal, 2012</a:t>
            </a:r>
          </a:p>
          <a:p>
            <a:pPr algn="just">
              <a:buFont typeface="Wingdings" pitchFamily="2" charset="2"/>
              <a:buChar char="q"/>
            </a:pPr>
            <a:r>
              <a:rPr lang="en-IN" sz="2000" dirty="0" smtClean="0">
                <a:solidFill>
                  <a:sysClr val="windowText" lastClr="000000"/>
                </a:solidFill>
              </a:rPr>
              <a:t>He is the joint recipient of the 2013 Nobel Prize in Economic Science with Lars Peter Hansen of the University of Chicago and Robert J. </a:t>
            </a:r>
            <a:r>
              <a:rPr lang="en-IN" sz="2000" dirty="0" err="1" smtClean="0">
                <a:solidFill>
                  <a:sysClr val="windowText" lastClr="000000"/>
                </a:solidFill>
              </a:rPr>
              <a:t>Shiller</a:t>
            </a:r>
            <a:r>
              <a:rPr lang="en-IN" sz="2000" dirty="0" smtClean="0">
                <a:solidFill>
                  <a:sysClr val="windowText" lastClr="000000"/>
                </a:solidFill>
              </a:rPr>
              <a:t> of Yale University. </a:t>
            </a:r>
          </a:p>
          <a:p>
            <a:pPr algn="just"/>
            <a:endParaRPr lang="en-IN" sz="2000" dirty="0" smtClean="0">
              <a:solidFill>
                <a:sysClr val="windowText" lastClr="000000"/>
              </a:solidFill>
            </a:endParaRPr>
          </a:p>
          <a:p>
            <a:pPr algn="just"/>
            <a:r>
              <a:rPr lang="en-IN" sz="2000" dirty="0" smtClean="0">
                <a:solidFill>
                  <a:sysClr val="windowText" lastClr="000000"/>
                </a:solidFill>
              </a:rPr>
              <a:t/>
            </a:r>
            <a:br>
              <a:rPr lang="en-IN" sz="2000" dirty="0" smtClean="0">
                <a:solidFill>
                  <a:sysClr val="windowText" lastClr="000000"/>
                </a:solidFill>
              </a:rPr>
            </a:br>
            <a:endParaRPr lang="en-IN" sz="2000" dirty="0">
              <a:solidFill>
                <a:sysClr val="windowText" lastClr="000000"/>
              </a:solidFill>
            </a:endParaRPr>
          </a:p>
        </p:txBody>
      </p:sp>
    </p:spTree>
    <p:extLst>
      <p:ext uri="{BB962C8B-B14F-4D97-AF65-F5344CB8AC3E}">
        <p14:creationId xmlns:p14="http://schemas.microsoft.com/office/powerpoint/2010/main" val="9450729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85786" y="285729"/>
            <a:ext cx="7772400" cy="642941"/>
          </a:xfrm>
        </p:spPr>
        <p:txBody>
          <a:bodyPr>
            <a:normAutofit/>
          </a:bodyPr>
          <a:lstStyle/>
          <a:p>
            <a:r>
              <a:rPr lang="en-US" sz="3200" b="1" u="sng" dirty="0" smtClean="0"/>
              <a:t>Awards For Research Papers</a:t>
            </a:r>
            <a:endParaRPr lang="en-IN" sz="3200" b="1" u="sng" dirty="0"/>
          </a:p>
        </p:txBody>
      </p:sp>
      <p:sp>
        <p:nvSpPr>
          <p:cNvPr id="3" name="Subtitle 2"/>
          <p:cNvSpPr>
            <a:spLocks noGrp="1"/>
          </p:cNvSpPr>
          <p:nvPr>
            <p:ph type="subTitle" idx="1"/>
          </p:nvPr>
        </p:nvSpPr>
        <p:spPr>
          <a:xfrm>
            <a:off x="571472" y="857232"/>
            <a:ext cx="7858180" cy="5143536"/>
          </a:xfrm>
        </p:spPr>
        <p:txBody>
          <a:bodyPr>
            <a:noAutofit/>
          </a:bodyPr>
          <a:lstStyle/>
          <a:p>
            <a:pPr algn="just">
              <a:buFont typeface="Wingdings" pitchFamily="2" charset="2"/>
              <a:buChar char="q"/>
            </a:pPr>
            <a:r>
              <a:rPr lang="en-IN" sz="2000" dirty="0" smtClean="0">
                <a:solidFill>
                  <a:sysClr val="windowText" lastClr="000000"/>
                </a:solidFill>
              </a:rPr>
              <a:t>"The Cross-Section of Expected Stock Returns" with Kenneth R. French, winner of the 1992 Smith Breeden Prize for the best paper in the </a:t>
            </a:r>
            <a:r>
              <a:rPr lang="en-IN" sz="2000" i="1" dirty="0" smtClean="0">
                <a:solidFill>
                  <a:sysClr val="windowText" lastClr="000000"/>
                </a:solidFill>
              </a:rPr>
              <a:t>Journal of Finance</a:t>
            </a:r>
            <a:r>
              <a:rPr lang="en-IN" sz="2000" dirty="0" smtClean="0">
                <a:solidFill>
                  <a:sysClr val="windowText" lastClr="000000"/>
                </a:solidFill>
              </a:rPr>
              <a:t>.</a:t>
            </a:r>
          </a:p>
          <a:p>
            <a:pPr algn="just">
              <a:buFont typeface="Wingdings" pitchFamily="2" charset="2"/>
              <a:buChar char="q"/>
            </a:pPr>
            <a:r>
              <a:rPr lang="en-IN" sz="2000" dirty="0" smtClean="0">
                <a:solidFill>
                  <a:sysClr val="windowText" lastClr="000000"/>
                </a:solidFill>
              </a:rPr>
              <a:t>"Market Efficiency Long-Term Returns and </a:t>
            </a:r>
            <a:r>
              <a:rPr lang="en-IN" sz="2000" dirty="0" err="1" smtClean="0">
                <a:solidFill>
                  <a:sysClr val="windowText" lastClr="000000"/>
                </a:solidFill>
              </a:rPr>
              <a:t>Behavioral</a:t>
            </a:r>
            <a:r>
              <a:rPr lang="en-IN" sz="2000" dirty="0" smtClean="0">
                <a:solidFill>
                  <a:sysClr val="windowText" lastClr="000000"/>
                </a:solidFill>
              </a:rPr>
              <a:t> Finance" won the 1998 </a:t>
            </a:r>
            <a:r>
              <a:rPr lang="en-IN" sz="2000" dirty="0" err="1" smtClean="0">
                <a:solidFill>
                  <a:sysClr val="windowText" lastClr="000000"/>
                </a:solidFill>
              </a:rPr>
              <a:t>Fama</a:t>
            </a:r>
            <a:r>
              <a:rPr lang="en-IN" sz="2000" dirty="0" smtClean="0">
                <a:solidFill>
                  <a:sysClr val="windowText" lastClr="000000"/>
                </a:solidFill>
              </a:rPr>
              <a:t>-DFA Prize for the best paper published in the </a:t>
            </a:r>
            <a:r>
              <a:rPr lang="en-IN" sz="2000" i="1" dirty="0" smtClean="0">
                <a:solidFill>
                  <a:sysClr val="windowText" lastClr="000000"/>
                </a:solidFill>
              </a:rPr>
              <a:t>Journal of Financial Economics</a:t>
            </a:r>
            <a:r>
              <a:rPr lang="en-IN" sz="2000" dirty="0" smtClean="0">
                <a:solidFill>
                  <a:sysClr val="windowText" lastClr="000000"/>
                </a:solidFill>
              </a:rPr>
              <a:t> in the areas of capital markets and asset pricing.</a:t>
            </a:r>
          </a:p>
          <a:p>
            <a:pPr algn="just">
              <a:buFont typeface="Wingdings" pitchFamily="2" charset="2"/>
              <a:buChar char="q"/>
            </a:pPr>
            <a:r>
              <a:rPr lang="en-IN" sz="2000" dirty="0" smtClean="0">
                <a:solidFill>
                  <a:sysClr val="windowText" lastClr="000000"/>
                </a:solidFill>
              </a:rPr>
              <a:t>Jensen Prize (second place) for the best paper in corporate finance and organizations published in the Journal of Financial Economics in 2001. “Disappearing Dividends: Changing Firm Characteristics or Lower Propensity to Pay,” (with Kenneth R. French) </a:t>
            </a:r>
          </a:p>
          <a:p>
            <a:pPr algn="just">
              <a:buFont typeface="Wingdings" pitchFamily="2" charset="2"/>
              <a:buChar char="q"/>
            </a:pPr>
            <a:r>
              <a:rPr lang="en-IN" sz="2000" dirty="0" smtClean="0">
                <a:solidFill>
                  <a:sysClr val="windowText" lastClr="000000"/>
                </a:solidFill>
              </a:rPr>
              <a:t>Jensen Prize (second place) for the best paper in corporate finance and organizations published in the Journal of Financial Economics in 2006. “Profitability, Investment, and Average Returns,” (with Kenneth R. French). </a:t>
            </a:r>
          </a:p>
          <a:p>
            <a:pPr algn="just">
              <a:buFont typeface="Wingdings" pitchFamily="2" charset="2"/>
              <a:buChar char="q"/>
            </a:pPr>
            <a:r>
              <a:rPr lang="en-IN" sz="2000" dirty="0" smtClean="0">
                <a:solidFill>
                  <a:sysClr val="windowText" lastClr="000000"/>
                </a:solidFill>
              </a:rPr>
              <a:t>“An Experienced View on Markets and Investing” (with Robert </a:t>
            </a:r>
            <a:r>
              <a:rPr lang="en-IN" sz="2000" dirty="0" err="1" smtClean="0">
                <a:solidFill>
                  <a:sysClr val="windowText" lastClr="000000"/>
                </a:solidFill>
              </a:rPr>
              <a:t>Litterman</a:t>
            </a:r>
            <a:r>
              <a:rPr lang="en-IN" sz="2000" dirty="0" smtClean="0">
                <a:solidFill>
                  <a:sysClr val="windowText" lastClr="000000"/>
                </a:solidFill>
              </a:rPr>
              <a:t>), Financial Analysts Journal, 68, number 6 (November/December 2012), 48-58. Winner of the Graham and Dodd Best Perspectives Award 2012, granted by the editorial board of the journal. </a:t>
            </a:r>
          </a:p>
          <a:p>
            <a:pPr algn="just">
              <a:buFont typeface="Wingdings" pitchFamily="2" charset="2"/>
              <a:buChar char="q"/>
            </a:pPr>
            <a:endParaRPr lang="en-IN" sz="2000" dirty="0" smtClean="0">
              <a:solidFill>
                <a:sysClr val="windowText" lastClr="000000"/>
              </a:solidFill>
            </a:endParaRPr>
          </a:p>
          <a:p>
            <a:pPr algn="just">
              <a:buFont typeface="Wingdings" pitchFamily="2" charset="2"/>
              <a:buChar char="q"/>
            </a:pPr>
            <a:endParaRPr lang="en-IN" sz="2000" dirty="0" smtClean="0">
              <a:solidFill>
                <a:sysClr val="windowText" lastClr="000000"/>
              </a:solidFill>
            </a:endParaRPr>
          </a:p>
          <a:p>
            <a:pPr algn="just">
              <a:buFont typeface="Wingdings" pitchFamily="2" charset="2"/>
              <a:buChar char="q"/>
            </a:pPr>
            <a:endParaRPr lang="en-IN" sz="2000" dirty="0">
              <a:solidFill>
                <a:sysClr val="windowText" lastClr="000000"/>
              </a:solidFill>
            </a:endParaRPr>
          </a:p>
        </p:txBody>
      </p:sp>
    </p:spTree>
    <p:extLst>
      <p:ext uri="{BB962C8B-B14F-4D97-AF65-F5344CB8AC3E}">
        <p14:creationId xmlns:p14="http://schemas.microsoft.com/office/powerpoint/2010/main" val="28749647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14348" y="285729"/>
            <a:ext cx="7772400" cy="571504"/>
          </a:xfrm>
        </p:spPr>
        <p:txBody>
          <a:bodyPr>
            <a:noAutofit/>
          </a:bodyPr>
          <a:lstStyle/>
          <a:p>
            <a:r>
              <a:rPr lang="en-US" sz="3200" b="1" u="sng" dirty="0" smtClean="0"/>
              <a:t>Publications</a:t>
            </a:r>
            <a:endParaRPr lang="en-IN" sz="3200" b="1" u="sng" dirty="0"/>
          </a:p>
        </p:txBody>
      </p:sp>
      <p:sp>
        <p:nvSpPr>
          <p:cNvPr id="3" name="Subtitle 2"/>
          <p:cNvSpPr>
            <a:spLocks noGrp="1"/>
          </p:cNvSpPr>
          <p:nvPr>
            <p:ph type="subTitle" idx="1"/>
          </p:nvPr>
        </p:nvSpPr>
        <p:spPr>
          <a:xfrm>
            <a:off x="571472" y="928670"/>
            <a:ext cx="7929618" cy="5357850"/>
          </a:xfrm>
        </p:spPr>
        <p:txBody>
          <a:bodyPr>
            <a:normAutofit lnSpcReduction="10000"/>
          </a:bodyPr>
          <a:lstStyle/>
          <a:p>
            <a:pPr algn="just">
              <a:buFont typeface="Wingdings" pitchFamily="2" charset="2"/>
              <a:buChar char="q"/>
            </a:pPr>
            <a:r>
              <a:rPr lang="en-IN" sz="2000" dirty="0" smtClean="0">
                <a:solidFill>
                  <a:sysClr val="windowText" lastClr="000000"/>
                </a:solidFill>
              </a:rPr>
              <a:t>"Random Walks in Stock Market Prices,“ Financial Analysts Journal (September-October 1965), The Analysts Journal, London (1966), The Institutional Investor, 1968.</a:t>
            </a:r>
          </a:p>
          <a:p>
            <a:pPr algn="just">
              <a:buFont typeface="Wingdings" pitchFamily="2" charset="2"/>
              <a:buChar char="q"/>
            </a:pPr>
            <a:r>
              <a:rPr lang="en-IN" sz="2000" dirty="0" smtClean="0">
                <a:solidFill>
                  <a:sysClr val="windowText" lastClr="000000"/>
                </a:solidFill>
              </a:rPr>
              <a:t>"Efficient Capital Markets: A Review of Theory and Empirical Work," Journal of Finance (May 1970). </a:t>
            </a:r>
          </a:p>
          <a:p>
            <a:pPr algn="just">
              <a:buFont typeface="Wingdings" pitchFamily="2" charset="2"/>
              <a:buChar char="q"/>
            </a:pPr>
            <a:r>
              <a:rPr lang="en-IN" sz="2000" dirty="0" smtClean="0">
                <a:solidFill>
                  <a:sysClr val="windowText" lastClr="000000"/>
                </a:solidFill>
              </a:rPr>
              <a:t>"Agency Problems and the Theory of the Firm," Journal of Political Economy (April 1980).</a:t>
            </a:r>
          </a:p>
          <a:p>
            <a:pPr algn="just">
              <a:buFont typeface="Wingdings" pitchFamily="2" charset="2"/>
              <a:buChar char="q"/>
            </a:pPr>
            <a:r>
              <a:rPr lang="en-IN" sz="2000" dirty="0" smtClean="0">
                <a:solidFill>
                  <a:sysClr val="windowText" lastClr="000000"/>
                </a:solidFill>
              </a:rPr>
              <a:t>“The Information in the Term Structure," Journal of Financial Economics, (December 1984).</a:t>
            </a:r>
          </a:p>
          <a:p>
            <a:pPr algn="just">
              <a:buFont typeface="Wingdings" pitchFamily="2" charset="2"/>
              <a:buChar char="q"/>
            </a:pPr>
            <a:r>
              <a:rPr lang="en-IN" sz="2000" dirty="0" smtClean="0">
                <a:solidFill>
                  <a:sysClr val="windowText" lastClr="000000"/>
                </a:solidFill>
              </a:rPr>
              <a:t>Commodity Futures Prices: Evidence on Forecast Power and Premiums," (with Kenneth R. French), Journal of Business, (January 1987). </a:t>
            </a:r>
          </a:p>
          <a:p>
            <a:pPr algn="just">
              <a:buFont typeface="Wingdings" pitchFamily="2" charset="2"/>
              <a:buChar char="q"/>
            </a:pPr>
            <a:r>
              <a:rPr lang="en-IN" sz="2000" dirty="0" smtClean="0">
                <a:solidFill>
                  <a:sysClr val="windowText" lastClr="000000"/>
                </a:solidFill>
              </a:rPr>
              <a:t>“Efficient Markets: II," Fiftieth Anniversary Invited Paper, Journal of Finance, 46 (December 1991), 1575-1617. </a:t>
            </a:r>
          </a:p>
          <a:p>
            <a:pPr algn="just">
              <a:buFont typeface="Wingdings" pitchFamily="2" charset="2"/>
              <a:buChar char="q"/>
            </a:pPr>
            <a:r>
              <a:rPr lang="en-IN" sz="2000" dirty="0" smtClean="0">
                <a:solidFill>
                  <a:sysClr val="windowText" lastClr="000000"/>
                </a:solidFill>
              </a:rPr>
              <a:t>"Discounting under Uncertainty," Journal of Business, 69 (October 1996), 415-428.</a:t>
            </a:r>
          </a:p>
          <a:p>
            <a:pPr algn="just">
              <a:buFont typeface="Wingdings" pitchFamily="2" charset="2"/>
              <a:buChar char="q"/>
            </a:pPr>
            <a:r>
              <a:rPr lang="en-IN" sz="2000" dirty="0" smtClean="0">
                <a:solidFill>
                  <a:sysClr val="windowText" lastClr="000000"/>
                </a:solidFill>
              </a:rPr>
              <a:t>“The Capital Asset Pricing Model: Theory and Evidence,” (with Kenneth R. French), Journal of Economic Perspectives, 18 (Summer 2004), 25-46.</a:t>
            </a:r>
          </a:p>
          <a:p>
            <a:pPr algn="just">
              <a:buFont typeface="Wingdings" pitchFamily="2" charset="2"/>
              <a:buChar char="q"/>
            </a:pPr>
            <a:endParaRPr lang="en-IN" sz="2000" dirty="0" smtClean="0">
              <a:solidFill>
                <a:sysClr val="windowText" lastClr="000000"/>
              </a:solidFill>
            </a:endParaRPr>
          </a:p>
          <a:p>
            <a:pPr algn="just">
              <a:buFont typeface="Wingdings" pitchFamily="2" charset="2"/>
              <a:buChar char="q"/>
            </a:pPr>
            <a:endParaRPr lang="en-IN" sz="2000" dirty="0" smtClean="0">
              <a:solidFill>
                <a:sysClr val="windowText" lastClr="000000"/>
              </a:solidFill>
            </a:endParaRPr>
          </a:p>
          <a:p>
            <a:pPr algn="just">
              <a:buFont typeface="Wingdings" pitchFamily="2" charset="2"/>
              <a:buChar char="q"/>
            </a:pPr>
            <a:endParaRPr lang="en-IN" sz="2000" dirty="0" smtClean="0">
              <a:solidFill>
                <a:sysClr val="windowText" lastClr="000000"/>
              </a:solidFill>
            </a:endParaRPr>
          </a:p>
          <a:p>
            <a:pPr algn="just">
              <a:buFont typeface="Wingdings" pitchFamily="2" charset="2"/>
              <a:buChar char="q"/>
            </a:pPr>
            <a:endParaRPr lang="en-IN" sz="2000" dirty="0" smtClean="0">
              <a:solidFill>
                <a:sysClr val="windowText" lastClr="000000"/>
              </a:solidFill>
            </a:endParaRPr>
          </a:p>
          <a:p>
            <a:pPr algn="just">
              <a:buFont typeface="Wingdings" pitchFamily="2" charset="2"/>
              <a:buChar char="q"/>
            </a:pPr>
            <a:endParaRPr lang="en-IN" sz="2000" dirty="0">
              <a:solidFill>
                <a:sysClr val="windowText" lastClr="000000"/>
              </a:solidFill>
            </a:endParaRPr>
          </a:p>
        </p:txBody>
      </p:sp>
    </p:spTree>
    <p:extLst>
      <p:ext uri="{BB962C8B-B14F-4D97-AF65-F5344CB8AC3E}">
        <p14:creationId xmlns:p14="http://schemas.microsoft.com/office/powerpoint/2010/main" val="35195640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714348" y="714356"/>
            <a:ext cx="7715304" cy="4924444"/>
          </a:xfrm>
        </p:spPr>
        <p:txBody>
          <a:bodyPr>
            <a:noAutofit/>
          </a:bodyPr>
          <a:lstStyle/>
          <a:p>
            <a:pPr algn="just">
              <a:buFont typeface="Wingdings" pitchFamily="2" charset="2"/>
              <a:buChar char="q"/>
            </a:pPr>
            <a:r>
              <a:rPr lang="en-IN" sz="2000" dirty="0" smtClean="0">
                <a:solidFill>
                  <a:sysClr val="windowText" lastClr="000000"/>
                </a:solidFill>
              </a:rPr>
              <a:t>“Disagreement, Tastes, and Asset Pricing,” (with Kenneth R. French), Journal of Financial Economics, 83 (March 2007), 667-689. </a:t>
            </a:r>
          </a:p>
          <a:p>
            <a:pPr algn="just">
              <a:buFont typeface="Wingdings" pitchFamily="2" charset="2"/>
              <a:buChar char="q"/>
            </a:pPr>
            <a:r>
              <a:rPr lang="en-IN" sz="2000" dirty="0" smtClean="0">
                <a:solidFill>
                  <a:sysClr val="windowText" lastClr="000000"/>
                </a:solidFill>
              </a:rPr>
              <a:t>"Dissecting Anomalies,” (with Kenneth R. French), Journal of Finance, 63 (August 2008), 1653-1678. </a:t>
            </a:r>
          </a:p>
          <a:p>
            <a:pPr algn="just">
              <a:buFont typeface="Wingdings" pitchFamily="2" charset="2"/>
              <a:buChar char="q"/>
            </a:pPr>
            <a:r>
              <a:rPr lang="en-IN" sz="2000" dirty="0" smtClean="0">
                <a:solidFill>
                  <a:sysClr val="windowText" lastClr="000000"/>
                </a:solidFill>
              </a:rPr>
              <a:t>Average Returns, B/M, and Share Issues,” (with Kenneth R. French) Journal of Finance, 63 (December 2008), 2971-2995. </a:t>
            </a:r>
          </a:p>
          <a:p>
            <a:pPr algn="just">
              <a:buFont typeface="Wingdings" pitchFamily="2" charset="2"/>
              <a:buChar char="q"/>
            </a:pPr>
            <a:r>
              <a:rPr lang="en-IN" sz="2000" dirty="0" smtClean="0">
                <a:solidFill>
                  <a:sysClr val="windowText" lastClr="000000"/>
                </a:solidFill>
              </a:rPr>
              <a:t>"Luck versus Skill in the Cross-Section of Mutual Fund Returns,” (with Kenneth R. French) Journal of Finance, 65 (October 2010), 1915-1947.</a:t>
            </a:r>
          </a:p>
          <a:p>
            <a:pPr algn="just">
              <a:buFont typeface="Wingdings" pitchFamily="2" charset="2"/>
              <a:buChar char="q"/>
            </a:pPr>
            <a:r>
              <a:rPr lang="en-IN" sz="2000" dirty="0" smtClean="0">
                <a:solidFill>
                  <a:sysClr val="windowText" lastClr="000000"/>
                </a:solidFill>
              </a:rPr>
              <a:t>“Size, Value, and Momentum in International Stock Returns,” (with Kenneth R. French) Journal of Financial Economics, 105 (September 2012), 457-472. </a:t>
            </a:r>
          </a:p>
          <a:p>
            <a:pPr algn="just">
              <a:buFont typeface="Wingdings" pitchFamily="2" charset="2"/>
              <a:buChar char="q"/>
            </a:pPr>
            <a:r>
              <a:rPr lang="en-IN" sz="2000" dirty="0" smtClean="0">
                <a:solidFill>
                  <a:sysClr val="windowText" lastClr="000000"/>
                </a:solidFill>
              </a:rPr>
              <a:t>“Does the Fed Control Interest Rates?” forthcoming in the Review of Asset Pricing Studies. </a:t>
            </a:r>
          </a:p>
          <a:p>
            <a:pPr algn="just">
              <a:buFont typeface="Wingdings" pitchFamily="2" charset="2"/>
              <a:buChar char="q"/>
            </a:pPr>
            <a:r>
              <a:rPr lang="en-IN" sz="2000" dirty="0" smtClean="0">
                <a:solidFill>
                  <a:sysClr val="windowText" lastClr="000000"/>
                </a:solidFill>
              </a:rPr>
              <a:t>“Was there Ever a Lending Channel?” forthcoming in European Financial Management. </a:t>
            </a:r>
          </a:p>
          <a:p>
            <a:pPr algn="just">
              <a:buFont typeface="Wingdings" pitchFamily="2" charset="2"/>
              <a:buChar char="q"/>
            </a:pPr>
            <a:r>
              <a:rPr lang="en-IN" sz="2000" dirty="0" smtClean="0">
                <a:solidFill>
                  <a:sysClr val="windowText" lastClr="000000"/>
                </a:solidFill>
              </a:rPr>
              <a:t>“Capital Structure Choices,” (with Kenneth R. French) Critical Finance Review, 1 (2012), 59-101.</a:t>
            </a:r>
          </a:p>
          <a:p>
            <a:pPr algn="just">
              <a:buFont typeface="Wingdings" pitchFamily="2" charset="2"/>
              <a:buChar char="q"/>
            </a:pPr>
            <a:endParaRPr lang="en-IN" sz="2000" dirty="0" smtClean="0">
              <a:solidFill>
                <a:sysClr val="windowText" lastClr="000000"/>
              </a:solidFill>
            </a:endParaRPr>
          </a:p>
          <a:p>
            <a:pPr algn="just">
              <a:buFont typeface="Wingdings" pitchFamily="2" charset="2"/>
              <a:buChar char="q"/>
            </a:pPr>
            <a:endParaRPr lang="en-IN" sz="2000" dirty="0" smtClean="0">
              <a:solidFill>
                <a:sysClr val="windowText" lastClr="000000"/>
              </a:solidFill>
            </a:endParaRPr>
          </a:p>
          <a:p>
            <a:pPr algn="l">
              <a:buFont typeface="Wingdings" pitchFamily="2" charset="2"/>
              <a:buChar char="q"/>
            </a:pPr>
            <a:endParaRPr lang="en-IN" sz="2000" dirty="0"/>
          </a:p>
        </p:txBody>
      </p:sp>
    </p:spTree>
    <p:extLst>
      <p:ext uri="{BB962C8B-B14F-4D97-AF65-F5344CB8AC3E}">
        <p14:creationId xmlns:p14="http://schemas.microsoft.com/office/powerpoint/2010/main" val="399019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96153" y="4267500"/>
            <a:ext cx="7772400" cy="1470025"/>
          </a:xfrm>
        </p:spPr>
        <p:txBody>
          <a:bodyPr/>
          <a:lstStyle/>
          <a:p>
            <a:r>
              <a:rPr lang="en-US" dirty="0" smtClean="0"/>
              <a:t>Robert J. </a:t>
            </a:r>
            <a:r>
              <a:rPr lang="en-US" dirty="0" err="1" smtClean="0"/>
              <a:t>Shiller</a:t>
            </a:r>
            <a:endParaRPr lang="en-US" dirty="0"/>
          </a:p>
        </p:txBody>
      </p:sp>
      <p:pic>
        <p:nvPicPr>
          <p:cNvPr id="4" name="Picture 3" descr="Shiller_au.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5929" y="632012"/>
            <a:ext cx="2596777" cy="3635488"/>
          </a:xfrm>
          <a:prstGeom prst="rect">
            <a:avLst/>
          </a:prstGeom>
        </p:spPr>
      </p:pic>
    </p:spTree>
    <p:extLst>
      <p:ext uri="{BB962C8B-B14F-4D97-AF65-F5344CB8AC3E}">
        <p14:creationId xmlns:p14="http://schemas.microsoft.com/office/powerpoint/2010/main" val="94814040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9270"/>
          </a:xfrm>
        </p:spPr>
        <p:txBody>
          <a:bodyPr>
            <a:normAutofit fontScale="90000"/>
          </a:bodyPr>
          <a:lstStyle/>
          <a:p>
            <a:r>
              <a:rPr lang="en-US" dirty="0" smtClean="0"/>
              <a:t>About ‘Bob’ </a:t>
            </a:r>
            <a:r>
              <a:rPr lang="en-US" dirty="0" err="1" smtClean="0"/>
              <a:t>Shiller</a:t>
            </a:r>
            <a:endParaRPr lang="en-US" dirty="0"/>
          </a:p>
        </p:txBody>
      </p:sp>
      <p:sp>
        <p:nvSpPr>
          <p:cNvPr id="3" name="Content Placeholder 2"/>
          <p:cNvSpPr>
            <a:spLocks noGrp="1"/>
          </p:cNvSpPr>
          <p:nvPr>
            <p:ph idx="1"/>
          </p:nvPr>
        </p:nvSpPr>
        <p:spPr>
          <a:xfrm>
            <a:off x="457200" y="1182951"/>
            <a:ext cx="8229600" cy="5229886"/>
          </a:xfrm>
        </p:spPr>
        <p:txBody>
          <a:bodyPr>
            <a:normAutofit fontScale="92500"/>
          </a:bodyPr>
          <a:lstStyle/>
          <a:p>
            <a:r>
              <a:rPr lang="en-US" dirty="0" smtClean="0"/>
              <a:t>Sterling Professor of Economics, Yale University</a:t>
            </a:r>
          </a:p>
          <a:p>
            <a:r>
              <a:rPr lang="en-US" dirty="0" smtClean="0"/>
              <a:t>Research interests include:</a:t>
            </a:r>
          </a:p>
          <a:p>
            <a:pPr lvl="1"/>
            <a:r>
              <a:rPr lang="en-US" dirty="0" smtClean="0"/>
              <a:t>Macroeconomics</a:t>
            </a:r>
          </a:p>
          <a:p>
            <a:pPr lvl="1"/>
            <a:r>
              <a:rPr lang="en-US" dirty="0" smtClean="0"/>
              <a:t>Behavioral and institutional finance</a:t>
            </a:r>
          </a:p>
          <a:p>
            <a:r>
              <a:rPr lang="en-US" dirty="0" smtClean="0"/>
              <a:t>Co-developed </a:t>
            </a:r>
            <a:r>
              <a:rPr lang="en-US" b="1" dirty="0" smtClean="0"/>
              <a:t>S&amp;P Cass-</a:t>
            </a:r>
            <a:r>
              <a:rPr lang="en-US" b="1" dirty="0" err="1" smtClean="0"/>
              <a:t>Shiller</a:t>
            </a:r>
            <a:r>
              <a:rPr lang="en-US" b="1" dirty="0" smtClean="0"/>
              <a:t> Home Price Index</a:t>
            </a:r>
          </a:p>
          <a:p>
            <a:pPr lvl="1"/>
            <a:r>
              <a:rPr lang="en-US" dirty="0" smtClean="0"/>
              <a:t>Measures real estate prices in US, both nationally as well as in 20 metropolitan regions</a:t>
            </a:r>
          </a:p>
          <a:p>
            <a:r>
              <a:rPr lang="en-US" dirty="0" smtClean="0"/>
              <a:t>A strong critic of traditional finance theories such as EMH and rationality among economic agents</a:t>
            </a:r>
          </a:p>
          <a:p>
            <a:endParaRPr lang="en-US" dirty="0" smtClean="0"/>
          </a:p>
        </p:txBody>
      </p:sp>
    </p:spTree>
    <p:extLst>
      <p:ext uri="{BB962C8B-B14F-4D97-AF65-F5344CB8AC3E}">
        <p14:creationId xmlns:p14="http://schemas.microsoft.com/office/powerpoint/2010/main" val="217476054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72106"/>
          </a:xfrm>
        </p:spPr>
        <p:txBody>
          <a:bodyPr>
            <a:normAutofit fontScale="90000"/>
          </a:bodyPr>
          <a:lstStyle/>
          <a:p>
            <a:r>
              <a:rPr lang="en-US" dirty="0" smtClean="0"/>
              <a:t>Domains</a:t>
            </a:r>
            <a:endParaRPr lang="en-US" dirty="0"/>
          </a:p>
        </p:txBody>
      </p:sp>
      <p:sp>
        <p:nvSpPr>
          <p:cNvPr id="3" name="Content Placeholder 2"/>
          <p:cNvSpPr>
            <a:spLocks noGrp="1"/>
          </p:cNvSpPr>
          <p:nvPr>
            <p:ph idx="1"/>
          </p:nvPr>
        </p:nvSpPr>
        <p:spPr>
          <a:xfrm>
            <a:off x="457200" y="1045978"/>
            <a:ext cx="8229600" cy="5080186"/>
          </a:xfrm>
        </p:spPr>
        <p:txBody>
          <a:bodyPr>
            <a:normAutofit fontScale="92500" lnSpcReduction="20000"/>
          </a:bodyPr>
          <a:lstStyle/>
          <a:p>
            <a:pPr algn="just"/>
            <a:r>
              <a:rPr lang="en-US" dirty="0" smtClean="0"/>
              <a:t>Rational Expectations and Asset Pricing:</a:t>
            </a:r>
          </a:p>
          <a:p>
            <a:pPr lvl="1" algn="just"/>
            <a:r>
              <a:rPr lang="en-US" dirty="0" smtClean="0"/>
              <a:t>Develops behavioral insights to be employed in empirical asset pricing theories.</a:t>
            </a:r>
          </a:p>
          <a:p>
            <a:pPr lvl="1" algn="just"/>
            <a:r>
              <a:rPr lang="en-US" dirty="0" smtClean="0"/>
              <a:t>One of the early proponents of Behavioral Asset Pricing Models</a:t>
            </a:r>
          </a:p>
          <a:p>
            <a:pPr lvl="1" algn="just"/>
            <a:r>
              <a:rPr lang="en-US" dirty="0" smtClean="0"/>
              <a:t>Discusses the theory of martingales as applied in microeconomic theory, and argues the value and usefulness of the concept of rational expectations.</a:t>
            </a:r>
          </a:p>
          <a:p>
            <a:pPr lvl="1"/>
            <a:r>
              <a:rPr lang="en-IN" dirty="0" smtClean="0"/>
              <a:t>An economic idea that the people in the economy make choices based on their rational outlook, available information and past experiences. </a:t>
            </a:r>
            <a:endParaRPr lang="en-IN" smtClean="0"/>
          </a:p>
          <a:p>
            <a:pPr lvl="2"/>
            <a:r>
              <a:rPr lang="en-IN" dirty="0" smtClean="0"/>
              <a:t>The theory suggests that the current expectations in the economy are equivalent to what the future state of the economy will be. </a:t>
            </a:r>
            <a:endParaRPr lang="en-US" dirty="0"/>
          </a:p>
        </p:txBody>
      </p:sp>
    </p:spTree>
    <p:extLst>
      <p:ext uri="{BB962C8B-B14F-4D97-AF65-F5344CB8AC3E}">
        <p14:creationId xmlns:p14="http://schemas.microsoft.com/office/powerpoint/2010/main" val="70056671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22297"/>
          </a:xfrm>
        </p:spPr>
        <p:txBody>
          <a:bodyPr>
            <a:noAutofit/>
          </a:bodyPr>
          <a:lstStyle/>
          <a:p>
            <a:r>
              <a:rPr lang="en-US" sz="3600" dirty="0" smtClean="0"/>
              <a:t>Some Publications</a:t>
            </a:r>
            <a:endParaRPr lang="en-US" sz="3600" dirty="0"/>
          </a:p>
        </p:txBody>
      </p:sp>
      <p:sp>
        <p:nvSpPr>
          <p:cNvPr id="3" name="Content Placeholder 2"/>
          <p:cNvSpPr>
            <a:spLocks noGrp="1"/>
          </p:cNvSpPr>
          <p:nvPr>
            <p:ph idx="1"/>
          </p:nvPr>
        </p:nvSpPr>
        <p:spPr>
          <a:xfrm>
            <a:off x="457200" y="909005"/>
            <a:ext cx="8229600" cy="5578546"/>
          </a:xfrm>
        </p:spPr>
        <p:txBody>
          <a:bodyPr>
            <a:noAutofit/>
          </a:bodyPr>
          <a:lstStyle/>
          <a:p>
            <a:pPr algn="just"/>
            <a:r>
              <a:rPr lang="en-US" sz="2000" dirty="0" smtClean="0"/>
              <a:t>Rational Expectations and the Dynamic Structure of Macroeconomic Models:  A Critical Review, (</a:t>
            </a:r>
            <a:r>
              <a:rPr lang="en-US" sz="2000" i="1" dirty="0" smtClean="0"/>
              <a:t>Jo Monetary Eco</a:t>
            </a:r>
            <a:r>
              <a:rPr lang="en-US" sz="2000" dirty="0" smtClean="0"/>
              <a:t>, 1978)</a:t>
            </a:r>
          </a:p>
          <a:p>
            <a:pPr algn="just"/>
            <a:r>
              <a:rPr lang="en-US" sz="2000" dirty="0" smtClean="0"/>
              <a:t>The Determinants of the Variability of Stock Market Prices (with Sanford Grossman), (</a:t>
            </a:r>
            <a:r>
              <a:rPr lang="en-US" sz="2000" i="1" dirty="0" smtClean="0"/>
              <a:t>American Economic Review</a:t>
            </a:r>
            <a:r>
              <a:rPr lang="en-US" sz="2000" dirty="0" smtClean="0"/>
              <a:t>, 1981)</a:t>
            </a:r>
          </a:p>
          <a:p>
            <a:pPr algn="just"/>
            <a:r>
              <a:rPr lang="en-US" sz="2000" dirty="0" smtClean="0"/>
              <a:t>Stock Prices, Earnings and Expected Dividends (with John Campbell), (</a:t>
            </a:r>
            <a:r>
              <a:rPr lang="en-US" sz="2000" i="1" dirty="0" smtClean="0"/>
              <a:t>Jo Finance</a:t>
            </a:r>
            <a:r>
              <a:rPr lang="en-US" sz="2000" dirty="0"/>
              <a:t>,</a:t>
            </a:r>
            <a:r>
              <a:rPr lang="en-US" sz="2000" dirty="0" smtClean="0"/>
              <a:t> 1988)</a:t>
            </a:r>
          </a:p>
          <a:p>
            <a:pPr algn="just"/>
            <a:r>
              <a:rPr lang="en-US" sz="2000" dirty="0" smtClean="0"/>
              <a:t>Are Institutional Investors Speculators? (</a:t>
            </a:r>
            <a:r>
              <a:rPr lang="en-US" sz="2000" i="1" dirty="0" smtClean="0"/>
              <a:t>Jo Portfolio Management</a:t>
            </a:r>
            <a:r>
              <a:rPr lang="en-US" sz="2000" dirty="0" smtClean="0"/>
              <a:t>, 1987)</a:t>
            </a:r>
          </a:p>
          <a:p>
            <a:pPr algn="just"/>
            <a:r>
              <a:rPr lang="en-US" sz="2000" dirty="0" smtClean="0"/>
              <a:t>Market Volatility and Investor Behavior </a:t>
            </a:r>
            <a:r>
              <a:rPr lang="en-US" sz="2000" i="1" dirty="0" smtClean="0"/>
              <a:t>(American Economic Review, Papers and Proceedings</a:t>
            </a:r>
            <a:r>
              <a:rPr lang="en-US" sz="2000" dirty="0" smtClean="0"/>
              <a:t>, 1990)</a:t>
            </a:r>
          </a:p>
          <a:p>
            <a:pPr algn="just"/>
            <a:r>
              <a:rPr lang="en-US" sz="2000" dirty="0" smtClean="0"/>
              <a:t>Is There a Bubble in the Housing Market? (</a:t>
            </a:r>
            <a:r>
              <a:rPr lang="en-US" sz="2000" i="1" dirty="0" smtClean="0"/>
              <a:t>Brookings Papers on Economic Activity</a:t>
            </a:r>
            <a:r>
              <a:rPr lang="en-US" sz="2000" dirty="0" smtClean="0"/>
              <a:t>, 2003)</a:t>
            </a:r>
          </a:p>
          <a:p>
            <a:pPr algn="just"/>
            <a:r>
              <a:rPr lang="en-US" sz="2000" dirty="0" smtClean="0"/>
              <a:t>Behavioral Economics and Institutional Innovation (</a:t>
            </a:r>
            <a:r>
              <a:rPr lang="en-US" sz="2000" i="1" dirty="0" smtClean="0"/>
              <a:t>Southern Economic Journal, </a:t>
            </a:r>
            <a:r>
              <a:rPr lang="en-US" sz="2000" dirty="0" smtClean="0"/>
              <a:t>2005)</a:t>
            </a:r>
          </a:p>
          <a:p>
            <a:pPr algn="just"/>
            <a:r>
              <a:rPr lang="en-US" sz="2000" dirty="0" smtClean="0"/>
              <a:t>From Efficient Markets Theory to Behavioral Finance (</a:t>
            </a:r>
            <a:r>
              <a:rPr lang="en-US" sz="2000" i="1" dirty="0" smtClean="0"/>
              <a:t>Journal of Economic Perspectives</a:t>
            </a:r>
            <a:r>
              <a:rPr lang="en-US" sz="2000" dirty="0" smtClean="0"/>
              <a:t>, 2003)</a:t>
            </a:r>
          </a:p>
          <a:p>
            <a:pPr algn="just"/>
            <a:r>
              <a:rPr lang="en-US" sz="2000" dirty="0" smtClean="0"/>
              <a:t>Bubbles, Human Judgment and Expert Opinion (</a:t>
            </a:r>
            <a:r>
              <a:rPr lang="en-US" sz="2000" i="1" dirty="0" smtClean="0"/>
              <a:t>Financial Analysts Journal</a:t>
            </a:r>
            <a:r>
              <a:rPr lang="en-US" sz="2000" dirty="0" smtClean="0"/>
              <a:t>, 2002)</a:t>
            </a:r>
            <a:endParaRPr lang="en-US" sz="2000" dirty="0"/>
          </a:p>
        </p:txBody>
      </p:sp>
    </p:spTree>
    <p:extLst>
      <p:ext uri="{BB962C8B-B14F-4D97-AF65-F5344CB8AC3E}">
        <p14:creationId xmlns:p14="http://schemas.microsoft.com/office/powerpoint/2010/main" val="104439824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72106"/>
          </a:xfrm>
        </p:spPr>
        <p:txBody>
          <a:bodyPr>
            <a:normAutofit fontScale="90000"/>
          </a:bodyPr>
          <a:lstStyle/>
          <a:p>
            <a:r>
              <a:rPr lang="en-US" dirty="0" smtClean="0"/>
              <a:t>Books</a:t>
            </a:r>
            <a:endParaRPr lang="en-US" dirty="0"/>
          </a:p>
        </p:txBody>
      </p:sp>
      <p:sp>
        <p:nvSpPr>
          <p:cNvPr id="3" name="Content Placeholder 2"/>
          <p:cNvSpPr>
            <a:spLocks noGrp="1"/>
          </p:cNvSpPr>
          <p:nvPr>
            <p:ph idx="1"/>
          </p:nvPr>
        </p:nvSpPr>
        <p:spPr>
          <a:xfrm>
            <a:off x="457200" y="1008622"/>
            <a:ext cx="8229600" cy="5703066"/>
          </a:xfrm>
        </p:spPr>
        <p:txBody>
          <a:bodyPr>
            <a:normAutofit fontScale="77500" lnSpcReduction="20000"/>
          </a:bodyPr>
          <a:lstStyle/>
          <a:p>
            <a:r>
              <a:rPr lang="en-US" dirty="0" smtClean="0"/>
              <a:t>Irrational Exuberance (2000)</a:t>
            </a:r>
          </a:p>
          <a:p>
            <a:pPr lvl="1"/>
            <a:r>
              <a:rPr lang="en-US" dirty="0" smtClean="0"/>
              <a:t>Using extensive data analytics, he shows </a:t>
            </a:r>
            <a:r>
              <a:rPr lang="en-US" i="1" dirty="0" smtClean="0"/>
              <a:t>how financial assets were highly overvalued at that time</a:t>
            </a:r>
            <a:r>
              <a:rPr lang="en-US" dirty="0" smtClean="0"/>
              <a:t>.</a:t>
            </a:r>
          </a:p>
          <a:p>
            <a:pPr lvl="1"/>
            <a:r>
              <a:rPr lang="en-US" dirty="0" smtClean="0"/>
              <a:t>The 2000s market crash coincides with the publication of the book, and </a:t>
            </a:r>
            <a:r>
              <a:rPr lang="en-US" dirty="0" err="1" smtClean="0"/>
              <a:t>Shiller</a:t>
            </a:r>
            <a:r>
              <a:rPr lang="en-US" dirty="0" smtClean="0"/>
              <a:t> rightly predicted it.</a:t>
            </a:r>
          </a:p>
          <a:p>
            <a:r>
              <a:rPr lang="en-US" dirty="0" smtClean="0"/>
              <a:t>Animal Spirits (2009) – with George </a:t>
            </a:r>
            <a:r>
              <a:rPr lang="en-US" dirty="0" err="1" smtClean="0"/>
              <a:t>Akerlof</a:t>
            </a:r>
            <a:endParaRPr lang="en-US" dirty="0" smtClean="0"/>
          </a:p>
          <a:p>
            <a:pPr lvl="1"/>
            <a:r>
              <a:rPr lang="en-US" dirty="0" smtClean="0"/>
              <a:t>Talks about the powerful psychological forces that are imperiling the wealth of nations today.</a:t>
            </a:r>
          </a:p>
          <a:p>
            <a:pPr lvl="1"/>
            <a:r>
              <a:rPr lang="en-US" dirty="0" smtClean="0"/>
              <a:t>Argues that from blind faith in ever-rising housing prices to plummeting confidence in capital markets, it is "</a:t>
            </a:r>
            <a:r>
              <a:rPr lang="en-US" i="1" dirty="0" smtClean="0"/>
              <a:t>animal spirits</a:t>
            </a:r>
            <a:r>
              <a:rPr lang="en-US" dirty="0" smtClean="0"/>
              <a:t>" are driving financial events worldwide.</a:t>
            </a:r>
          </a:p>
          <a:p>
            <a:pPr lvl="1"/>
            <a:r>
              <a:rPr lang="en-US" dirty="0" smtClean="0"/>
              <a:t>Puts forward a bold new vision that will transform economics and restore prosperity.</a:t>
            </a:r>
          </a:p>
          <a:p>
            <a:r>
              <a:rPr lang="en-US" dirty="0" smtClean="0"/>
              <a:t>Finance and the Good Society (2012)</a:t>
            </a:r>
          </a:p>
          <a:p>
            <a:pPr lvl="1"/>
            <a:r>
              <a:rPr lang="en-US" dirty="0"/>
              <a:t>M</a:t>
            </a:r>
            <a:r>
              <a:rPr lang="en-US" dirty="0" smtClean="0"/>
              <a:t>akes a powerful case for recognizing that finance, far from being a parasite on society, is one of the most powerful tools we have for solving our common problems and increasing the general well-being. </a:t>
            </a:r>
          </a:p>
          <a:p>
            <a:endParaRPr lang="en-US" dirty="0"/>
          </a:p>
        </p:txBody>
      </p:sp>
    </p:spTree>
    <p:extLst>
      <p:ext uri="{BB962C8B-B14F-4D97-AF65-F5344CB8AC3E}">
        <p14:creationId xmlns:p14="http://schemas.microsoft.com/office/powerpoint/2010/main" val="274015806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IN" smtClean="0"/>
              <a:t>Case study</a:t>
            </a:r>
          </a:p>
        </p:txBody>
      </p:sp>
      <p:sp>
        <p:nvSpPr>
          <p:cNvPr id="9219" name="Content Placeholder 2"/>
          <p:cNvSpPr>
            <a:spLocks noGrp="1"/>
          </p:cNvSpPr>
          <p:nvPr>
            <p:ph idx="1"/>
          </p:nvPr>
        </p:nvSpPr>
        <p:spPr/>
        <p:txBody>
          <a:bodyPr/>
          <a:lstStyle/>
          <a:p>
            <a:r>
              <a:rPr lang="en-IN" dirty="0" smtClean="0"/>
              <a:t>Predict GNP of our country</a:t>
            </a:r>
          </a:p>
          <a:p>
            <a:pPr lvl="1"/>
            <a:r>
              <a:rPr lang="en-IN" dirty="0" smtClean="0"/>
              <a:t>Past values?</a:t>
            </a:r>
          </a:p>
          <a:p>
            <a:pPr lvl="2"/>
            <a:r>
              <a:rPr lang="en-IN" dirty="0" smtClean="0"/>
              <a:t> 	Test for random walk  </a:t>
            </a:r>
          </a:p>
          <a:p>
            <a:pPr lvl="1"/>
            <a:r>
              <a:rPr lang="en-IN" dirty="0" smtClean="0"/>
              <a:t> Regression?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normAutofit fontScale="90000"/>
          </a:bodyPr>
          <a:lstStyle/>
          <a:p>
            <a:r>
              <a:rPr lang="en-IN" smtClean="0"/>
              <a:t>Modeling data - </a:t>
            </a:r>
            <a:r>
              <a:rPr lang="en-IN" smtClean="0">
                <a:solidFill>
                  <a:schemeClr val="tx1"/>
                </a:solidFill>
              </a:rPr>
              <a:t>understand the dynamics of the data</a:t>
            </a:r>
            <a:endParaRPr lang="en-IN" smtClean="0"/>
          </a:p>
        </p:txBody>
      </p:sp>
      <p:sp>
        <p:nvSpPr>
          <p:cNvPr id="3" name="Content Placeholder 2"/>
          <p:cNvSpPr>
            <a:spLocks noGrp="1"/>
          </p:cNvSpPr>
          <p:nvPr>
            <p:ph idx="1"/>
          </p:nvPr>
        </p:nvSpPr>
        <p:spPr>
          <a:xfrm>
            <a:off x="1143000" y="1752600"/>
            <a:ext cx="7812088" cy="4379913"/>
          </a:xfrm>
        </p:spPr>
        <p:txBody>
          <a:bodyPr/>
          <a:lstStyle/>
          <a:p>
            <a:pPr>
              <a:defRPr/>
            </a:pPr>
            <a:r>
              <a:rPr lang="en-IN" sz="2400" dirty="0" err="1" smtClean="0"/>
              <a:t>Univariate</a:t>
            </a:r>
            <a:endParaRPr lang="en-IN" sz="2400" dirty="0" smtClean="0"/>
          </a:p>
          <a:p>
            <a:pPr lvl="1">
              <a:defRPr/>
            </a:pPr>
            <a:r>
              <a:rPr lang="en-IN" sz="2400" dirty="0" smtClean="0">
                <a:ea typeface="+mn-ea"/>
                <a:cs typeface="+mn-cs"/>
              </a:rPr>
              <a:t> </a:t>
            </a:r>
            <a:r>
              <a:rPr lang="en-IN" sz="2000" dirty="0" err="1" smtClean="0">
                <a:ea typeface="+mn-ea"/>
                <a:cs typeface="+mn-cs"/>
              </a:rPr>
              <a:t>GNP</a:t>
            </a:r>
            <a:r>
              <a:rPr lang="en-IN" sz="2000" baseline="-25000" dirty="0" err="1" smtClean="0">
                <a:ea typeface="+mn-ea"/>
                <a:cs typeface="+mn-cs"/>
              </a:rPr>
              <a:t>t</a:t>
            </a:r>
            <a:r>
              <a:rPr lang="en-IN" sz="2000" dirty="0" smtClean="0">
                <a:ea typeface="+mn-ea"/>
                <a:cs typeface="+mn-cs"/>
              </a:rPr>
              <a:t>=f(GNP</a:t>
            </a:r>
            <a:r>
              <a:rPr lang="en-IN" sz="2000" baseline="-25000" dirty="0" smtClean="0">
                <a:ea typeface="+mn-ea"/>
                <a:cs typeface="+mn-cs"/>
              </a:rPr>
              <a:t>t-1</a:t>
            </a:r>
            <a:r>
              <a:rPr lang="en-IN" sz="2000" dirty="0" smtClean="0">
                <a:ea typeface="+mn-ea"/>
                <a:cs typeface="+mn-cs"/>
              </a:rPr>
              <a:t>, GNP</a:t>
            </a:r>
            <a:r>
              <a:rPr lang="en-IN" sz="2000" baseline="-25000" dirty="0" smtClean="0">
                <a:ea typeface="+mn-ea"/>
                <a:cs typeface="+mn-cs"/>
              </a:rPr>
              <a:t>t-2,... </a:t>
            </a:r>
            <a:r>
              <a:rPr lang="en-IN" sz="2000" dirty="0" smtClean="0">
                <a:ea typeface="+mn-ea"/>
                <a:cs typeface="+mn-cs"/>
              </a:rPr>
              <a:t>)</a:t>
            </a:r>
          </a:p>
          <a:p>
            <a:pPr lvl="1">
              <a:buNone/>
              <a:defRPr/>
            </a:pPr>
            <a:endParaRPr lang="en-IN" sz="2000" dirty="0" smtClean="0">
              <a:ea typeface="+mn-ea"/>
              <a:cs typeface="+mn-cs"/>
            </a:endParaRPr>
          </a:p>
          <a:p>
            <a:pPr lvl="1">
              <a:defRPr/>
            </a:pPr>
            <a:r>
              <a:rPr lang="en-IN" sz="2000" dirty="0" smtClean="0">
                <a:ea typeface="+mn-ea"/>
                <a:cs typeface="+mn-cs"/>
              </a:rPr>
              <a:t> </a:t>
            </a:r>
            <a:r>
              <a:rPr lang="en-IN" sz="2000" dirty="0" err="1" smtClean="0"/>
              <a:t>GNP</a:t>
            </a:r>
            <a:r>
              <a:rPr lang="en-IN" sz="2000" baseline="-25000" dirty="0" err="1" smtClean="0"/>
              <a:t>t</a:t>
            </a:r>
            <a:r>
              <a:rPr lang="en-IN" sz="2000" dirty="0" smtClean="0"/>
              <a:t>=f(GNP</a:t>
            </a:r>
            <a:r>
              <a:rPr lang="en-IN" sz="2000" baseline="-25000" dirty="0" smtClean="0"/>
              <a:t>t-1</a:t>
            </a:r>
            <a:r>
              <a:rPr lang="en-IN" sz="2000" dirty="0" smtClean="0"/>
              <a:t>, GNP</a:t>
            </a:r>
            <a:r>
              <a:rPr lang="en-IN" sz="2000" baseline="-25000" dirty="0" smtClean="0"/>
              <a:t>t-2, </a:t>
            </a:r>
            <a:r>
              <a:rPr lang="en-IN" sz="2000" dirty="0" smtClean="0"/>
              <a:t>error term)</a:t>
            </a:r>
          </a:p>
          <a:p>
            <a:pPr marL="457200" lvl="1" indent="0">
              <a:buFont typeface="Wingdings" pitchFamily="2" charset="2"/>
              <a:buNone/>
              <a:defRPr/>
            </a:pPr>
            <a:endParaRPr lang="en-IN" sz="2000" dirty="0" smtClean="0"/>
          </a:p>
          <a:p>
            <a:pPr lvl="1">
              <a:defRPr/>
            </a:pPr>
            <a:r>
              <a:rPr lang="en-IN" sz="2000" dirty="0" smtClean="0"/>
              <a:t> </a:t>
            </a:r>
            <a:r>
              <a:rPr lang="en-IN" sz="2000" dirty="0" err="1" smtClean="0"/>
              <a:t>GNP</a:t>
            </a:r>
            <a:r>
              <a:rPr lang="en-IN" sz="2000" baseline="-25000" dirty="0" err="1" smtClean="0"/>
              <a:t>t</a:t>
            </a:r>
            <a:r>
              <a:rPr lang="en-IN" sz="2000" dirty="0" smtClean="0"/>
              <a:t>=f(GNP</a:t>
            </a:r>
            <a:r>
              <a:rPr lang="en-IN" sz="2000" baseline="-25000" dirty="0" smtClean="0"/>
              <a:t>t-1,</a:t>
            </a:r>
            <a:r>
              <a:rPr lang="en-IN" sz="2000" dirty="0" smtClean="0"/>
              <a:t> GNP</a:t>
            </a:r>
            <a:r>
              <a:rPr lang="en-IN" sz="2000" baseline="-25000" dirty="0" smtClean="0"/>
              <a:t>t-2, </a:t>
            </a:r>
            <a:r>
              <a:rPr lang="en-IN" sz="2000" dirty="0" smtClean="0"/>
              <a:t>error term</a:t>
            </a:r>
            <a:r>
              <a:rPr lang="en-IN" sz="2000" baseline="-25000" dirty="0" smtClean="0"/>
              <a:t>t-1,</a:t>
            </a:r>
            <a:r>
              <a:rPr lang="en-IN" sz="2000" dirty="0" smtClean="0"/>
              <a:t>error term</a:t>
            </a:r>
            <a:r>
              <a:rPr lang="en-IN" sz="2000" baseline="-25000" dirty="0" smtClean="0"/>
              <a:t>t-2)</a:t>
            </a:r>
            <a:r>
              <a:rPr lang="en-IN" sz="2000" dirty="0" smtClean="0"/>
              <a:t> )</a:t>
            </a:r>
          </a:p>
          <a:p>
            <a:pPr lvl="2">
              <a:defRPr/>
            </a:pPr>
            <a:endParaRPr lang="en-US" sz="1600" dirty="0" smtClean="0"/>
          </a:p>
          <a:p>
            <a:pPr lvl="1">
              <a:buNone/>
              <a:defRPr/>
            </a:pPr>
            <a:endParaRPr lang="en-US" sz="2000" baseline="-25000" dirty="0"/>
          </a:p>
          <a:p>
            <a:pPr lvl="1">
              <a:defRPr/>
            </a:pPr>
            <a:endParaRPr lang="en-IN" sz="2000" dirty="0" smtClean="0"/>
          </a:p>
          <a:p>
            <a:pPr lvl="1">
              <a:defRPr/>
            </a:pPr>
            <a:endParaRPr lang="en-IN" sz="2000" dirty="0" smtClean="0"/>
          </a:p>
          <a:p>
            <a:pPr lvl="1">
              <a:defRPr/>
            </a:pPr>
            <a:endParaRPr lang="en-IN" sz="2000" dirty="0" smtClean="0"/>
          </a:p>
          <a:p>
            <a:pPr>
              <a:defRPr/>
            </a:pPr>
            <a:endParaRPr lang="en-I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normAutofit fontScale="90000"/>
          </a:bodyPr>
          <a:lstStyle/>
          <a:p>
            <a:r>
              <a:rPr lang="en-IN" smtClean="0"/>
              <a:t>Modeling data - </a:t>
            </a:r>
            <a:r>
              <a:rPr lang="en-IN" smtClean="0">
                <a:solidFill>
                  <a:schemeClr val="tx1"/>
                </a:solidFill>
              </a:rPr>
              <a:t>understand the dynamics of the data</a:t>
            </a:r>
            <a:endParaRPr lang="en-IN" smtClean="0"/>
          </a:p>
        </p:txBody>
      </p:sp>
      <p:sp>
        <p:nvSpPr>
          <p:cNvPr id="3" name="Content Placeholder 2"/>
          <p:cNvSpPr>
            <a:spLocks noGrp="1"/>
          </p:cNvSpPr>
          <p:nvPr>
            <p:ph idx="1"/>
          </p:nvPr>
        </p:nvSpPr>
        <p:spPr>
          <a:xfrm>
            <a:off x="1143000" y="1752600"/>
            <a:ext cx="7812088" cy="4379913"/>
          </a:xfrm>
        </p:spPr>
        <p:txBody>
          <a:bodyPr/>
          <a:lstStyle/>
          <a:p>
            <a:pPr>
              <a:defRPr/>
            </a:pPr>
            <a:r>
              <a:rPr lang="en-IN" sz="2400" dirty="0" err="1" smtClean="0"/>
              <a:t>Univariate</a:t>
            </a:r>
            <a:endParaRPr lang="en-IN" sz="2400" dirty="0" smtClean="0"/>
          </a:p>
          <a:p>
            <a:pPr lvl="1">
              <a:defRPr/>
            </a:pPr>
            <a:r>
              <a:rPr lang="en-IN" sz="2400" dirty="0" smtClean="0">
                <a:ea typeface="+mn-ea"/>
                <a:cs typeface="+mn-cs"/>
              </a:rPr>
              <a:t> </a:t>
            </a:r>
            <a:r>
              <a:rPr lang="en-IN" sz="2000" dirty="0" err="1" smtClean="0">
                <a:ea typeface="+mn-ea"/>
                <a:cs typeface="+mn-cs"/>
              </a:rPr>
              <a:t>GNP</a:t>
            </a:r>
            <a:r>
              <a:rPr lang="en-IN" sz="2000" baseline="-25000" dirty="0" err="1" smtClean="0">
                <a:ea typeface="+mn-ea"/>
                <a:cs typeface="+mn-cs"/>
              </a:rPr>
              <a:t>t</a:t>
            </a:r>
            <a:r>
              <a:rPr lang="en-IN" sz="2000" dirty="0" smtClean="0">
                <a:ea typeface="+mn-ea"/>
                <a:cs typeface="+mn-cs"/>
              </a:rPr>
              <a:t>=f(GNP</a:t>
            </a:r>
            <a:r>
              <a:rPr lang="en-IN" sz="2000" baseline="-25000" dirty="0" smtClean="0">
                <a:ea typeface="+mn-ea"/>
                <a:cs typeface="+mn-cs"/>
              </a:rPr>
              <a:t>t-1</a:t>
            </a:r>
            <a:r>
              <a:rPr lang="en-IN" sz="2000" dirty="0" smtClean="0">
                <a:ea typeface="+mn-ea"/>
                <a:cs typeface="+mn-cs"/>
              </a:rPr>
              <a:t>, GNP</a:t>
            </a:r>
            <a:r>
              <a:rPr lang="en-IN" sz="2000" baseline="-25000" dirty="0" smtClean="0">
                <a:ea typeface="+mn-ea"/>
                <a:cs typeface="+mn-cs"/>
              </a:rPr>
              <a:t>t-2,... </a:t>
            </a:r>
            <a:r>
              <a:rPr lang="en-IN" sz="2000" dirty="0" smtClean="0">
                <a:ea typeface="+mn-ea"/>
                <a:cs typeface="+mn-cs"/>
              </a:rPr>
              <a:t>)  + e </a:t>
            </a:r>
            <a:r>
              <a:rPr lang="en-IN" sz="2000" dirty="0" smtClean="0">
                <a:solidFill>
                  <a:srgbClr val="9933FF"/>
                </a:solidFill>
                <a:ea typeface="+mn-ea"/>
                <a:cs typeface="+mn-cs"/>
              </a:rPr>
              <a:t>-</a:t>
            </a:r>
            <a:r>
              <a:rPr lang="en-IN" sz="2000" dirty="0" smtClean="0">
                <a:solidFill>
                  <a:srgbClr val="9933FF"/>
                </a:solidFill>
              </a:rPr>
              <a:t> Regression </a:t>
            </a:r>
          </a:p>
          <a:p>
            <a:pPr lvl="2">
              <a:defRPr/>
            </a:pPr>
            <a:r>
              <a:rPr lang="en-IN" sz="2000" dirty="0" smtClean="0">
                <a:ea typeface="+mn-ea"/>
                <a:cs typeface="+mn-cs"/>
              </a:rPr>
              <a:t>error term</a:t>
            </a:r>
          </a:p>
          <a:p>
            <a:pPr lvl="1">
              <a:buFont typeface="Wingdings" pitchFamily="2" charset="2"/>
              <a:buNone/>
              <a:defRPr/>
            </a:pPr>
            <a:endParaRPr lang="en-IN" sz="2000" dirty="0" smtClean="0">
              <a:solidFill>
                <a:srgbClr val="9933FF"/>
              </a:solidFill>
            </a:endParaRPr>
          </a:p>
          <a:p>
            <a:pPr lvl="1">
              <a:buFont typeface="Wingdings" pitchFamily="2" charset="2"/>
              <a:buNone/>
              <a:defRPr/>
            </a:pPr>
            <a:r>
              <a:rPr lang="en-IN" sz="2000" dirty="0" smtClean="0">
                <a:solidFill>
                  <a:srgbClr val="9933FF"/>
                </a:solidFill>
              </a:rPr>
              <a:t>ARIMA  -  AR, MA , I</a:t>
            </a:r>
          </a:p>
          <a:p>
            <a:pPr lvl="1">
              <a:defRPr/>
            </a:pPr>
            <a:r>
              <a:rPr lang="en-IN" sz="2000" dirty="0" smtClean="0"/>
              <a:t> </a:t>
            </a:r>
            <a:r>
              <a:rPr lang="en-IN" sz="2000" dirty="0" err="1" smtClean="0"/>
              <a:t>GNP</a:t>
            </a:r>
            <a:r>
              <a:rPr lang="en-IN" sz="2000" baseline="-25000" dirty="0" err="1" smtClean="0"/>
              <a:t>t</a:t>
            </a:r>
            <a:r>
              <a:rPr lang="en-IN" sz="2000" dirty="0" smtClean="0"/>
              <a:t>=f(GNP</a:t>
            </a:r>
            <a:r>
              <a:rPr lang="en-IN" sz="2000" baseline="-25000" dirty="0" smtClean="0"/>
              <a:t>t-1,</a:t>
            </a:r>
            <a:r>
              <a:rPr lang="en-IN" sz="2000" dirty="0" smtClean="0"/>
              <a:t> GNP</a:t>
            </a:r>
            <a:r>
              <a:rPr lang="en-IN" sz="2000" baseline="-25000" dirty="0" smtClean="0"/>
              <a:t>t-2, </a:t>
            </a:r>
            <a:r>
              <a:rPr lang="en-IN" sz="2000" dirty="0" smtClean="0"/>
              <a:t>error term</a:t>
            </a:r>
            <a:r>
              <a:rPr lang="en-IN" sz="2000" baseline="-25000" dirty="0" smtClean="0"/>
              <a:t>t-1,</a:t>
            </a:r>
            <a:r>
              <a:rPr lang="en-IN" sz="2000" dirty="0" smtClean="0"/>
              <a:t>error term</a:t>
            </a:r>
            <a:r>
              <a:rPr lang="en-IN" sz="2000" baseline="-25000" dirty="0" smtClean="0"/>
              <a:t>t-2)</a:t>
            </a:r>
            <a:r>
              <a:rPr lang="en-IN" sz="2000" dirty="0" smtClean="0"/>
              <a:t> )</a:t>
            </a:r>
          </a:p>
          <a:p>
            <a:pPr lvl="1">
              <a:buNone/>
              <a:defRPr/>
            </a:pPr>
            <a:endParaRPr lang="en-IN" sz="2000" dirty="0" smtClean="0"/>
          </a:p>
          <a:p>
            <a:pPr lvl="1">
              <a:defRPr/>
            </a:pPr>
            <a:endParaRPr lang="en-IN" sz="2000" dirty="0" smtClean="0"/>
          </a:p>
          <a:p>
            <a:pPr lvl="1">
              <a:defRPr/>
            </a:pPr>
            <a:endParaRPr lang="en-IN" sz="2000" dirty="0" smtClean="0"/>
          </a:p>
          <a:p>
            <a:pPr>
              <a:defRPr/>
            </a:pPr>
            <a:endParaRPr lang="en-I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Nobel Prize Winners</a:t>
            </a:r>
            <a:br>
              <a:rPr lang="en-IN" dirty="0" smtClean="0"/>
            </a:br>
            <a:r>
              <a:rPr lang="en-IN" dirty="0" smtClean="0"/>
              <a:t> – Financial Economics</a:t>
            </a:r>
            <a:endParaRPr lang="en-IN" dirty="0"/>
          </a:p>
        </p:txBody>
      </p:sp>
      <p:sp>
        <p:nvSpPr>
          <p:cNvPr id="3" name="Content Placeholder 2"/>
          <p:cNvSpPr>
            <a:spLocks noGrp="1"/>
          </p:cNvSpPr>
          <p:nvPr>
            <p:ph idx="1"/>
          </p:nvPr>
        </p:nvSpPr>
        <p:spPr/>
        <p:txBody>
          <a:bodyPr>
            <a:normAutofit/>
          </a:bodyPr>
          <a:lstStyle/>
          <a:p>
            <a:r>
              <a:rPr lang="en-IN" b="1" dirty="0" smtClean="0"/>
              <a:t>Lars Peter Hansen (2013) -</a:t>
            </a:r>
            <a:endParaRPr lang="en-IN" dirty="0" smtClean="0"/>
          </a:p>
          <a:p>
            <a:pPr lvl="1"/>
            <a:r>
              <a:rPr lang="en-IN" dirty="0" smtClean="0"/>
              <a:t>General Methods of Moments</a:t>
            </a:r>
          </a:p>
          <a:p>
            <a:r>
              <a:rPr lang="en-IN" dirty="0" smtClean="0"/>
              <a:t>Robert F. Engle ( 2003)</a:t>
            </a:r>
          </a:p>
          <a:p>
            <a:pPr lvl="1"/>
            <a:r>
              <a:rPr lang="en-IN" dirty="0" smtClean="0"/>
              <a:t>for methods of analyzing economic time series with time-varying volatility (ARCH)</a:t>
            </a:r>
          </a:p>
          <a:p>
            <a:r>
              <a:rPr lang="en-IN" dirty="0" smtClean="0"/>
              <a:t>Clive Granger (2003)</a:t>
            </a:r>
          </a:p>
          <a:p>
            <a:pPr lvl="1"/>
            <a:r>
              <a:rPr lang="en-IN" dirty="0" smtClean="0"/>
              <a:t>for methods of analyzing economic time series with common trends (cointegration)</a:t>
            </a:r>
            <a:endParaRPr lang="en-I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Lars Peter Hansen</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48896088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09600" y="609600"/>
            <a:ext cx="7924800" cy="5867400"/>
          </a:xfrm>
        </p:spPr>
        <p:txBody>
          <a:bodyPr>
            <a:normAutofit/>
          </a:bodyPr>
          <a:lstStyle/>
          <a:p>
            <a:pPr algn="just"/>
            <a:r>
              <a:rPr lang="en-US" dirty="0" smtClean="0">
                <a:solidFill>
                  <a:schemeClr val="tx1"/>
                </a:solidFill>
              </a:rPr>
              <a:t>Lars Peter Hansen - Professor at University of Chicago. </a:t>
            </a:r>
          </a:p>
          <a:p>
            <a:pPr algn="just">
              <a:buFont typeface="Arial" pitchFamily="34" charset="0"/>
              <a:buChar char="•"/>
            </a:pPr>
            <a:r>
              <a:rPr lang="en-US" dirty="0" smtClean="0">
                <a:solidFill>
                  <a:schemeClr val="tx1"/>
                </a:solidFill>
              </a:rPr>
              <a:t>Awarded Nobel Prize in Economics  for his pioneering work in the area of Generalized Methods of Moments (GMM).</a:t>
            </a:r>
          </a:p>
          <a:p>
            <a:pPr algn="just">
              <a:buFont typeface="Arial" pitchFamily="34" charset="0"/>
              <a:buChar char="•"/>
            </a:pPr>
            <a:r>
              <a:rPr lang="en-US" dirty="0" smtClean="0">
                <a:solidFill>
                  <a:schemeClr val="tx1"/>
                </a:solidFill>
              </a:rPr>
              <a:t>GMM was developed in 1982.</a:t>
            </a:r>
          </a:p>
          <a:p>
            <a:pPr algn="just"/>
            <a:endParaRPr lang="en-US" dirty="0" smtClean="0">
              <a:solidFill>
                <a:schemeClr val="tx1"/>
              </a:solidFill>
            </a:endParaRPr>
          </a:p>
          <a:p>
            <a:pPr algn="just"/>
            <a:endParaRPr lang="en-US" dirty="0">
              <a:solidFill>
                <a:schemeClr val="tx1"/>
              </a:solidFill>
            </a:endParaRPr>
          </a:p>
        </p:txBody>
      </p:sp>
      <p:pic>
        <p:nvPicPr>
          <p:cNvPr id="4" name="Picture 2"/>
          <p:cNvPicPr>
            <a:picLocks noChangeAspect="1" noChangeArrowheads="1"/>
          </p:cNvPicPr>
          <p:nvPr/>
        </p:nvPicPr>
        <p:blipFill>
          <a:blip r:embed="rId2"/>
          <a:srcRect/>
          <a:stretch>
            <a:fillRect/>
          </a:stretch>
        </p:blipFill>
        <p:spPr bwMode="auto">
          <a:xfrm>
            <a:off x="2895600" y="3810000"/>
            <a:ext cx="3200400" cy="2667000"/>
          </a:xfrm>
          <a:prstGeom prst="rect">
            <a:avLst/>
          </a:prstGeom>
          <a:noFill/>
          <a:ln w="9525">
            <a:noFill/>
            <a:miter lim="800000"/>
            <a:headEnd/>
            <a:tailEnd/>
          </a:ln>
          <a:effectLst/>
        </p:spPr>
      </p:pic>
    </p:spTree>
    <p:extLst>
      <p:ext uri="{BB962C8B-B14F-4D97-AF65-F5344CB8AC3E}">
        <p14:creationId xmlns:p14="http://schemas.microsoft.com/office/powerpoint/2010/main" val="695004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457200" y="609600"/>
            <a:ext cx="8229600" cy="5791200"/>
          </a:xfrm>
        </p:spPr>
        <p:txBody>
          <a:bodyPr>
            <a:normAutofit/>
          </a:bodyPr>
          <a:lstStyle/>
          <a:p>
            <a:pPr algn="just"/>
            <a:r>
              <a:rPr lang="en-US" dirty="0" smtClean="0"/>
              <a:t>Estimating the parameters in a regression done by</a:t>
            </a:r>
          </a:p>
          <a:p>
            <a:pPr lvl="1" algn="just">
              <a:buFont typeface="Wingdings" pitchFamily="2" charset="2"/>
              <a:buChar char="Ø"/>
            </a:pPr>
            <a:r>
              <a:rPr lang="en-US" dirty="0" smtClean="0"/>
              <a:t>Ordinary Least Squares method – Under strict assumptions of error terms, exogenous variables, distribution, etc.</a:t>
            </a:r>
          </a:p>
          <a:p>
            <a:pPr lvl="1" algn="just">
              <a:buFont typeface="Wingdings" pitchFamily="2" charset="2"/>
              <a:buChar char="Ø"/>
            </a:pPr>
            <a:r>
              <a:rPr lang="en-US" dirty="0" smtClean="0"/>
              <a:t>Maximum Likelihood Estimator method-  Computationally burdensome and used for large samples.</a:t>
            </a:r>
          </a:p>
          <a:p>
            <a:pPr lvl="1" algn="just">
              <a:buFont typeface="Wingdings" pitchFamily="2" charset="2"/>
              <a:buChar char="Ø"/>
            </a:pPr>
            <a:r>
              <a:rPr lang="en-US" dirty="0" smtClean="0"/>
              <a:t>GMM –Moment conditions exploited to estimate parameters even under weak assumptions.</a:t>
            </a:r>
          </a:p>
          <a:p>
            <a:pPr algn="just"/>
            <a:endParaRPr lang="en-US" dirty="0" smtClean="0"/>
          </a:p>
          <a:p>
            <a:endParaRPr lang="en-US" dirty="0"/>
          </a:p>
        </p:txBody>
      </p:sp>
    </p:spTree>
    <p:extLst>
      <p:ext uri="{BB962C8B-B14F-4D97-AF65-F5344CB8AC3E}">
        <p14:creationId xmlns:p14="http://schemas.microsoft.com/office/powerpoint/2010/main" val="225791090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324600"/>
          </a:xfrm>
        </p:spPr>
        <p:txBody>
          <a:bodyPr/>
          <a:lstStyle/>
          <a:p>
            <a:pPr algn="just"/>
            <a:r>
              <a:rPr lang="en-US" dirty="0" smtClean="0"/>
              <a:t>GMM is easy to use compared to Maximum Likelihood Estimators (MLE), where the distribution is assumed to be normal.</a:t>
            </a:r>
          </a:p>
          <a:p>
            <a:pPr algn="just"/>
            <a:r>
              <a:rPr lang="en-US" dirty="0" smtClean="0"/>
              <a:t>GMM does not require any knowledge about the distribution of the data.</a:t>
            </a:r>
          </a:p>
          <a:p>
            <a:r>
              <a:rPr lang="en-US" dirty="0" smtClean="0"/>
              <a:t>GMM is identified by using any  variable that is known in period t, and can be estimated consistently using GMM.</a:t>
            </a:r>
          </a:p>
          <a:p>
            <a:r>
              <a:rPr lang="en-US" dirty="0" smtClean="0"/>
              <a:t>MLE, on the other hand would involve specifying the conditional distributions of the variable and requires a lot of numerical integration.</a:t>
            </a:r>
          </a:p>
          <a:p>
            <a:pPr algn="just"/>
            <a:endParaRPr lang="en-US" dirty="0" smtClean="0"/>
          </a:p>
          <a:p>
            <a:endParaRPr lang="en-US" dirty="0"/>
          </a:p>
        </p:txBody>
      </p:sp>
    </p:spTree>
    <p:extLst>
      <p:ext uri="{BB962C8B-B14F-4D97-AF65-F5344CB8AC3E}">
        <p14:creationId xmlns:p14="http://schemas.microsoft.com/office/powerpoint/2010/main" val="364149454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92500" lnSpcReduction="20000"/>
          </a:bodyPr>
          <a:lstStyle/>
          <a:p>
            <a:pPr algn="just"/>
            <a:r>
              <a:rPr lang="en-US" dirty="0" smtClean="0"/>
              <a:t>GMM is also used in non – linear models, time series models and panel data models.</a:t>
            </a:r>
          </a:p>
          <a:p>
            <a:pPr algn="just"/>
            <a:r>
              <a:rPr lang="en-US" dirty="0" smtClean="0"/>
              <a:t>A weighting matrix is a crucial component of GMM analysis. Weighting matrix is obtained by inverting a consistent estimator of the variance covariance of the moment conditions.</a:t>
            </a:r>
          </a:p>
          <a:p>
            <a:pPr algn="just"/>
            <a:endParaRPr lang="en-US" dirty="0"/>
          </a:p>
          <a:p>
            <a:pPr marL="0" marR="0">
              <a:lnSpc>
                <a:spcPct val="115000"/>
              </a:lnSpc>
              <a:spcBef>
                <a:spcPts val="0"/>
              </a:spcBef>
              <a:spcAft>
                <a:spcPts val="1000"/>
              </a:spcAft>
            </a:pPr>
            <a:endParaRPr lang="en-US" dirty="0" smtClean="0">
              <a:ea typeface="Calibri"/>
              <a:cs typeface="Times New Roman"/>
            </a:endParaRPr>
          </a:p>
          <a:p>
            <a:pPr marL="0" marR="0">
              <a:lnSpc>
                <a:spcPct val="115000"/>
              </a:lnSpc>
              <a:spcBef>
                <a:spcPts val="0"/>
              </a:spcBef>
              <a:spcAft>
                <a:spcPts val="1000"/>
              </a:spcAft>
            </a:pPr>
            <a:endParaRPr lang="en-US" dirty="0">
              <a:ea typeface="Calibri"/>
              <a:cs typeface="Times New Roman"/>
            </a:endParaRPr>
          </a:p>
          <a:p>
            <a:pPr marL="0" marR="0">
              <a:lnSpc>
                <a:spcPct val="115000"/>
              </a:lnSpc>
              <a:spcBef>
                <a:spcPts val="0"/>
              </a:spcBef>
              <a:spcAft>
                <a:spcPts val="1000"/>
              </a:spcAft>
            </a:pPr>
            <a:r>
              <a:rPr lang="en-US" dirty="0" smtClean="0">
                <a:ea typeface="Calibri"/>
                <a:cs typeface="Times New Roman"/>
              </a:rPr>
              <a:t>W</a:t>
            </a:r>
            <a:r>
              <a:rPr lang="en-US" baseline="-25000" dirty="0" smtClean="0">
                <a:ea typeface="Calibri"/>
                <a:cs typeface="Times New Roman"/>
              </a:rPr>
              <a:t>t        </a:t>
            </a:r>
            <a:r>
              <a:rPr lang="en-US" dirty="0" smtClean="0">
                <a:ea typeface="Calibri"/>
                <a:cs typeface="Times New Roman"/>
              </a:rPr>
              <a:t>weighting matrix</a:t>
            </a:r>
            <a:r>
              <a:rPr lang="en-US" baseline="-25000" dirty="0" smtClean="0">
                <a:ea typeface="Calibri"/>
                <a:cs typeface="Times New Roman"/>
              </a:rPr>
              <a:t>  </a:t>
            </a:r>
          </a:p>
          <a:p>
            <a:pPr marL="0">
              <a:lnSpc>
                <a:spcPct val="115000"/>
              </a:lnSpc>
              <a:spcBef>
                <a:spcPts val="0"/>
              </a:spcBef>
              <a:spcAft>
                <a:spcPts val="1000"/>
              </a:spcAft>
              <a:buNone/>
            </a:pPr>
            <a:r>
              <a:rPr lang="en-US" dirty="0" smtClean="0">
                <a:ea typeface="Calibri"/>
                <a:cs typeface="Times New Roman"/>
              </a:rPr>
              <a:t>GMM estimate is defined as </a:t>
            </a:r>
            <a:r>
              <a:rPr lang="en-US" dirty="0" smtClean="0"/>
              <a:t>β that minimizes the above equation.</a:t>
            </a:r>
            <a:endParaRPr lang="en-US" dirty="0"/>
          </a:p>
          <a:p>
            <a:pPr marL="0" marR="0">
              <a:lnSpc>
                <a:spcPct val="115000"/>
              </a:lnSpc>
              <a:spcBef>
                <a:spcPts val="0"/>
              </a:spcBef>
              <a:spcAft>
                <a:spcPts val="1000"/>
              </a:spcAft>
              <a:buNone/>
            </a:pPr>
            <a:endParaRPr lang="en-US" dirty="0">
              <a:ea typeface="Calibri"/>
              <a:cs typeface="Times New Roman"/>
            </a:endParaRPr>
          </a:p>
          <a:p>
            <a:pPr algn="just"/>
            <a:endParaRPr lang="en-US" dirty="0" smtClean="0"/>
          </a:p>
          <a:p>
            <a:endParaRPr lang="en-US" dirty="0"/>
          </a:p>
        </p:txBody>
      </p:sp>
      <p:pic>
        <p:nvPicPr>
          <p:cNvPr id="5" name="Picture 2"/>
          <p:cNvPicPr>
            <a:picLocks noGrp="1" noChangeAspect="1" noChangeArrowheads="1"/>
          </p:cNvPicPr>
          <p:nvPr>
            <p:ph idx="1"/>
          </p:nvPr>
        </p:nvPicPr>
        <p:blipFill>
          <a:blip r:embed="rId2"/>
          <a:srcRect/>
          <a:stretch>
            <a:fillRect/>
          </a:stretch>
        </p:blipFill>
        <p:spPr bwMode="auto">
          <a:xfrm>
            <a:off x="2286000" y="2819400"/>
            <a:ext cx="4114800" cy="895350"/>
          </a:xfrm>
          <a:prstGeom prst="rect">
            <a:avLst/>
          </a:prstGeom>
          <a:noFill/>
          <a:ln w="9525">
            <a:noFill/>
            <a:miter lim="800000"/>
            <a:headEnd/>
            <a:tailEnd/>
          </a:ln>
          <a:effectLst/>
        </p:spPr>
      </p:pic>
    </p:spTree>
    <p:extLst>
      <p:ext uri="{BB962C8B-B14F-4D97-AF65-F5344CB8AC3E}">
        <p14:creationId xmlns:p14="http://schemas.microsoft.com/office/powerpoint/2010/main" val="297092098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lnSpcReduction="10000"/>
          </a:bodyPr>
          <a:lstStyle/>
          <a:p>
            <a:pPr algn="just"/>
            <a:endParaRPr lang="en-US" dirty="0" smtClean="0"/>
          </a:p>
          <a:p>
            <a:pPr algn="just"/>
            <a:r>
              <a:rPr lang="en-US" dirty="0" smtClean="0"/>
              <a:t>Packages like E Views, RATS, </a:t>
            </a:r>
            <a:r>
              <a:rPr lang="en-US" dirty="0" err="1" smtClean="0"/>
              <a:t>Stata</a:t>
            </a:r>
            <a:r>
              <a:rPr lang="en-US" dirty="0" smtClean="0"/>
              <a:t> can be used to implement GMM.</a:t>
            </a:r>
          </a:p>
          <a:p>
            <a:pPr algn="just"/>
            <a:r>
              <a:rPr lang="en-US" dirty="0" smtClean="0"/>
              <a:t>For further reference</a:t>
            </a:r>
          </a:p>
          <a:p>
            <a:pPr algn="just"/>
            <a:r>
              <a:rPr lang="en-US" dirty="0" smtClean="0"/>
              <a:t>Hansen, Lars Peter(1982). Large sample properties of generalized method of moments estimators. </a:t>
            </a:r>
            <a:r>
              <a:rPr lang="en-US" i="1" dirty="0" err="1" smtClean="0"/>
              <a:t>Econometrica</a:t>
            </a:r>
            <a:r>
              <a:rPr lang="en-US" dirty="0" smtClean="0"/>
              <a:t>, 50, 1029—1054.</a:t>
            </a:r>
          </a:p>
          <a:p>
            <a:pPr algn="just"/>
            <a:r>
              <a:rPr lang="en-US" dirty="0" smtClean="0"/>
              <a:t>Wooldridge, Jeffrey M. 2001. "Applications of Generalized Method of Moments Estimation." </a:t>
            </a:r>
            <a:r>
              <a:rPr lang="en-US" i="1" dirty="0" smtClean="0"/>
              <a:t>Journal of Economic Perspectives</a:t>
            </a:r>
            <a:r>
              <a:rPr lang="en-US" dirty="0" smtClean="0"/>
              <a:t>, 15(4): 87-100</a:t>
            </a:r>
          </a:p>
          <a:p>
            <a:endParaRPr lang="en-US" dirty="0"/>
          </a:p>
        </p:txBody>
      </p:sp>
    </p:spTree>
    <p:extLst>
      <p:ext uri="{BB962C8B-B14F-4D97-AF65-F5344CB8AC3E}">
        <p14:creationId xmlns:p14="http://schemas.microsoft.com/office/powerpoint/2010/main" val="207580571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Robert Engle (1982) </a:t>
            </a:r>
            <a:endParaRPr lang="en-IN" dirty="0"/>
          </a:p>
        </p:txBody>
      </p:sp>
      <p:sp>
        <p:nvSpPr>
          <p:cNvPr id="3" name="Content Placeholder 2"/>
          <p:cNvSpPr>
            <a:spLocks noGrp="1"/>
          </p:cNvSpPr>
          <p:nvPr>
            <p:ph idx="1"/>
          </p:nvPr>
        </p:nvSpPr>
        <p:spPr/>
        <p:txBody>
          <a:bodyPr>
            <a:normAutofit fontScale="92500" lnSpcReduction="10000"/>
          </a:bodyPr>
          <a:lstStyle/>
          <a:p>
            <a:pPr lvl="1"/>
            <a:r>
              <a:rPr lang="en-IN" dirty="0" smtClean="0"/>
              <a:t>for methods of analyzing economic time series with time-varying volatility (ARCH)  - Nobel Prize 2003</a:t>
            </a:r>
          </a:p>
          <a:p>
            <a:pPr lvl="1">
              <a:buFont typeface="Wingdings" pitchFamily="2" charset="2"/>
              <a:buNone/>
              <a:defRPr/>
            </a:pPr>
            <a:endParaRPr lang="en-IN" dirty="0" smtClean="0"/>
          </a:p>
          <a:p>
            <a:pPr lvl="1">
              <a:buFont typeface="Wingdings" pitchFamily="2" charset="2"/>
              <a:buNone/>
              <a:defRPr/>
            </a:pPr>
            <a:r>
              <a:rPr lang="en-IN" sz="2000" dirty="0" smtClean="0">
                <a:solidFill>
                  <a:srgbClr val="9933FF"/>
                </a:solidFill>
              </a:rPr>
              <a:t>Standard deviation- </a:t>
            </a:r>
            <a:r>
              <a:rPr lang="en-IN" sz="2000" dirty="0" smtClean="0"/>
              <a:t>variability- Measure of risk </a:t>
            </a:r>
          </a:p>
          <a:p>
            <a:pPr lvl="1">
              <a:buFont typeface="Wingdings" pitchFamily="2" charset="2"/>
              <a:buNone/>
              <a:defRPr/>
            </a:pPr>
            <a:r>
              <a:rPr lang="en-IN" sz="2000" dirty="0" smtClean="0">
                <a:solidFill>
                  <a:srgbClr val="9933FF"/>
                </a:solidFill>
              </a:rPr>
              <a:t>GARCH – Time varying variability  - Measure of risk </a:t>
            </a:r>
          </a:p>
          <a:p>
            <a:pPr>
              <a:buNone/>
            </a:pPr>
            <a:endParaRPr lang="en-IN" dirty="0" smtClean="0"/>
          </a:p>
          <a:p>
            <a:pPr>
              <a:buNone/>
            </a:pPr>
            <a:r>
              <a:rPr lang="en-IN" dirty="0" smtClean="0"/>
              <a:t>Time varying volatility </a:t>
            </a:r>
          </a:p>
          <a:p>
            <a:pPr>
              <a:buNone/>
            </a:pPr>
            <a:r>
              <a:rPr lang="en-IN" dirty="0" smtClean="0"/>
              <a:t>	</a:t>
            </a:r>
            <a:r>
              <a:rPr lang="en-IN" sz="2800" dirty="0" smtClean="0"/>
              <a:t>Plot of residuals (variance) – constant  over  time   </a:t>
            </a:r>
          </a:p>
          <a:p>
            <a:pPr>
              <a:buNone/>
            </a:pPr>
            <a:r>
              <a:rPr lang="en-IN" sz="2800" dirty="0" smtClean="0"/>
              <a:t>	 Yes -  </a:t>
            </a:r>
            <a:r>
              <a:rPr lang="en-IN" sz="2800" dirty="0" err="1" smtClean="0"/>
              <a:t>Homoscedasticity</a:t>
            </a:r>
            <a:r>
              <a:rPr lang="en-IN" sz="2800" dirty="0" smtClean="0"/>
              <a:t> </a:t>
            </a:r>
          </a:p>
          <a:p>
            <a:pPr>
              <a:buNone/>
            </a:pPr>
            <a:r>
              <a:rPr lang="en-IN" sz="2800" dirty="0" smtClean="0"/>
              <a:t>		No  -  </a:t>
            </a:r>
            <a:r>
              <a:rPr lang="en-IN" sz="2800" dirty="0" err="1" smtClean="0"/>
              <a:t>Heteroscedasticity</a:t>
            </a:r>
            <a:endParaRPr lang="en-IN" sz="2800" dirty="0" smtClean="0"/>
          </a:p>
          <a:p>
            <a:endParaRPr lang="en-IN"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Robert Engle  </a:t>
            </a:r>
            <a:endParaRPr lang="en-IN" dirty="0"/>
          </a:p>
        </p:txBody>
      </p:sp>
      <p:sp>
        <p:nvSpPr>
          <p:cNvPr id="3" name="Content Placeholder 2"/>
          <p:cNvSpPr>
            <a:spLocks noGrp="1"/>
          </p:cNvSpPr>
          <p:nvPr>
            <p:ph idx="1"/>
          </p:nvPr>
        </p:nvSpPr>
        <p:spPr/>
        <p:txBody>
          <a:bodyPr>
            <a:normAutofit fontScale="92500" lnSpcReduction="20000"/>
          </a:bodyPr>
          <a:lstStyle/>
          <a:p>
            <a:r>
              <a:rPr lang="en-IN" dirty="0" smtClean="0"/>
              <a:t>Mean Equation : </a:t>
            </a:r>
            <a:r>
              <a:rPr lang="en-IN" dirty="0" err="1" smtClean="0"/>
              <a:t>Y</a:t>
            </a:r>
            <a:r>
              <a:rPr lang="en-IN" baseline="-25000" dirty="0" err="1" smtClean="0"/>
              <a:t>t</a:t>
            </a:r>
            <a:r>
              <a:rPr lang="en-IN" dirty="0" smtClean="0"/>
              <a:t>=</a:t>
            </a:r>
            <a:r>
              <a:rPr lang="en-IN" dirty="0" err="1" smtClean="0"/>
              <a:t>C+BX</a:t>
            </a:r>
            <a:r>
              <a:rPr lang="en-IN" baseline="-25000" dirty="0" err="1" smtClean="0"/>
              <a:t>t</a:t>
            </a:r>
            <a:r>
              <a:rPr lang="en-IN" dirty="0" err="1" smtClean="0"/>
              <a:t>+e</a:t>
            </a:r>
            <a:r>
              <a:rPr lang="en-IN" baseline="-25000" dirty="0" err="1" smtClean="0"/>
              <a:t>t</a:t>
            </a:r>
            <a:r>
              <a:rPr lang="en-IN" baseline="-25000" dirty="0" smtClean="0"/>
              <a:t> </a:t>
            </a:r>
            <a:endParaRPr lang="en-IN" dirty="0" smtClean="0"/>
          </a:p>
          <a:p>
            <a:pPr>
              <a:buNone/>
            </a:pPr>
            <a:r>
              <a:rPr lang="en-IN" dirty="0" smtClean="0"/>
              <a:t>		 </a:t>
            </a:r>
            <a:r>
              <a:rPr lang="en-IN" sz="2800" dirty="0" smtClean="0"/>
              <a:t>e</a:t>
            </a:r>
            <a:r>
              <a:rPr lang="en-IN" sz="2800" baseline="-25000" dirty="0" smtClean="0"/>
              <a:t>t</a:t>
            </a:r>
            <a:r>
              <a:rPr lang="en-IN" sz="2800" dirty="0" smtClean="0"/>
              <a:t> = N(0,h</a:t>
            </a:r>
            <a:r>
              <a:rPr lang="en-IN" sz="2800" baseline="-25000" dirty="0" smtClean="0"/>
              <a:t>t</a:t>
            </a:r>
            <a:r>
              <a:rPr lang="en-IN" sz="2800" baseline="30000" dirty="0" smtClean="0"/>
              <a:t>2</a:t>
            </a:r>
            <a:r>
              <a:rPr lang="en-IN" sz="2800" dirty="0" smtClean="0"/>
              <a:t>)</a:t>
            </a:r>
          </a:p>
          <a:p>
            <a:pPr>
              <a:buNone/>
            </a:pPr>
            <a:r>
              <a:rPr lang="en-IN" sz="2800" dirty="0" smtClean="0"/>
              <a:t>			 	error is normally distributed with mean  0 and 				variance ht</a:t>
            </a:r>
            <a:r>
              <a:rPr lang="en-IN" sz="2800" baseline="30000" dirty="0" smtClean="0"/>
              <a:t>2</a:t>
            </a:r>
            <a:endParaRPr lang="en-IN" sz="2800" dirty="0" smtClean="0"/>
          </a:p>
          <a:p>
            <a:pPr lvl="1">
              <a:buNone/>
            </a:pPr>
            <a:r>
              <a:rPr lang="en-IN" dirty="0" smtClean="0"/>
              <a:t>h</a:t>
            </a:r>
            <a:r>
              <a:rPr lang="en-IN" baseline="30000" dirty="0" smtClean="0"/>
              <a:t>2</a:t>
            </a:r>
            <a:r>
              <a:rPr lang="en-IN" baseline="-25000" dirty="0" smtClean="0"/>
              <a:t>t</a:t>
            </a:r>
            <a:r>
              <a:rPr lang="en-IN" dirty="0" smtClean="0"/>
              <a:t> = ∝</a:t>
            </a:r>
            <a:r>
              <a:rPr lang="en-IN" baseline="-25000" dirty="0" smtClean="0"/>
              <a:t>0</a:t>
            </a:r>
            <a:r>
              <a:rPr lang="en-IN" dirty="0" smtClean="0"/>
              <a:t>+∝</a:t>
            </a:r>
            <a:r>
              <a:rPr lang="en-IN" baseline="-25000" dirty="0" smtClean="0"/>
              <a:t>1</a:t>
            </a:r>
            <a:r>
              <a:rPr lang="en-IN" dirty="0" smtClean="0"/>
              <a:t>e</a:t>
            </a:r>
            <a:r>
              <a:rPr lang="en-IN" baseline="-25000" dirty="0" smtClean="0"/>
              <a:t>t-1</a:t>
            </a:r>
            <a:r>
              <a:rPr lang="en-IN" baseline="30000" dirty="0" smtClean="0"/>
              <a:t>2</a:t>
            </a:r>
            <a:endParaRPr lang="en-IN" dirty="0" smtClean="0"/>
          </a:p>
          <a:p>
            <a:pPr lvl="2"/>
            <a:r>
              <a:rPr lang="en-IN" dirty="0" smtClean="0"/>
              <a:t>Variance at time t-depends on the squared error term at time t-1</a:t>
            </a:r>
          </a:p>
          <a:p>
            <a:r>
              <a:rPr lang="en-IN" dirty="0" smtClean="0"/>
              <a:t>h</a:t>
            </a:r>
            <a:r>
              <a:rPr lang="en-IN" baseline="-25000" dirty="0" smtClean="0"/>
              <a:t>t</a:t>
            </a:r>
            <a:r>
              <a:rPr lang="en-IN" baseline="30000" dirty="0" smtClean="0"/>
              <a:t>2 </a:t>
            </a:r>
            <a:r>
              <a:rPr lang="en-IN" dirty="0" smtClean="0"/>
              <a:t>=∝</a:t>
            </a:r>
            <a:r>
              <a:rPr lang="en-IN" baseline="-25000" dirty="0" smtClean="0"/>
              <a:t>0</a:t>
            </a:r>
            <a:r>
              <a:rPr lang="en-IN" dirty="0" smtClean="0"/>
              <a:t>+∝</a:t>
            </a:r>
            <a:r>
              <a:rPr lang="en-IN" baseline="-25000" dirty="0" smtClean="0"/>
              <a:t>1</a:t>
            </a:r>
            <a:r>
              <a:rPr lang="en-IN" dirty="0" smtClean="0"/>
              <a:t>e</a:t>
            </a:r>
            <a:r>
              <a:rPr lang="en-IN" baseline="-25000" dirty="0" smtClean="0"/>
              <a:t>t-1</a:t>
            </a:r>
            <a:r>
              <a:rPr lang="en-IN" baseline="30000" dirty="0" smtClean="0"/>
              <a:t>2</a:t>
            </a:r>
            <a:r>
              <a:rPr lang="en-IN" dirty="0" smtClean="0"/>
              <a:t>+∝</a:t>
            </a:r>
            <a:r>
              <a:rPr lang="en-IN" baseline="-25000" dirty="0" smtClean="0"/>
              <a:t>2</a:t>
            </a:r>
            <a:r>
              <a:rPr lang="en-IN" dirty="0" smtClean="0"/>
              <a:t>e</a:t>
            </a:r>
            <a:r>
              <a:rPr lang="en-IN" baseline="-25000" dirty="0" smtClean="0"/>
              <a:t>t-2</a:t>
            </a:r>
            <a:r>
              <a:rPr lang="en-IN" baseline="30000" dirty="0" smtClean="0"/>
              <a:t>2</a:t>
            </a:r>
            <a:r>
              <a:rPr lang="en-IN" dirty="0" smtClean="0"/>
              <a:t>+∝</a:t>
            </a:r>
            <a:r>
              <a:rPr lang="en-IN" baseline="-25000" dirty="0" smtClean="0"/>
              <a:t>3</a:t>
            </a:r>
            <a:r>
              <a:rPr lang="en-IN" dirty="0" smtClean="0"/>
              <a:t>e</a:t>
            </a:r>
            <a:r>
              <a:rPr lang="en-IN" baseline="-25000" dirty="0" smtClean="0"/>
              <a:t>t-3</a:t>
            </a:r>
            <a:r>
              <a:rPr lang="en-IN" baseline="30000" dirty="0" smtClean="0"/>
              <a:t>2</a:t>
            </a:r>
            <a:r>
              <a:rPr lang="en-IN" dirty="0" smtClean="0"/>
              <a:t>+--------∝</a:t>
            </a:r>
            <a:r>
              <a:rPr lang="en-IN" baseline="-25000" dirty="0" smtClean="0"/>
              <a:t>p</a:t>
            </a:r>
            <a:r>
              <a:rPr lang="en-IN" dirty="0" smtClean="0"/>
              <a:t>e</a:t>
            </a:r>
            <a:r>
              <a:rPr lang="en-IN" baseline="-25000" dirty="0" smtClean="0"/>
              <a:t>t-q</a:t>
            </a:r>
            <a:r>
              <a:rPr lang="en-IN" baseline="30000" dirty="0" smtClean="0"/>
              <a:t>2</a:t>
            </a:r>
            <a:endParaRPr lang="en-IN" dirty="0" smtClean="0"/>
          </a:p>
          <a:p>
            <a:pPr marL="342900" lvl="1" indent="-342900">
              <a:buNone/>
            </a:pPr>
            <a:endParaRPr lang="en-IN" dirty="0" smtClean="0"/>
          </a:p>
          <a:p>
            <a:pPr marL="342900" lvl="1" indent="-342900">
              <a:buNone/>
            </a:pPr>
            <a:r>
              <a:rPr lang="en-IN" dirty="0" err="1" smtClean="0"/>
              <a:t>Bollerslev</a:t>
            </a:r>
            <a:r>
              <a:rPr lang="en-IN" dirty="0" smtClean="0"/>
              <a:t> 1987</a:t>
            </a:r>
          </a:p>
          <a:p>
            <a:pPr marL="342900" lvl="1" indent="-342900">
              <a:buFont typeface="Arial"/>
              <a:buChar char="•"/>
            </a:pPr>
            <a:r>
              <a:rPr lang="en-IN" dirty="0" smtClean="0"/>
              <a:t>h</a:t>
            </a:r>
            <a:r>
              <a:rPr lang="en-IN" baseline="30000" dirty="0" smtClean="0"/>
              <a:t>2</a:t>
            </a:r>
            <a:r>
              <a:rPr lang="en-IN" baseline="-25000" dirty="0" smtClean="0"/>
              <a:t>t</a:t>
            </a:r>
            <a:r>
              <a:rPr lang="en-IN" dirty="0" smtClean="0"/>
              <a:t> = ∝</a:t>
            </a:r>
            <a:r>
              <a:rPr lang="en-IN" baseline="-25000" dirty="0" smtClean="0"/>
              <a:t>0</a:t>
            </a:r>
            <a:r>
              <a:rPr lang="en-IN" dirty="0" smtClean="0"/>
              <a:t>+∝</a:t>
            </a:r>
            <a:r>
              <a:rPr lang="en-IN" baseline="-25000" dirty="0" smtClean="0"/>
              <a:t>1</a:t>
            </a:r>
            <a:r>
              <a:rPr lang="en-IN" dirty="0" smtClean="0"/>
              <a:t>e</a:t>
            </a:r>
            <a:r>
              <a:rPr lang="en-IN" baseline="-25000" dirty="0" smtClean="0"/>
              <a:t>t-1</a:t>
            </a:r>
            <a:r>
              <a:rPr lang="en-IN" baseline="30000" dirty="0" smtClean="0"/>
              <a:t>2</a:t>
            </a:r>
            <a:r>
              <a:rPr lang="en-IN" dirty="0" smtClean="0"/>
              <a:t> +∝</a:t>
            </a:r>
            <a:r>
              <a:rPr lang="en-IN" baseline="-25000" dirty="0" smtClean="0"/>
              <a:t>2</a:t>
            </a:r>
            <a:r>
              <a:rPr lang="en-IN" dirty="0" smtClean="0"/>
              <a:t>h</a:t>
            </a:r>
            <a:r>
              <a:rPr lang="en-IN" baseline="-25000" dirty="0" smtClean="0"/>
              <a:t>t-1</a:t>
            </a:r>
            <a:r>
              <a:rPr lang="en-IN" baseline="30000" dirty="0" smtClean="0"/>
              <a:t>2</a:t>
            </a:r>
            <a:endParaRPr lang="en-IN" dirty="0" smtClean="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Robert Engle  </a:t>
            </a:r>
            <a:endParaRPr lang="en-IN" dirty="0"/>
          </a:p>
        </p:txBody>
      </p:sp>
      <p:sp>
        <p:nvSpPr>
          <p:cNvPr id="3" name="Content Placeholder 2"/>
          <p:cNvSpPr>
            <a:spLocks noGrp="1"/>
          </p:cNvSpPr>
          <p:nvPr>
            <p:ph idx="1"/>
          </p:nvPr>
        </p:nvSpPr>
        <p:spPr/>
        <p:txBody>
          <a:bodyPr>
            <a:normAutofit fontScale="92500" lnSpcReduction="20000"/>
          </a:bodyPr>
          <a:lstStyle/>
          <a:p>
            <a:r>
              <a:rPr lang="en-IN" dirty="0" smtClean="0"/>
              <a:t>Mean Equation : </a:t>
            </a:r>
            <a:r>
              <a:rPr lang="en-IN" dirty="0" err="1" smtClean="0"/>
              <a:t>Y</a:t>
            </a:r>
            <a:r>
              <a:rPr lang="en-IN" baseline="-25000" dirty="0" err="1" smtClean="0"/>
              <a:t>t</a:t>
            </a:r>
            <a:r>
              <a:rPr lang="en-IN" dirty="0" smtClean="0"/>
              <a:t>=</a:t>
            </a:r>
            <a:r>
              <a:rPr lang="en-IN" dirty="0" err="1" smtClean="0"/>
              <a:t>C+BX</a:t>
            </a:r>
            <a:r>
              <a:rPr lang="en-IN" baseline="-25000" dirty="0" err="1" smtClean="0"/>
              <a:t>t</a:t>
            </a:r>
            <a:r>
              <a:rPr lang="en-IN" dirty="0" err="1" smtClean="0"/>
              <a:t>+e</a:t>
            </a:r>
            <a:r>
              <a:rPr lang="en-IN" baseline="-25000" dirty="0" err="1" smtClean="0"/>
              <a:t>t</a:t>
            </a:r>
            <a:r>
              <a:rPr lang="en-IN" baseline="-25000" dirty="0" smtClean="0"/>
              <a:t> </a:t>
            </a:r>
            <a:endParaRPr lang="en-IN" dirty="0" smtClean="0"/>
          </a:p>
          <a:p>
            <a:pPr>
              <a:buNone/>
            </a:pPr>
            <a:r>
              <a:rPr lang="en-IN" dirty="0" smtClean="0"/>
              <a:t>		 </a:t>
            </a:r>
            <a:r>
              <a:rPr lang="en-IN" sz="2800" dirty="0" smtClean="0"/>
              <a:t>e</a:t>
            </a:r>
            <a:r>
              <a:rPr lang="en-IN" sz="2800" baseline="-25000" dirty="0" smtClean="0"/>
              <a:t>t</a:t>
            </a:r>
            <a:r>
              <a:rPr lang="en-IN" sz="2800" dirty="0" smtClean="0"/>
              <a:t> = N(0,h</a:t>
            </a:r>
            <a:r>
              <a:rPr lang="en-IN" sz="2800" baseline="-25000" dirty="0" smtClean="0"/>
              <a:t>t</a:t>
            </a:r>
            <a:r>
              <a:rPr lang="en-IN" sz="2800" baseline="30000" dirty="0" smtClean="0"/>
              <a:t>2</a:t>
            </a:r>
            <a:r>
              <a:rPr lang="en-IN" sz="2800" dirty="0" smtClean="0"/>
              <a:t>)</a:t>
            </a:r>
          </a:p>
          <a:p>
            <a:pPr>
              <a:buNone/>
            </a:pPr>
            <a:r>
              <a:rPr lang="en-IN" sz="2800" dirty="0" smtClean="0"/>
              <a:t>			 	error is normally distributed with mean  0 and 				variance ht</a:t>
            </a:r>
            <a:r>
              <a:rPr lang="en-IN" sz="2800" baseline="30000" dirty="0" smtClean="0"/>
              <a:t>2</a:t>
            </a:r>
            <a:endParaRPr lang="en-IN" sz="2800" dirty="0" smtClean="0"/>
          </a:p>
          <a:p>
            <a:pPr lvl="1">
              <a:buNone/>
            </a:pPr>
            <a:r>
              <a:rPr lang="en-IN" dirty="0" smtClean="0"/>
              <a:t>h</a:t>
            </a:r>
            <a:r>
              <a:rPr lang="en-IN" baseline="30000" dirty="0" smtClean="0"/>
              <a:t>2</a:t>
            </a:r>
            <a:r>
              <a:rPr lang="en-IN" baseline="-25000" dirty="0" smtClean="0"/>
              <a:t>t</a:t>
            </a:r>
            <a:r>
              <a:rPr lang="en-IN" dirty="0" smtClean="0"/>
              <a:t> = ∝</a:t>
            </a:r>
            <a:r>
              <a:rPr lang="en-IN" baseline="-25000" dirty="0" smtClean="0"/>
              <a:t>0</a:t>
            </a:r>
            <a:r>
              <a:rPr lang="en-IN" dirty="0" smtClean="0"/>
              <a:t>+∝</a:t>
            </a:r>
            <a:r>
              <a:rPr lang="en-IN" baseline="-25000" dirty="0" smtClean="0"/>
              <a:t>1</a:t>
            </a:r>
            <a:r>
              <a:rPr lang="en-IN" dirty="0" smtClean="0"/>
              <a:t>e</a:t>
            </a:r>
            <a:r>
              <a:rPr lang="en-IN" baseline="-25000" dirty="0" smtClean="0"/>
              <a:t>t-1</a:t>
            </a:r>
            <a:r>
              <a:rPr lang="en-IN" baseline="30000" dirty="0" smtClean="0"/>
              <a:t>2  </a:t>
            </a:r>
            <a:r>
              <a:rPr lang="en-IN" dirty="0" smtClean="0"/>
              <a:t>             				  </a:t>
            </a:r>
            <a:r>
              <a:rPr lang="en-IN" dirty="0" smtClean="0">
                <a:solidFill>
                  <a:srgbClr val="C00000"/>
                </a:solidFill>
              </a:rPr>
              <a:t>ARCH (q) </a:t>
            </a:r>
          </a:p>
          <a:p>
            <a:pPr lvl="2"/>
            <a:r>
              <a:rPr lang="en-IN" dirty="0" smtClean="0"/>
              <a:t>Variance at time t-depends on the squared error term at time t-1</a:t>
            </a:r>
          </a:p>
          <a:p>
            <a:r>
              <a:rPr lang="en-IN" dirty="0" smtClean="0"/>
              <a:t>h</a:t>
            </a:r>
            <a:r>
              <a:rPr lang="en-IN" baseline="-25000" dirty="0" smtClean="0"/>
              <a:t>t</a:t>
            </a:r>
            <a:r>
              <a:rPr lang="en-IN" baseline="30000" dirty="0" smtClean="0"/>
              <a:t>2 </a:t>
            </a:r>
            <a:r>
              <a:rPr lang="en-IN" dirty="0" smtClean="0"/>
              <a:t>=∝</a:t>
            </a:r>
            <a:r>
              <a:rPr lang="en-IN" baseline="-25000" dirty="0" smtClean="0"/>
              <a:t>0</a:t>
            </a:r>
            <a:r>
              <a:rPr lang="en-IN" dirty="0" smtClean="0"/>
              <a:t>+∝</a:t>
            </a:r>
            <a:r>
              <a:rPr lang="en-IN" baseline="-25000" dirty="0" smtClean="0"/>
              <a:t>1</a:t>
            </a:r>
            <a:r>
              <a:rPr lang="en-IN" dirty="0" smtClean="0"/>
              <a:t>e</a:t>
            </a:r>
            <a:r>
              <a:rPr lang="en-IN" baseline="-25000" dirty="0" smtClean="0"/>
              <a:t>t-1</a:t>
            </a:r>
            <a:r>
              <a:rPr lang="en-IN" baseline="30000" dirty="0" smtClean="0"/>
              <a:t>2</a:t>
            </a:r>
            <a:r>
              <a:rPr lang="en-IN" dirty="0" smtClean="0"/>
              <a:t>+∝</a:t>
            </a:r>
            <a:r>
              <a:rPr lang="en-IN" baseline="-25000" dirty="0" smtClean="0"/>
              <a:t>2</a:t>
            </a:r>
            <a:r>
              <a:rPr lang="en-IN" dirty="0" smtClean="0"/>
              <a:t>e</a:t>
            </a:r>
            <a:r>
              <a:rPr lang="en-IN" baseline="-25000" dirty="0" smtClean="0"/>
              <a:t>t-2</a:t>
            </a:r>
            <a:r>
              <a:rPr lang="en-IN" baseline="30000" dirty="0" smtClean="0"/>
              <a:t>2</a:t>
            </a:r>
            <a:r>
              <a:rPr lang="en-IN" dirty="0" smtClean="0"/>
              <a:t>+∝</a:t>
            </a:r>
            <a:r>
              <a:rPr lang="en-IN" baseline="-25000" dirty="0" smtClean="0"/>
              <a:t>3</a:t>
            </a:r>
            <a:r>
              <a:rPr lang="en-IN" dirty="0" smtClean="0"/>
              <a:t>e</a:t>
            </a:r>
            <a:r>
              <a:rPr lang="en-IN" baseline="-25000" dirty="0" smtClean="0"/>
              <a:t>t-3</a:t>
            </a:r>
            <a:r>
              <a:rPr lang="en-IN" baseline="30000" dirty="0" smtClean="0"/>
              <a:t>2</a:t>
            </a:r>
            <a:r>
              <a:rPr lang="en-IN" dirty="0" smtClean="0"/>
              <a:t>+--------∝</a:t>
            </a:r>
            <a:r>
              <a:rPr lang="en-IN" baseline="-25000" dirty="0" smtClean="0"/>
              <a:t>p</a:t>
            </a:r>
            <a:r>
              <a:rPr lang="en-IN" dirty="0" smtClean="0"/>
              <a:t>e</a:t>
            </a:r>
            <a:r>
              <a:rPr lang="en-IN" baseline="-25000" dirty="0" smtClean="0"/>
              <a:t>t-q</a:t>
            </a:r>
            <a:r>
              <a:rPr lang="en-IN" baseline="30000" dirty="0" smtClean="0"/>
              <a:t>2</a:t>
            </a:r>
            <a:endParaRPr lang="en-IN" dirty="0" smtClean="0"/>
          </a:p>
          <a:p>
            <a:pPr marL="342900" lvl="1" indent="-342900">
              <a:buNone/>
            </a:pPr>
            <a:endParaRPr lang="en-IN" dirty="0" smtClean="0"/>
          </a:p>
          <a:p>
            <a:pPr marL="342900" lvl="1" indent="-342900">
              <a:buNone/>
            </a:pPr>
            <a:r>
              <a:rPr lang="en-IN" dirty="0" err="1" smtClean="0"/>
              <a:t>Bollerslev</a:t>
            </a:r>
            <a:r>
              <a:rPr lang="en-IN" dirty="0" smtClean="0"/>
              <a:t> (1987)</a:t>
            </a:r>
          </a:p>
          <a:p>
            <a:pPr marL="342900" lvl="1" indent="-342900">
              <a:buFont typeface="Arial"/>
              <a:buChar char="•"/>
            </a:pPr>
            <a:r>
              <a:rPr lang="en-IN" dirty="0" smtClean="0"/>
              <a:t>h</a:t>
            </a:r>
            <a:r>
              <a:rPr lang="en-IN" baseline="30000" dirty="0" smtClean="0"/>
              <a:t>2</a:t>
            </a:r>
            <a:r>
              <a:rPr lang="en-IN" baseline="-25000" dirty="0" smtClean="0"/>
              <a:t>t</a:t>
            </a:r>
            <a:r>
              <a:rPr lang="en-IN" dirty="0" smtClean="0"/>
              <a:t> = ∝</a:t>
            </a:r>
            <a:r>
              <a:rPr lang="en-IN" baseline="-25000" dirty="0" smtClean="0"/>
              <a:t>0</a:t>
            </a:r>
            <a:r>
              <a:rPr lang="en-IN" dirty="0" smtClean="0"/>
              <a:t>+∝</a:t>
            </a:r>
            <a:r>
              <a:rPr lang="en-IN" baseline="-25000" dirty="0" smtClean="0"/>
              <a:t>1</a:t>
            </a:r>
            <a:r>
              <a:rPr lang="en-IN" dirty="0" smtClean="0"/>
              <a:t>e</a:t>
            </a:r>
            <a:r>
              <a:rPr lang="en-IN" baseline="-25000" dirty="0" smtClean="0"/>
              <a:t>t-1</a:t>
            </a:r>
            <a:r>
              <a:rPr lang="en-IN" baseline="30000" dirty="0" smtClean="0"/>
              <a:t>2</a:t>
            </a:r>
            <a:r>
              <a:rPr lang="en-IN" dirty="0" smtClean="0"/>
              <a:t> +∝</a:t>
            </a:r>
            <a:r>
              <a:rPr lang="en-IN" baseline="-25000" dirty="0" smtClean="0"/>
              <a:t>2</a:t>
            </a:r>
            <a:r>
              <a:rPr lang="en-IN" dirty="0" smtClean="0"/>
              <a:t>h</a:t>
            </a:r>
            <a:r>
              <a:rPr lang="en-IN" baseline="-25000" dirty="0" smtClean="0"/>
              <a:t>t-1</a:t>
            </a:r>
            <a:r>
              <a:rPr lang="en-IN" baseline="30000" dirty="0" smtClean="0"/>
              <a:t>2                                                 </a:t>
            </a:r>
            <a:r>
              <a:rPr lang="en-IN" dirty="0" smtClean="0"/>
              <a:t> </a:t>
            </a:r>
            <a:r>
              <a:rPr lang="en-IN" dirty="0" smtClean="0">
                <a:solidFill>
                  <a:srgbClr val="C00000"/>
                </a:solidFill>
              </a:rPr>
              <a:t>GARCH(P,Q)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Clive Granger (2003 – Nobel Prize )</a:t>
            </a:r>
            <a:br>
              <a:rPr lang="en-IN" dirty="0" smtClean="0"/>
            </a:br>
            <a:endParaRPr lang="en-IN" dirty="0"/>
          </a:p>
        </p:txBody>
      </p:sp>
      <p:sp>
        <p:nvSpPr>
          <p:cNvPr id="3" name="Content Placeholder 2"/>
          <p:cNvSpPr>
            <a:spLocks noGrp="1"/>
          </p:cNvSpPr>
          <p:nvPr>
            <p:ph idx="1"/>
          </p:nvPr>
        </p:nvSpPr>
        <p:spPr/>
        <p:txBody>
          <a:bodyPr/>
          <a:lstStyle/>
          <a:p>
            <a:pPr lvl="1"/>
            <a:r>
              <a:rPr lang="en-IN" dirty="0" smtClean="0"/>
              <a:t>for methods of analyzing economic time series with common trends (cointegration)</a:t>
            </a:r>
          </a:p>
          <a:p>
            <a:endParaRPr lang="en-IN"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762001"/>
            <a:ext cx="7772400" cy="838199"/>
          </a:xfrm>
        </p:spPr>
        <p:txBody>
          <a:bodyPr>
            <a:normAutofit/>
          </a:bodyPr>
          <a:lstStyle/>
          <a:p>
            <a:r>
              <a:rPr lang="en-US" sz="3200" b="1" u="sng" dirty="0" smtClean="0">
                <a:latin typeface="Times New Roman" pitchFamily="18" charset="0"/>
                <a:cs typeface="Times New Roman" pitchFamily="18" charset="0"/>
              </a:rPr>
              <a:t>Cointegration</a:t>
            </a:r>
            <a:endParaRPr lang="en-US" sz="3200" b="1" u="sng" dirty="0">
              <a:latin typeface="Times New Roman" pitchFamily="18" charset="0"/>
              <a:cs typeface="Times New Roman" pitchFamily="18" charset="0"/>
            </a:endParaRPr>
          </a:p>
        </p:txBody>
      </p:sp>
      <p:sp>
        <p:nvSpPr>
          <p:cNvPr id="3" name="Subtitle 2"/>
          <p:cNvSpPr>
            <a:spLocks noGrp="1"/>
          </p:cNvSpPr>
          <p:nvPr>
            <p:ph type="subTitle" idx="1"/>
          </p:nvPr>
        </p:nvSpPr>
        <p:spPr>
          <a:xfrm>
            <a:off x="685800" y="1676400"/>
            <a:ext cx="7620000" cy="4038600"/>
          </a:xfrm>
        </p:spPr>
        <p:txBody>
          <a:bodyPr>
            <a:normAutofit/>
          </a:bodyPr>
          <a:lstStyle/>
          <a:p>
            <a:pPr algn="just">
              <a:buFont typeface="Arial" pitchFamily="34" charset="0"/>
              <a:buChar char="•"/>
              <a:defRPr/>
            </a:pPr>
            <a:r>
              <a:rPr lang="en-US" sz="2400" dirty="0" smtClean="0">
                <a:solidFill>
                  <a:schemeClr val="tx1"/>
                </a:solidFill>
                <a:latin typeface="Times New Roman" pitchFamily="18" charset="0"/>
                <a:cs typeface="Times New Roman" pitchFamily="18" charset="0"/>
              </a:rPr>
              <a:t>Is </a:t>
            </a:r>
            <a:r>
              <a:rPr lang="en-US" sz="2400" dirty="0">
                <a:solidFill>
                  <a:schemeClr val="tx1"/>
                </a:solidFill>
                <a:latin typeface="Times New Roman" pitchFamily="18" charset="0"/>
                <a:cs typeface="Times New Roman" pitchFamily="18" charset="0"/>
              </a:rPr>
              <a:t>the existence of a </a:t>
            </a:r>
            <a:r>
              <a:rPr lang="en-US" sz="2400" b="1" dirty="0">
                <a:solidFill>
                  <a:schemeClr val="tx1"/>
                </a:solidFill>
                <a:latin typeface="Times New Roman" pitchFamily="18" charset="0"/>
                <a:cs typeface="Times New Roman" pitchFamily="18" charset="0"/>
              </a:rPr>
              <a:t>long run equilibrium relationship </a:t>
            </a:r>
            <a:r>
              <a:rPr lang="en-US" sz="2400" dirty="0">
                <a:solidFill>
                  <a:schemeClr val="tx1"/>
                </a:solidFill>
                <a:latin typeface="Times New Roman" pitchFamily="18" charset="0"/>
                <a:cs typeface="Times New Roman" pitchFamily="18" charset="0"/>
              </a:rPr>
              <a:t>among time series </a:t>
            </a:r>
            <a:r>
              <a:rPr lang="en-US" sz="2400" dirty="0" smtClean="0">
                <a:solidFill>
                  <a:schemeClr val="tx1"/>
                </a:solidFill>
                <a:latin typeface="Times New Roman" pitchFamily="18" charset="0"/>
                <a:cs typeface="Times New Roman" pitchFamily="18" charset="0"/>
              </a:rPr>
              <a:t>variables.</a:t>
            </a:r>
            <a:endParaRPr lang="en-US" sz="2400" dirty="0">
              <a:solidFill>
                <a:schemeClr val="tx1"/>
              </a:solidFill>
              <a:latin typeface="Times New Roman" pitchFamily="18" charset="0"/>
              <a:cs typeface="Times New Roman" pitchFamily="18" charset="0"/>
            </a:endParaRPr>
          </a:p>
          <a:p>
            <a:pPr algn="just">
              <a:buFont typeface="Arial" pitchFamily="34" charset="0"/>
              <a:buChar char="•"/>
              <a:defRPr/>
            </a:pPr>
            <a:r>
              <a:rPr lang="en-US" sz="2400" dirty="0">
                <a:solidFill>
                  <a:schemeClr val="tx1"/>
                </a:solidFill>
                <a:latin typeface="Times New Roman" pitchFamily="18" charset="0"/>
                <a:cs typeface="Times New Roman" pitchFamily="18" charset="0"/>
              </a:rPr>
              <a:t>Is a property of two or more variables moving together through time, and despite following their own individual trends will not drift too far </a:t>
            </a:r>
            <a:r>
              <a:rPr lang="en-US" sz="2400" dirty="0" smtClean="0">
                <a:solidFill>
                  <a:schemeClr val="tx1"/>
                </a:solidFill>
                <a:latin typeface="Times New Roman" pitchFamily="18" charset="0"/>
                <a:cs typeface="Times New Roman" pitchFamily="18" charset="0"/>
              </a:rPr>
              <a:t>apart from the </a:t>
            </a:r>
            <a:r>
              <a:rPr lang="en-US" sz="2400" dirty="0" err="1" smtClean="0">
                <a:solidFill>
                  <a:schemeClr val="tx1"/>
                </a:solidFill>
                <a:latin typeface="Times New Roman" pitchFamily="18" charset="0"/>
                <a:cs typeface="Times New Roman" pitchFamily="18" charset="0"/>
              </a:rPr>
              <a:t>equilibriium</a:t>
            </a:r>
            <a:r>
              <a:rPr lang="en-US" sz="2400" dirty="0" smtClean="0">
                <a:solidFill>
                  <a:schemeClr val="tx1"/>
                </a:solidFill>
                <a:latin typeface="Times New Roman" pitchFamily="18" charset="0"/>
                <a:cs typeface="Times New Roman" pitchFamily="18" charset="0"/>
              </a:rPr>
              <a:t> since </a:t>
            </a:r>
            <a:r>
              <a:rPr lang="en-US" sz="2400" dirty="0">
                <a:solidFill>
                  <a:schemeClr val="tx1"/>
                </a:solidFill>
                <a:latin typeface="Times New Roman" pitchFamily="18" charset="0"/>
                <a:cs typeface="Times New Roman" pitchFamily="18" charset="0"/>
              </a:rPr>
              <a:t>they are linked together in some sense</a:t>
            </a:r>
          </a:p>
          <a:p>
            <a:pPr algn="just">
              <a:defRPr/>
            </a:pPr>
            <a:endParaRPr lang="en-US" sz="2400" dirty="0">
              <a:solidFill>
                <a:schemeClr val="tx1"/>
              </a:solidFill>
              <a:latin typeface="Times New Roman" pitchFamily="18" charset="0"/>
              <a:cs typeface="Times New Roman" pitchFamily="18" charset="0"/>
            </a:endParaRPr>
          </a:p>
          <a:p>
            <a:pPr algn="just"/>
            <a:endParaRPr lang="en-US" sz="24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2457075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7"/>
          <p:cNvGrpSpPr>
            <a:grpSpLocks noChangeAspect="1"/>
          </p:cNvGrpSpPr>
          <p:nvPr/>
        </p:nvGrpSpPr>
        <p:grpSpPr bwMode="auto">
          <a:xfrm>
            <a:off x="990600" y="2057400"/>
            <a:ext cx="7086600" cy="4114800"/>
            <a:chOff x="624" y="1200"/>
            <a:chExt cx="4464" cy="2592"/>
          </a:xfrm>
        </p:grpSpPr>
        <p:sp>
          <p:nvSpPr>
            <p:cNvPr id="3" name="AutoShape 6"/>
            <p:cNvSpPr>
              <a:spLocks noChangeAspect="1" noChangeArrowheads="1" noTextEdit="1"/>
            </p:cNvSpPr>
            <p:nvPr/>
          </p:nvSpPr>
          <p:spPr bwMode="auto">
            <a:xfrm>
              <a:off x="624" y="1200"/>
              <a:ext cx="4464" cy="2592"/>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4" name="Line 8"/>
            <p:cNvSpPr>
              <a:spLocks noChangeShapeType="1"/>
            </p:cNvSpPr>
            <p:nvPr/>
          </p:nvSpPr>
          <p:spPr bwMode="auto">
            <a:xfrm flipV="1">
              <a:off x="866"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5" name="Line 9"/>
            <p:cNvSpPr>
              <a:spLocks noChangeShapeType="1"/>
            </p:cNvSpPr>
            <p:nvPr/>
          </p:nvSpPr>
          <p:spPr bwMode="auto">
            <a:xfrm flipV="1">
              <a:off x="946"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6" name="Line 10"/>
            <p:cNvSpPr>
              <a:spLocks noChangeShapeType="1"/>
            </p:cNvSpPr>
            <p:nvPr/>
          </p:nvSpPr>
          <p:spPr bwMode="auto">
            <a:xfrm flipV="1">
              <a:off x="1026"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7" name="Line 11"/>
            <p:cNvSpPr>
              <a:spLocks noChangeShapeType="1"/>
            </p:cNvSpPr>
            <p:nvPr/>
          </p:nvSpPr>
          <p:spPr bwMode="auto">
            <a:xfrm flipV="1">
              <a:off x="1106"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8" name="Line 12"/>
            <p:cNvSpPr>
              <a:spLocks noChangeShapeType="1"/>
            </p:cNvSpPr>
            <p:nvPr/>
          </p:nvSpPr>
          <p:spPr bwMode="auto">
            <a:xfrm flipV="1">
              <a:off x="1186"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9" name="Line 13"/>
            <p:cNvSpPr>
              <a:spLocks noChangeShapeType="1"/>
            </p:cNvSpPr>
            <p:nvPr/>
          </p:nvSpPr>
          <p:spPr bwMode="auto">
            <a:xfrm flipV="1">
              <a:off x="1267"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10" name="Line 14"/>
            <p:cNvSpPr>
              <a:spLocks noChangeShapeType="1"/>
            </p:cNvSpPr>
            <p:nvPr/>
          </p:nvSpPr>
          <p:spPr bwMode="auto">
            <a:xfrm flipV="1">
              <a:off x="1347"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11" name="Line 15"/>
            <p:cNvSpPr>
              <a:spLocks noChangeShapeType="1"/>
            </p:cNvSpPr>
            <p:nvPr/>
          </p:nvSpPr>
          <p:spPr bwMode="auto">
            <a:xfrm flipV="1">
              <a:off x="1427"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12" name="Line 16"/>
            <p:cNvSpPr>
              <a:spLocks noChangeShapeType="1"/>
            </p:cNvSpPr>
            <p:nvPr/>
          </p:nvSpPr>
          <p:spPr bwMode="auto">
            <a:xfrm flipV="1">
              <a:off x="1508"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13" name="Line 17"/>
            <p:cNvSpPr>
              <a:spLocks noChangeShapeType="1"/>
            </p:cNvSpPr>
            <p:nvPr/>
          </p:nvSpPr>
          <p:spPr bwMode="auto">
            <a:xfrm flipV="1">
              <a:off x="1588"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14" name="Line 18"/>
            <p:cNvSpPr>
              <a:spLocks noChangeShapeType="1"/>
            </p:cNvSpPr>
            <p:nvPr/>
          </p:nvSpPr>
          <p:spPr bwMode="auto">
            <a:xfrm flipV="1">
              <a:off x="1668"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15" name="Line 19"/>
            <p:cNvSpPr>
              <a:spLocks noChangeShapeType="1"/>
            </p:cNvSpPr>
            <p:nvPr/>
          </p:nvSpPr>
          <p:spPr bwMode="auto">
            <a:xfrm flipV="1">
              <a:off x="1748"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16" name="Line 20"/>
            <p:cNvSpPr>
              <a:spLocks noChangeShapeType="1"/>
            </p:cNvSpPr>
            <p:nvPr/>
          </p:nvSpPr>
          <p:spPr bwMode="auto">
            <a:xfrm flipV="1">
              <a:off x="1829"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17" name="Line 21"/>
            <p:cNvSpPr>
              <a:spLocks noChangeShapeType="1"/>
            </p:cNvSpPr>
            <p:nvPr/>
          </p:nvSpPr>
          <p:spPr bwMode="auto">
            <a:xfrm flipV="1">
              <a:off x="1909"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18" name="Line 22"/>
            <p:cNvSpPr>
              <a:spLocks noChangeShapeType="1"/>
            </p:cNvSpPr>
            <p:nvPr/>
          </p:nvSpPr>
          <p:spPr bwMode="auto">
            <a:xfrm flipV="1">
              <a:off x="1989"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19" name="Line 23"/>
            <p:cNvSpPr>
              <a:spLocks noChangeShapeType="1"/>
            </p:cNvSpPr>
            <p:nvPr/>
          </p:nvSpPr>
          <p:spPr bwMode="auto">
            <a:xfrm flipV="1">
              <a:off x="2069"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20" name="Line 24"/>
            <p:cNvSpPr>
              <a:spLocks noChangeShapeType="1"/>
            </p:cNvSpPr>
            <p:nvPr/>
          </p:nvSpPr>
          <p:spPr bwMode="auto">
            <a:xfrm flipV="1">
              <a:off x="2150"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21" name="Line 25"/>
            <p:cNvSpPr>
              <a:spLocks noChangeShapeType="1"/>
            </p:cNvSpPr>
            <p:nvPr/>
          </p:nvSpPr>
          <p:spPr bwMode="auto">
            <a:xfrm flipV="1">
              <a:off x="2230"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22" name="Line 26"/>
            <p:cNvSpPr>
              <a:spLocks noChangeShapeType="1"/>
            </p:cNvSpPr>
            <p:nvPr/>
          </p:nvSpPr>
          <p:spPr bwMode="auto">
            <a:xfrm flipV="1">
              <a:off x="2310"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23" name="Line 27"/>
            <p:cNvSpPr>
              <a:spLocks noChangeShapeType="1"/>
            </p:cNvSpPr>
            <p:nvPr/>
          </p:nvSpPr>
          <p:spPr bwMode="auto">
            <a:xfrm flipV="1">
              <a:off x="2390"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24" name="Line 28"/>
            <p:cNvSpPr>
              <a:spLocks noChangeShapeType="1"/>
            </p:cNvSpPr>
            <p:nvPr/>
          </p:nvSpPr>
          <p:spPr bwMode="auto">
            <a:xfrm flipV="1">
              <a:off x="2471"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25" name="Line 29"/>
            <p:cNvSpPr>
              <a:spLocks noChangeShapeType="1"/>
            </p:cNvSpPr>
            <p:nvPr/>
          </p:nvSpPr>
          <p:spPr bwMode="auto">
            <a:xfrm flipV="1">
              <a:off x="2551"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26" name="Line 30"/>
            <p:cNvSpPr>
              <a:spLocks noChangeShapeType="1"/>
            </p:cNvSpPr>
            <p:nvPr/>
          </p:nvSpPr>
          <p:spPr bwMode="auto">
            <a:xfrm flipV="1">
              <a:off x="2631"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27" name="Line 31"/>
            <p:cNvSpPr>
              <a:spLocks noChangeShapeType="1"/>
            </p:cNvSpPr>
            <p:nvPr/>
          </p:nvSpPr>
          <p:spPr bwMode="auto">
            <a:xfrm flipV="1">
              <a:off x="2712"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28" name="Line 32"/>
            <p:cNvSpPr>
              <a:spLocks noChangeShapeType="1"/>
            </p:cNvSpPr>
            <p:nvPr/>
          </p:nvSpPr>
          <p:spPr bwMode="auto">
            <a:xfrm flipV="1">
              <a:off x="2792"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29" name="Line 33"/>
            <p:cNvSpPr>
              <a:spLocks noChangeShapeType="1"/>
            </p:cNvSpPr>
            <p:nvPr/>
          </p:nvSpPr>
          <p:spPr bwMode="auto">
            <a:xfrm flipV="1">
              <a:off x="2872"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30" name="Line 34"/>
            <p:cNvSpPr>
              <a:spLocks noChangeShapeType="1"/>
            </p:cNvSpPr>
            <p:nvPr/>
          </p:nvSpPr>
          <p:spPr bwMode="auto">
            <a:xfrm flipV="1">
              <a:off x="2952"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31" name="Line 35"/>
            <p:cNvSpPr>
              <a:spLocks noChangeShapeType="1"/>
            </p:cNvSpPr>
            <p:nvPr/>
          </p:nvSpPr>
          <p:spPr bwMode="auto">
            <a:xfrm flipV="1">
              <a:off x="3032"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32" name="Line 36"/>
            <p:cNvSpPr>
              <a:spLocks noChangeShapeType="1"/>
            </p:cNvSpPr>
            <p:nvPr/>
          </p:nvSpPr>
          <p:spPr bwMode="auto">
            <a:xfrm flipV="1">
              <a:off x="3113"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33" name="Line 37"/>
            <p:cNvSpPr>
              <a:spLocks noChangeShapeType="1"/>
            </p:cNvSpPr>
            <p:nvPr/>
          </p:nvSpPr>
          <p:spPr bwMode="auto">
            <a:xfrm flipV="1">
              <a:off x="3193"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34" name="Line 38"/>
            <p:cNvSpPr>
              <a:spLocks noChangeShapeType="1"/>
            </p:cNvSpPr>
            <p:nvPr/>
          </p:nvSpPr>
          <p:spPr bwMode="auto">
            <a:xfrm flipV="1">
              <a:off x="3273"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35" name="Line 39"/>
            <p:cNvSpPr>
              <a:spLocks noChangeShapeType="1"/>
            </p:cNvSpPr>
            <p:nvPr/>
          </p:nvSpPr>
          <p:spPr bwMode="auto">
            <a:xfrm flipV="1">
              <a:off x="3354"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36" name="Line 40"/>
            <p:cNvSpPr>
              <a:spLocks noChangeShapeType="1"/>
            </p:cNvSpPr>
            <p:nvPr/>
          </p:nvSpPr>
          <p:spPr bwMode="auto">
            <a:xfrm flipV="1">
              <a:off x="3434"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37" name="Line 41"/>
            <p:cNvSpPr>
              <a:spLocks noChangeShapeType="1"/>
            </p:cNvSpPr>
            <p:nvPr/>
          </p:nvSpPr>
          <p:spPr bwMode="auto">
            <a:xfrm flipV="1">
              <a:off x="3514"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38" name="Line 42"/>
            <p:cNvSpPr>
              <a:spLocks noChangeShapeType="1"/>
            </p:cNvSpPr>
            <p:nvPr/>
          </p:nvSpPr>
          <p:spPr bwMode="auto">
            <a:xfrm flipV="1">
              <a:off x="3595"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39" name="Line 43"/>
            <p:cNvSpPr>
              <a:spLocks noChangeShapeType="1"/>
            </p:cNvSpPr>
            <p:nvPr/>
          </p:nvSpPr>
          <p:spPr bwMode="auto">
            <a:xfrm flipV="1">
              <a:off x="3675"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40" name="Line 44"/>
            <p:cNvSpPr>
              <a:spLocks noChangeShapeType="1"/>
            </p:cNvSpPr>
            <p:nvPr/>
          </p:nvSpPr>
          <p:spPr bwMode="auto">
            <a:xfrm flipV="1">
              <a:off x="3755"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41" name="Line 45"/>
            <p:cNvSpPr>
              <a:spLocks noChangeShapeType="1"/>
            </p:cNvSpPr>
            <p:nvPr/>
          </p:nvSpPr>
          <p:spPr bwMode="auto">
            <a:xfrm flipV="1">
              <a:off x="3835"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42" name="Line 46"/>
            <p:cNvSpPr>
              <a:spLocks noChangeShapeType="1"/>
            </p:cNvSpPr>
            <p:nvPr/>
          </p:nvSpPr>
          <p:spPr bwMode="auto">
            <a:xfrm flipV="1">
              <a:off x="3916"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43" name="Line 47"/>
            <p:cNvSpPr>
              <a:spLocks noChangeShapeType="1"/>
            </p:cNvSpPr>
            <p:nvPr/>
          </p:nvSpPr>
          <p:spPr bwMode="auto">
            <a:xfrm flipV="1">
              <a:off x="3996"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44" name="Line 48"/>
            <p:cNvSpPr>
              <a:spLocks noChangeShapeType="1"/>
            </p:cNvSpPr>
            <p:nvPr/>
          </p:nvSpPr>
          <p:spPr bwMode="auto">
            <a:xfrm flipV="1">
              <a:off x="4076"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45" name="Line 49"/>
            <p:cNvSpPr>
              <a:spLocks noChangeShapeType="1"/>
            </p:cNvSpPr>
            <p:nvPr/>
          </p:nvSpPr>
          <p:spPr bwMode="auto">
            <a:xfrm flipV="1">
              <a:off x="4156"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46" name="Line 50"/>
            <p:cNvSpPr>
              <a:spLocks noChangeShapeType="1"/>
            </p:cNvSpPr>
            <p:nvPr/>
          </p:nvSpPr>
          <p:spPr bwMode="auto">
            <a:xfrm flipV="1">
              <a:off x="4237"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47" name="Line 51"/>
            <p:cNvSpPr>
              <a:spLocks noChangeShapeType="1"/>
            </p:cNvSpPr>
            <p:nvPr/>
          </p:nvSpPr>
          <p:spPr bwMode="auto">
            <a:xfrm flipV="1">
              <a:off x="4317"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48" name="Line 52"/>
            <p:cNvSpPr>
              <a:spLocks noChangeShapeType="1"/>
            </p:cNvSpPr>
            <p:nvPr/>
          </p:nvSpPr>
          <p:spPr bwMode="auto">
            <a:xfrm flipV="1">
              <a:off x="4397"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49" name="Line 53"/>
            <p:cNvSpPr>
              <a:spLocks noChangeShapeType="1"/>
            </p:cNvSpPr>
            <p:nvPr/>
          </p:nvSpPr>
          <p:spPr bwMode="auto">
            <a:xfrm flipV="1">
              <a:off x="4477"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50" name="Line 54"/>
            <p:cNvSpPr>
              <a:spLocks noChangeShapeType="1"/>
            </p:cNvSpPr>
            <p:nvPr/>
          </p:nvSpPr>
          <p:spPr bwMode="auto">
            <a:xfrm flipV="1">
              <a:off x="4558"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51" name="Line 55"/>
            <p:cNvSpPr>
              <a:spLocks noChangeShapeType="1"/>
            </p:cNvSpPr>
            <p:nvPr/>
          </p:nvSpPr>
          <p:spPr bwMode="auto">
            <a:xfrm flipV="1">
              <a:off x="4638"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52" name="Line 56"/>
            <p:cNvSpPr>
              <a:spLocks noChangeShapeType="1"/>
            </p:cNvSpPr>
            <p:nvPr/>
          </p:nvSpPr>
          <p:spPr bwMode="auto">
            <a:xfrm flipV="1">
              <a:off x="4718"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53" name="Line 57"/>
            <p:cNvSpPr>
              <a:spLocks noChangeShapeType="1"/>
            </p:cNvSpPr>
            <p:nvPr/>
          </p:nvSpPr>
          <p:spPr bwMode="auto">
            <a:xfrm flipV="1">
              <a:off x="4799"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54" name="Line 58"/>
            <p:cNvSpPr>
              <a:spLocks noChangeShapeType="1"/>
            </p:cNvSpPr>
            <p:nvPr/>
          </p:nvSpPr>
          <p:spPr bwMode="auto">
            <a:xfrm flipV="1">
              <a:off x="4879"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55" name="Line 59"/>
            <p:cNvSpPr>
              <a:spLocks noChangeShapeType="1"/>
            </p:cNvSpPr>
            <p:nvPr/>
          </p:nvSpPr>
          <p:spPr bwMode="auto">
            <a:xfrm flipV="1">
              <a:off x="4959" y="3641"/>
              <a:ext cx="1" cy="16"/>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56" name="Line 60"/>
            <p:cNvSpPr>
              <a:spLocks noChangeShapeType="1"/>
            </p:cNvSpPr>
            <p:nvPr/>
          </p:nvSpPr>
          <p:spPr bwMode="auto">
            <a:xfrm flipV="1">
              <a:off x="866" y="3626"/>
              <a:ext cx="1" cy="31"/>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57" name="Rectangle 61"/>
            <p:cNvSpPr>
              <a:spLocks noChangeArrowheads="1"/>
            </p:cNvSpPr>
            <p:nvPr/>
          </p:nvSpPr>
          <p:spPr bwMode="auto">
            <a:xfrm>
              <a:off x="845" y="3676"/>
              <a:ext cx="40" cy="96"/>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lIns="0" tIns="0" rIns="0" bIns="0">
              <a:spAutoFit/>
            </a:bodyPr>
            <a:lstStyle/>
            <a:p>
              <a:pPr algn="l"/>
              <a:r>
                <a:rPr lang="en-US" sz="1000">
                  <a:latin typeface="Times New Roman" pitchFamily="18" charset="0"/>
                </a:rPr>
                <a:t>0</a:t>
              </a:r>
              <a:endParaRPr lang="en-US"/>
            </a:p>
          </p:txBody>
        </p:sp>
        <p:sp>
          <p:nvSpPr>
            <p:cNvPr id="58" name="Line 62"/>
            <p:cNvSpPr>
              <a:spLocks noChangeShapeType="1"/>
            </p:cNvSpPr>
            <p:nvPr/>
          </p:nvSpPr>
          <p:spPr bwMode="auto">
            <a:xfrm flipV="1">
              <a:off x="1267" y="3626"/>
              <a:ext cx="1" cy="31"/>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59" name="Rectangle 63"/>
            <p:cNvSpPr>
              <a:spLocks noChangeArrowheads="1"/>
            </p:cNvSpPr>
            <p:nvPr/>
          </p:nvSpPr>
          <p:spPr bwMode="auto">
            <a:xfrm>
              <a:off x="1225" y="3676"/>
              <a:ext cx="80" cy="96"/>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lIns="0" tIns="0" rIns="0" bIns="0">
              <a:spAutoFit/>
            </a:bodyPr>
            <a:lstStyle/>
            <a:p>
              <a:pPr algn="l"/>
              <a:r>
                <a:rPr lang="en-US" sz="1000">
                  <a:latin typeface="Times New Roman" pitchFamily="18" charset="0"/>
                </a:rPr>
                <a:t>10</a:t>
              </a:r>
              <a:endParaRPr lang="en-US"/>
            </a:p>
          </p:txBody>
        </p:sp>
        <p:sp>
          <p:nvSpPr>
            <p:cNvPr id="60" name="Line 64"/>
            <p:cNvSpPr>
              <a:spLocks noChangeShapeType="1"/>
            </p:cNvSpPr>
            <p:nvPr/>
          </p:nvSpPr>
          <p:spPr bwMode="auto">
            <a:xfrm flipV="1">
              <a:off x="1668" y="3626"/>
              <a:ext cx="1" cy="31"/>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61" name="Rectangle 65"/>
            <p:cNvSpPr>
              <a:spLocks noChangeArrowheads="1"/>
            </p:cNvSpPr>
            <p:nvPr/>
          </p:nvSpPr>
          <p:spPr bwMode="auto">
            <a:xfrm>
              <a:off x="1626" y="3676"/>
              <a:ext cx="80" cy="96"/>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lIns="0" tIns="0" rIns="0" bIns="0">
              <a:spAutoFit/>
            </a:bodyPr>
            <a:lstStyle/>
            <a:p>
              <a:pPr algn="l"/>
              <a:r>
                <a:rPr lang="en-US" sz="1000">
                  <a:latin typeface="Times New Roman" pitchFamily="18" charset="0"/>
                </a:rPr>
                <a:t>20</a:t>
              </a:r>
              <a:endParaRPr lang="en-US"/>
            </a:p>
          </p:txBody>
        </p:sp>
        <p:sp>
          <p:nvSpPr>
            <p:cNvPr id="62" name="Line 66"/>
            <p:cNvSpPr>
              <a:spLocks noChangeShapeType="1"/>
            </p:cNvSpPr>
            <p:nvPr/>
          </p:nvSpPr>
          <p:spPr bwMode="auto">
            <a:xfrm flipV="1">
              <a:off x="2069" y="3626"/>
              <a:ext cx="1" cy="31"/>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63" name="Rectangle 67"/>
            <p:cNvSpPr>
              <a:spLocks noChangeArrowheads="1"/>
            </p:cNvSpPr>
            <p:nvPr/>
          </p:nvSpPr>
          <p:spPr bwMode="auto">
            <a:xfrm>
              <a:off x="2027" y="3676"/>
              <a:ext cx="80" cy="96"/>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lIns="0" tIns="0" rIns="0" bIns="0">
              <a:spAutoFit/>
            </a:bodyPr>
            <a:lstStyle/>
            <a:p>
              <a:pPr algn="l"/>
              <a:r>
                <a:rPr lang="en-US" sz="1000">
                  <a:latin typeface="Times New Roman" pitchFamily="18" charset="0"/>
                </a:rPr>
                <a:t>30</a:t>
              </a:r>
              <a:endParaRPr lang="en-US"/>
            </a:p>
          </p:txBody>
        </p:sp>
        <p:sp>
          <p:nvSpPr>
            <p:cNvPr id="64" name="Line 68"/>
            <p:cNvSpPr>
              <a:spLocks noChangeShapeType="1"/>
            </p:cNvSpPr>
            <p:nvPr/>
          </p:nvSpPr>
          <p:spPr bwMode="auto">
            <a:xfrm flipV="1">
              <a:off x="2471" y="3626"/>
              <a:ext cx="1" cy="31"/>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65" name="Rectangle 69"/>
            <p:cNvSpPr>
              <a:spLocks noChangeArrowheads="1"/>
            </p:cNvSpPr>
            <p:nvPr/>
          </p:nvSpPr>
          <p:spPr bwMode="auto">
            <a:xfrm>
              <a:off x="2429" y="3676"/>
              <a:ext cx="80" cy="96"/>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lIns="0" tIns="0" rIns="0" bIns="0">
              <a:spAutoFit/>
            </a:bodyPr>
            <a:lstStyle/>
            <a:p>
              <a:pPr algn="l"/>
              <a:r>
                <a:rPr lang="en-US" sz="1000">
                  <a:latin typeface="Times New Roman" pitchFamily="18" charset="0"/>
                </a:rPr>
                <a:t>40</a:t>
              </a:r>
              <a:endParaRPr lang="en-US"/>
            </a:p>
          </p:txBody>
        </p:sp>
        <p:sp>
          <p:nvSpPr>
            <p:cNvPr id="66" name="Line 70"/>
            <p:cNvSpPr>
              <a:spLocks noChangeShapeType="1"/>
            </p:cNvSpPr>
            <p:nvPr/>
          </p:nvSpPr>
          <p:spPr bwMode="auto">
            <a:xfrm flipV="1">
              <a:off x="2872" y="3626"/>
              <a:ext cx="1" cy="31"/>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67" name="Rectangle 71"/>
            <p:cNvSpPr>
              <a:spLocks noChangeArrowheads="1"/>
            </p:cNvSpPr>
            <p:nvPr/>
          </p:nvSpPr>
          <p:spPr bwMode="auto">
            <a:xfrm>
              <a:off x="2830" y="3676"/>
              <a:ext cx="80" cy="96"/>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lIns="0" tIns="0" rIns="0" bIns="0">
              <a:spAutoFit/>
            </a:bodyPr>
            <a:lstStyle/>
            <a:p>
              <a:pPr algn="l"/>
              <a:r>
                <a:rPr lang="en-US" sz="1000">
                  <a:latin typeface="Times New Roman" pitchFamily="18" charset="0"/>
                </a:rPr>
                <a:t>50</a:t>
              </a:r>
              <a:endParaRPr lang="en-US"/>
            </a:p>
          </p:txBody>
        </p:sp>
        <p:sp>
          <p:nvSpPr>
            <p:cNvPr id="68" name="Line 72"/>
            <p:cNvSpPr>
              <a:spLocks noChangeShapeType="1"/>
            </p:cNvSpPr>
            <p:nvPr/>
          </p:nvSpPr>
          <p:spPr bwMode="auto">
            <a:xfrm flipV="1">
              <a:off x="3273" y="3626"/>
              <a:ext cx="1" cy="31"/>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69" name="Rectangle 73"/>
            <p:cNvSpPr>
              <a:spLocks noChangeArrowheads="1"/>
            </p:cNvSpPr>
            <p:nvPr/>
          </p:nvSpPr>
          <p:spPr bwMode="auto">
            <a:xfrm>
              <a:off x="3231" y="3676"/>
              <a:ext cx="80" cy="96"/>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lIns="0" tIns="0" rIns="0" bIns="0">
              <a:spAutoFit/>
            </a:bodyPr>
            <a:lstStyle/>
            <a:p>
              <a:pPr algn="l"/>
              <a:r>
                <a:rPr lang="en-US" sz="1000">
                  <a:latin typeface="Times New Roman" pitchFamily="18" charset="0"/>
                </a:rPr>
                <a:t>60</a:t>
              </a:r>
              <a:endParaRPr lang="en-US"/>
            </a:p>
          </p:txBody>
        </p:sp>
        <p:sp>
          <p:nvSpPr>
            <p:cNvPr id="70" name="Line 74"/>
            <p:cNvSpPr>
              <a:spLocks noChangeShapeType="1"/>
            </p:cNvSpPr>
            <p:nvPr/>
          </p:nvSpPr>
          <p:spPr bwMode="auto">
            <a:xfrm flipV="1">
              <a:off x="3675" y="3626"/>
              <a:ext cx="1" cy="31"/>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71" name="Rectangle 75"/>
            <p:cNvSpPr>
              <a:spLocks noChangeArrowheads="1"/>
            </p:cNvSpPr>
            <p:nvPr/>
          </p:nvSpPr>
          <p:spPr bwMode="auto">
            <a:xfrm>
              <a:off x="3633" y="3676"/>
              <a:ext cx="80" cy="96"/>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lIns="0" tIns="0" rIns="0" bIns="0">
              <a:spAutoFit/>
            </a:bodyPr>
            <a:lstStyle/>
            <a:p>
              <a:pPr algn="l"/>
              <a:r>
                <a:rPr lang="en-US" sz="1000">
                  <a:latin typeface="Times New Roman" pitchFamily="18" charset="0"/>
                </a:rPr>
                <a:t>70</a:t>
              </a:r>
              <a:endParaRPr lang="en-US"/>
            </a:p>
          </p:txBody>
        </p:sp>
        <p:sp>
          <p:nvSpPr>
            <p:cNvPr id="72" name="Line 76"/>
            <p:cNvSpPr>
              <a:spLocks noChangeShapeType="1"/>
            </p:cNvSpPr>
            <p:nvPr/>
          </p:nvSpPr>
          <p:spPr bwMode="auto">
            <a:xfrm flipV="1">
              <a:off x="4076" y="3626"/>
              <a:ext cx="1" cy="31"/>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73" name="Rectangle 77"/>
            <p:cNvSpPr>
              <a:spLocks noChangeArrowheads="1"/>
            </p:cNvSpPr>
            <p:nvPr/>
          </p:nvSpPr>
          <p:spPr bwMode="auto">
            <a:xfrm>
              <a:off x="4034" y="3676"/>
              <a:ext cx="80" cy="96"/>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lIns="0" tIns="0" rIns="0" bIns="0">
              <a:spAutoFit/>
            </a:bodyPr>
            <a:lstStyle/>
            <a:p>
              <a:pPr algn="l"/>
              <a:r>
                <a:rPr lang="en-US" sz="1000">
                  <a:latin typeface="Times New Roman" pitchFamily="18" charset="0"/>
                </a:rPr>
                <a:t>80</a:t>
              </a:r>
              <a:endParaRPr lang="en-US"/>
            </a:p>
          </p:txBody>
        </p:sp>
        <p:sp>
          <p:nvSpPr>
            <p:cNvPr id="74" name="Line 78"/>
            <p:cNvSpPr>
              <a:spLocks noChangeShapeType="1"/>
            </p:cNvSpPr>
            <p:nvPr/>
          </p:nvSpPr>
          <p:spPr bwMode="auto">
            <a:xfrm flipV="1">
              <a:off x="4477" y="3626"/>
              <a:ext cx="1" cy="31"/>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75" name="Rectangle 79"/>
            <p:cNvSpPr>
              <a:spLocks noChangeArrowheads="1"/>
            </p:cNvSpPr>
            <p:nvPr/>
          </p:nvSpPr>
          <p:spPr bwMode="auto">
            <a:xfrm>
              <a:off x="4435" y="3676"/>
              <a:ext cx="80" cy="96"/>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lIns="0" tIns="0" rIns="0" bIns="0">
              <a:spAutoFit/>
            </a:bodyPr>
            <a:lstStyle/>
            <a:p>
              <a:pPr algn="l"/>
              <a:r>
                <a:rPr lang="en-US" sz="1000">
                  <a:latin typeface="Times New Roman" pitchFamily="18" charset="0"/>
                </a:rPr>
                <a:t>90</a:t>
              </a:r>
              <a:endParaRPr lang="en-US"/>
            </a:p>
          </p:txBody>
        </p:sp>
        <p:sp>
          <p:nvSpPr>
            <p:cNvPr id="76" name="Line 80"/>
            <p:cNvSpPr>
              <a:spLocks noChangeShapeType="1"/>
            </p:cNvSpPr>
            <p:nvPr/>
          </p:nvSpPr>
          <p:spPr bwMode="auto">
            <a:xfrm flipV="1">
              <a:off x="4879" y="3626"/>
              <a:ext cx="1" cy="31"/>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77" name="Rectangle 81"/>
            <p:cNvSpPr>
              <a:spLocks noChangeArrowheads="1"/>
            </p:cNvSpPr>
            <p:nvPr/>
          </p:nvSpPr>
          <p:spPr bwMode="auto">
            <a:xfrm>
              <a:off x="4816" y="3676"/>
              <a:ext cx="120" cy="96"/>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lIns="0" tIns="0" rIns="0" bIns="0">
              <a:spAutoFit/>
            </a:bodyPr>
            <a:lstStyle/>
            <a:p>
              <a:pPr algn="l"/>
              <a:r>
                <a:rPr lang="en-US" sz="1000">
                  <a:latin typeface="Times New Roman" pitchFamily="18" charset="0"/>
                </a:rPr>
                <a:t>100</a:t>
              </a:r>
              <a:endParaRPr lang="en-US"/>
            </a:p>
          </p:txBody>
        </p:sp>
        <p:sp>
          <p:nvSpPr>
            <p:cNvPr id="78" name="Line 82"/>
            <p:cNvSpPr>
              <a:spLocks noChangeShapeType="1"/>
            </p:cNvSpPr>
            <p:nvPr/>
          </p:nvSpPr>
          <p:spPr bwMode="auto">
            <a:xfrm>
              <a:off x="866" y="3657"/>
              <a:ext cx="4093" cy="1"/>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79" name="Line 83"/>
            <p:cNvSpPr>
              <a:spLocks noChangeShapeType="1"/>
            </p:cNvSpPr>
            <p:nvPr/>
          </p:nvSpPr>
          <p:spPr bwMode="auto">
            <a:xfrm>
              <a:off x="866" y="3657"/>
              <a:ext cx="18" cy="1"/>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80" name="Line 84"/>
            <p:cNvSpPr>
              <a:spLocks noChangeShapeType="1"/>
            </p:cNvSpPr>
            <p:nvPr/>
          </p:nvSpPr>
          <p:spPr bwMode="auto">
            <a:xfrm>
              <a:off x="866" y="3537"/>
              <a:ext cx="18" cy="1"/>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81" name="Line 85"/>
            <p:cNvSpPr>
              <a:spLocks noChangeShapeType="1"/>
            </p:cNvSpPr>
            <p:nvPr/>
          </p:nvSpPr>
          <p:spPr bwMode="auto">
            <a:xfrm>
              <a:off x="866" y="3417"/>
              <a:ext cx="18" cy="1"/>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82" name="Line 86"/>
            <p:cNvSpPr>
              <a:spLocks noChangeShapeType="1"/>
            </p:cNvSpPr>
            <p:nvPr/>
          </p:nvSpPr>
          <p:spPr bwMode="auto">
            <a:xfrm>
              <a:off x="866" y="3296"/>
              <a:ext cx="18" cy="1"/>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83" name="Line 87"/>
            <p:cNvSpPr>
              <a:spLocks noChangeShapeType="1"/>
            </p:cNvSpPr>
            <p:nvPr/>
          </p:nvSpPr>
          <p:spPr bwMode="auto">
            <a:xfrm>
              <a:off x="866" y="3176"/>
              <a:ext cx="18" cy="1"/>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84" name="Line 88"/>
            <p:cNvSpPr>
              <a:spLocks noChangeShapeType="1"/>
            </p:cNvSpPr>
            <p:nvPr/>
          </p:nvSpPr>
          <p:spPr bwMode="auto">
            <a:xfrm>
              <a:off x="866" y="3055"/>
              <a:ext cx="18" cy="1"/>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85" name="Line 89"/>
            <p:cNvSpPr>
              <a:spLocks noChangeShapeType="1"/>
            </p:cNvSpPr>
            <p:nvPr/>
          </p:nvSpPr>
          <p:spPr bwMode="auto">
            <a:xfrm>
              <a:off x="866" y="2935"/>
              <a:ext cx="18" cy="1"/>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86" name="Line 90"/>
            <p:cNvSpPr>
              <a:spLocks noChangeShapeType="1"/>
            </p:cNvSpPr>
            <p:nvPr/>
          </p:nvSpPr>
          <p:spPr bwMode="auto">
            <a:xfrm>
              <a:off x="866" y="2814"/>
              <a:ext cx="18" cy="1"/>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87" name="Line 91"/>
            <p:cNvSpPr>
              <a:spLocks noChangeShapeType="1"/>
            </p:cNvSpPr>
            <p:nvPr/>
          </p:nvSpPr>
          <p:spPr bwMode="auto">
            <a:xfrm>
              <a:off x="866" y="2694"/>
              <a:ext cx="18" cy="1"/>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88" name="Line 92"/>
            <p:cNvSpPr>
              <a:spLocks noChangeShapeType="1"/>
            </p:cNvSpPr>
            <p:nvPr/>
          </p:nvSpPr>
          <p:spPr bwMode="auto">
            <a:xfrm>
              <a:off x="866" y="2573"/>
              <a:ext cx="18" cy="1"/>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89" name="Line 93"/>
            <p:cNvSpPr>
              <a:spLocks noChangeShapeType="1"/>
            </p:cNvSpPr>
            <p:nvPr/>
          </p:nvSpPr>
          <p:spPr bwMode="auto">
            <a:xfrm>
              <a:off x="866" y="2453"/>
              <a:ext cx="18" cy="1"/>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90" name="Line 94"/>
            <p:cNvSpPr>
              <a:spLocks noChangeShapeType="1"/>
            </p:cNvSpPr>
            <p:nvPr/>
          </p:nvSpPr>
          <p:spPr bwMode="auto">
            <a:xfrm>
              <a:off x="866" y="2332"/>
              <a:ext cx="18" cy="1"/>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91" name="Line 95"/>
            <p:cNvSpPr>
              <a:spLocks noChangeShapeType="1"/>
            </p:cNvSpPr>
            <p:nvPr/>
          </p:nvSpPr>
          <p:spPr bwMode="auto">
            <a:xfrm>
              <a:off x="866" y="2212"/>
              <a:ext cx="18" cy="1"/>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92" name="Line 96"/>
            <p:cNvSpPr>
              <a:spLocks noChangeShapeType="1"/>
            </p:cNvSpPr>
            <p:nvPr/>
          </p:nvSpPr>
          <p:spPr bwMode="auto">
            <a:xfrm>
              <a:off x="866" y="2091"/>
              <a:ext cx="18" cy="1"/>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93" name="Line 97"/>
            <p:cNvSpPr>
              <a:spLocks noChangeShapeType="1"/>
            </p:cNvSpPr>
            <p:nvPr/>
          </p:nvSpPr>
          <p:spPr bwMode="auto">
            <a:xfrm>
              <a:off x="866" y="1971"/>
              <a:ext cx="18" cy="1"/>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94" name="Line 98"/>
            <p:cNvSpPr>
              <a:spLocks noChangeShapeType="1"/>
            </p:cNvSpPr>
            <p:nvPr/>
          </p:nvSpPr>
          <p:spPr bwMode="auto">
            <a:xfrm>
              <a:off x="866" y="1850"/>
              <a:ext cx="18" cy="1"/>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95" name="Line 99"/>
            <p:cNvSpPr>
              <a:spLocks noChangeShapeType="1"/>
            </p:cNvSpPr>
            <p:nvPr/>
          </p:nvSpPr>
          <p:spPr bwMode="auto">
            <a:xfrm>
              <a:off x="866" y="1730"/>
              <a:ext cx="18" cy="1"/>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96" name="Line 100"/>
            <p:cNvSpPr>
              <a:spLocks noChangeShapeType="1"/>
            </p:cNvSpPr>
            <p:nvPr/>
          </p:nvSpPr>
          <p:spPr bwMode="auto">
            <a:xfrm>
              <a:off x="866" y="1609"/>
              <a:ext cx="18" cy="1"/>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97" name="Line 101"/>
            <p:cNvSpPr>
              <a:spLocks noChangeShapeType="1"/>
            </p:cNvSpPr>
            <p:nvPr/>
          </p:nvSpPr>
          <p:spPr bwMode="auto">
            <a:xfrm>
              <a:off x="866" y="1489"/>
              <a:ext cx="18" cy="1"/>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98" name="Line 102"/>
            <p:cNvSpPr>
              <a:spLocks noChangeShapeType="1"/>
            </p:cNvSpPr>
            <p:nvPr/>
          </p:nvSpPr>
          <p:spPr bwMode="auto">
            <a:xfrm>
              <a:off x="866" y="1368"/>
              <a:ext cx="18" cy="1"/>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99" name="Line 103"/>
            <p:cNvSpPr>
              <a:spLocks noChangeShapeType="1"/>
            </p:cNvSpPr>
            <p:nvPr/>
          </p:nvSpPr>
          <p:spPr bwMode="auto">
            <a:xfrm>
              <a:off x="866" y="3537"/>
              <a:ext cx="36" cy="1"/>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100" name="Rectangle 104"/>
            <p:cNvSpPr>
              <a:spLocks noChangeArrowheads="1"/>
            </p:cNvSpPr>
            <p:nvPr/>
          </p:nvSpPr>
          <p:spPr bwMode="auto">
            <a:xfrm>
              <a:off x="718" y="3493"/>
              <a:ext cx="80" cy="96"/>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lIns="0" tIns="0" rIns="0" bIns="0">
              <a:spAutoFit/>
            </a:bodyPr>
            <a:lstStyle/>
            <a:p>
              <a:pPr algn="l"/>
              <a:r>
                <a:rPr lang="en-US" sz="1000">
                  <a:latin typeface="Times New Roman" pitchFamily="18" charset="0"/>
                </a:rPr>
                <a:t>10</a:t>
              </a:r>
              <a:endParaRPr lang="en-US"/>
            </a:p>
          </p:txBody>
        </p:sp>
        <p:sp>
          <p:nvSpPr>
            <p:cNvPr id="101" name="Line 105"/>
            <p:cNvSpPr>
              <a:spLocks noChangeShapeType="1"/>
            </p:cNvSpPr>
            <p:nvPr/>
          </p:nvSpPr>
          <p:spPr bwMode="auto">
            <a:xfrm>
              <a:off x="866" y="3296"/>
              <a:ext cx="36" cy="1"/>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102" name="Rectangle 106"/>
            <p:cNvSpPr>
              <a:spLocks noChangeArrowheads="1"/>
            </p:cNvSpPr>
            <p:nvPr/>
          </p:nvSpPr>
          <p:spPr bwMode="auto">
            <a:xfrm>
              <a:off x="718" y="3252"/>
              <a:ext cx="80" cy="96"/>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lIns="0" tIns="0" rIns="0" bIns="0">
              <a:spAutoFit/>
            </a:bodyPr>
            <a:lstStyle/>
            <a:p>
              <a:pPr algn="l"/>
              <a:r>
                <a:rPr lang="en-US" sz="1000">
                  <a:latin typeface="Times New Roman" pitchFamily="18" charset="0"/>
                </a:rPr>
                <a:t>15</a:t>
              </a:r>
              <a:endParaRPr lang="en-US"/>
            </a:p>
          </p:txBody>
        </p:sp>
        <p:sp>
          <p:nvSpPr>
            <p:cNvPr id="103" name="Line 107"/>
            <p:cNvSpPr>
              <a:spLocks noChangeShapeType="1"/>
            </p:cNvSpPr>
            <p:nvPr/>
          </p:nvSpPr>
          <p:spPr bwMode="auto">
            <a:xfrm>
              <a:off x="866" y="3055"/>
              <a:ext cx="36" cy="1"/>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104" name="Rectangle 108"/>
            <p:cNvSpPr>
              <a:spLocks noChangeArrowheads="1"/>
            </p:cNvSpPr>
            <p:nvPr/>
          </p:nvSpPr>
          <p:spPr bwMode="auto">
            <a:xfrm>
              <a:off x="718" y="3011"/>
              <a:ext cx="80" cy="96"/>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lIns="0" tIns="0" rIns="0" bIns="0">
              <a:spAutoFit/>
            </a:bodyPr>
            <a:lstStyle/>
            <a:p>
              <a:pPr algn="l"/>
              <a:r>
                <a:rPr lang="en-US" sz="1000">
                  <a:latin typeface="Times New Roman" pitchFamily="18" charset="0"/>
                </a:rPr>
                <a:t>20</a:t>
              </a:r>
              <a:endParaRPr lang="en-US"/>
            </a:p>
          </p:txBody>
        </p:sp>
        <p:sp>
          <p:nvSpPr>
            <p:cNvPr id="105" name="Line 109"/>
            <p:cNvSpPr>
              <a:spLocks noChangeShapeType="1"/>
            </p:cNvSpPr>
            <p:nvPr/>
          </p:nvSpPr>
          <p:spPr bwMode="auto">
            <a:xfrm>
              <a:off x="866" y="2814"/>
              <a:ext cx="36" cy="1"/>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106" name="Rectangle 110"/>
            <p:cNvSpPr>
              <a:spLocks noChangeArrowheads="1"/>
            </p:cNvSpPr>
            <p:nvPr/>
          </p:nvSpPr>
          <p:spPr bwMode="auto">
            <a:xfrm>
              <a:off x="718" y="2770"/>
              <a:ext cx="80" cy="96"/>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lIns="0" tIns="0" rIns="0" bIns="0">
              <a:spAutoFit/>
            </a:bodyPr>
            <a:lstStyle/>
            <a:p>
              <a:pPr algn="l"/>
              <a:r>
                <a:rPr lang="en-US" sz="1000">
                  <a:latin typeface="Times New Roman" pitchFamily="18" charset="0"/>
                </a:rPr>
                <a:t>25</a:t>
              </a:r>
              <a:endParaRPr lang="en-US"/>
            </a:p>
          </p:txBody>
        </p:sp>
        <p:sp>
          <p:nvSpPr>
            <p:cNvPr id="107" name="Line 111"/>
            <p:cNvSpPr>
              <a:spLocks noChangeShapeType="1"/>
            </p:cNvSpPr>
            <p:nvPr/>
          </p:nvSpPr>
          <p:spPr bwMode="auto">
            <a:xfrm>
              <a:off x="866" y="2573"/>
              <a:ext cx="36" cy="1"/>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108" name="Rectangle 112"/>
            <p:cNvSpPr>
              <a:spLocks noChangeArrowheads="1"/>
            </p:cNvSpPr>
            <p:nvPr/>
          </p:nvSpPr>
          <p:spPr bwMode="auto">
            <a:xfrm>
              <a:off x="718" y="2529"/>
              <a:ext cx="80" cy="96"/>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lIns="0" tIns="0" rIns="0" bIns="0">
              <a:spAutoFit/>
            </a:bodyPr>
            <a:lstStyle/>
            <a:p>
              <a:pPr algn="l"/>
              <a:r>
                <a:rPr lang="en-US" sz="1000">
                  <a:latin typeface="Times New Roman" pitchFamily="18" charset="0"/>
                </a:rPr>
                <a:t>30</a:t>
              </a:r>
              <a:endParaRPr lang="en-US"/>
            </a:p>
          </p:txBody>
        </p:sp>
        <p:sp>
          <p:nvSpPr>
            <p:cNvPr id="109" name="Line 113"/>
            <p:cNvSpPr>
              <a:spLocks noChangeShapeType="1"/>
            </p:cNvSpPr>
            <p:nvPr/>
          </p:nvSpPr>
          <p:spPr bwMode="auto">
            <a:xfrm>
              <a:off x="866" y="2332"/>
              <a:ext cx="36" cy="1"/>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110" name="Rectangle 114"/>
            <p:cNvSpPr>
              <a:spLocks noChangeArrowheads="1"/>
            </p:cNvSpPr>
            <p:nvPr/>
          </p:nvSpPr>
          <p:spPr bwMode="auto">
            <a:xfrm>
              <a:off x="718" y="2288"/>
              <a:ext cx="80" cy="96"/>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lIns="0" tIns="0" rIns="0" bIns="0">
              <a:spAutoFit/>
            </a:bodyPr>
            <a:lstStyle/>
            <a:p>
              <a:pPr algn="l"/>
              <a:r>
                <a:rPr lang="en-US" sz="1000">
                  <a:latin typeface="Times New Roman" pitchFamily="18" charset="0"/>
                </a:rPr>
                <a:t>35</a:t>
              </a:r>
              <a:endParaRPr lang="en-US"/>
            </a:p>
          </p:txBody>
        </p:sp>
        <p:sp>
          <p:nvSpPr>
            <p:cNvPr id="111" name="Line 115"/>
            <p:cNvSpPr>
              <a:spLocks noChangeShapeType="1"/>
            </p:cNvSpPr>
            <p:nvPr/>
          </p:nvSpPr>
          <p:spPr bwMode="auto">
            <a:xfrm>
              <a:off x="866" y="2091"/>
              <a:ext cx="36" cy="1"/>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112" name="Rectangle 116"/>
            <p:cNvSpPr>
              <a:spLocks noChangeArrowheads="1"/>
            </p:cNvSpPr>
            <p:nvPr/>
          </p:nvSpPr>
          <p:spPr bwMode="auto">
            <a:xfrm>
              <a:off x="718" y="2047"/>
              <a:ext cx="80" cy="96"/>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lIns="0" tIns="0" rIns="0" bIns="0">
              <a:spAutoFit/>
            </a:bodyPr>
            <a:lstStyle/>
            <a:p>
              <a:pPr algn="l"/>
              <a:r>
                <a:rPr lang="en-US" sz="1000">
                  <a:latin typeface="Times New Roman" pitchFamily="18" charset="0"/>
                </a:rPr>
                <a:t>40</a:t>
              </a:r>
              <a:endParaRPr lang="en-US"/>
            </a:p>
          </p:txBody>
        </p:sp>
        <p:sp>
          <p:nvSpPr>
            <p:cNvPr id="113" name="Line 117"/>
            <p:cNvSpPr>
              <a:spLocks noChangeShapeType="1"/>
            </p:cNvSpPr>
            <p:nvPr/>
          </p:nvSpPr>
          <p:spPr bwMode="auto">
            <a:xfrm>
              <a:off x="866" y="1850"/>
              <a:ext cx="36" cy="1"/>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114" name="Rectangle 118"/>
            <p:cNvSpPr>
              <a:spLocks noChangeArrowheads="1"/>
            </p:cNvSpPr>
            <p:nvPr/>
          </p:nvSpPr>
          <p:spPr bwMode="auto">
            <a:xfrm>
              <a:off x="718" y="1806"/>
              <a:ext cx="80" cy="96"/>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lIns="0" tIns="0" rIns="0" bIns="0">
              <a:spAutoFit/>
            </a:bodyPr>
            <a:lstStyle/>
            <a:p>
              <a:pPr algn="l"/>
              <a:r>
                <a:rPr lang="en-US" sz="1000">
                  <a:latin typeface="Times New Roman" pitchFamily="18" charset="0"/>
                </a:rPr>
                <a:t>45</a:t>
              </a:r>
              <a:endParaRPr lang="en-US"/>
            </a:p>
          </p:txBody>
        </p:sp>
        <p:sp>
          <p:nvSpPr>
            <p:cNvPr id="115" name="Line 119"/>
            <p:cNvSpPr>
              <a:spLocks noChangeShapeType="1"/>
            </p:cNvSpPr>
            <p:nvPr/>
          </p:nvSpPr>
          <p:spPr bwMode="auto">
            <a:xfrm>
              <a:off x="866" y="1609"/>
              <a:ext cx="36" cy="1"/>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116" name="Rectangle 120"/>
            <p:cNvSpPr>
              <a:spLocks noChangeArrowheads="1"/>
            </p:cNvSpPr>
            <p:nvPr/>
          </p:nvSpPr>
          <p:spPr bwMode="auto">
            <a:xfrm>
              <a:off x="718" y="1565"/>
              <a:ext cx="80" cy="96"/>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lIns="0" tIns="0" rIns="0" bIns="0">
              <a:spAutoFit/>
            </a:bodyPr>
            <a:lstStyle/>
            <a:p>
              <a:pPr algn="l"/>
              <a:r>
                <a:rPr lang="en-US" sz="1000">
                  <a:latin typeface="Times New Roman" pitchFamily="18" charset="0"/>
                </a:rPr>
                <a:t>50</a:t>
              </a:r>
              <a:endParaRPr lang="en-US"/>
            </a:p>
          </p:txBody>
        </p:sp>
        <p:sp>
          <p:nvSpPr>
            <p:cNvPr id="117" name="Line 121"/>
            <p:cNvSpPr>
              <a:spLocks noChangeShapeType="1"/>
            </p:cNvSpPr>
            <p:nvPr/>
          </p:nvSpPr>
          <p:spPr bwMode="auto">
            <a:xfrm>
              <a:off x="866" y="1368"/>
              <a:ext cx="36" cy="1"/>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118" name="Rectangle 122"/>
            <p:cNvSpPr>
              <a:spLocks noChangeArrowheads="1"/>
            </p:cNvSpPr>
            <p:nvPr/>
          </p:nvSpPr>
          <p:spPr bwMode="auto">
            <a:xfrm>
              <a:off x="718" y="1324"/>
              <a:ext cx="80" cy="96"/>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lIns="0" tIns="0" rIns="0" bIns="0">
              <a:spAutoFit/>
            </a:bodyPr>
            <a:lstStyle/>
            <a:p>
              <a:pPr algn="l"/>
              <a:r>
                <a:rPr lang="en-US" sz="1000">
                  <a:latin typeface="Times New Roman" pitchFamily="18" charset="0"/>
                </a:rPr>
                <a:t>55</a:t>
              </a:r>
              <a:endParaRPr lang="en-US"/>
            </a:p>
          </p:txBody>
        </p:sp>
        <p:sp>
          <p:nvSpPr>
            <p:cNvPr id="119" name="Line 123"/>
            <p:cNvSpPr>
              <a:spLocks noChangeShapeType="1"/>
            </p:cNvSpPr>
            <p:nvPr/>
          </p:nvSpPr>
          <p:spPr bwMode="auto">
            <a:xfrm flipV="1">
              <a:off x="866" y="1368"/>
              <a:ext cx="1" cy="2289"/>
            </a:xfrm>
            <a:prstGeom prst="line">
              <a:avLst/>
            </a:prstGeom>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sp>
          <p:nvSpPr>
            <p:cNvPr id="120" name="Freeform 124"/>
            <p:cNvSpPr>
              <a:spLocks/>
            </p:cNvSpPr>
            <p:nvPr/>
          </p:nvSpPr>
          <p:spPr bwMode="auto">
            <a:xfrm flipV="1">
              <a:off x="905" y="1654"/>
              <a:ext cx="3934" cy="2000"/>
            </a:xfrm>
            <a:custGeom>
              <a:avLst/>
              <a:gdLst>
                <a:gd name="T0" fmla="*/ 133 w 13029"/>
                <a:gd name="T1" fmla="*/ 887 h 7618"/>
                <a:gd name="T2" fmla="*/ 399 w 13029"/>
                <a:gd name="T3" fmla="*/ 846 h 7618"/>
                <a:gd name="T4" fmla="*/ 665 w 13029"/>
                <a:gd name="T5" fmla="*/ 650 h 7618"/>
                <a:gd name="T6" fmla="*/ 931 w 13029"/>
                <a:gd name="T7" fmla="*/ 396 h 7618"/>
                <a:gd name="T8" fmla="*/ 1197 w 13029"/>
                <a:gd name="T9" fmla="*/ 361 h 7618"/>
                <a:gd name="T10" fmla="*/ 1463 w 13029"/>
                <a:gd name="T11" fmla="*/ 370 h 7618"/>
                <a:gd name="T12" fmla="*/ 1729 w 13029"/>
                <a:gd name="T13" fmla="*/ 142 h 7618"/>
                <a:gd name="T14" fmla="*/ 1995 w 13029"/>
                <a:gd name="T15" fmla="*/ 177 h 7618"/>
                <a:gd name="T16" fmla="*/ 2260 w 13029"/>
                <a:gd name="T17" fmla="*/ 435 h 7618"/>
                <a:gd name="T18" fmla="*/ 2526 w 13029"/>
                <a:gd name="T19" fmla="*/ 914 h 7618"/>
                <a:gd name="T20" fmla="*/ 2792 w 13029"/>
                <a:gd name="T21" fmla="*/ 1275 h 7618"/>
                <a:gd name="T22" fmla="*/ 3058 w 13029"/>
                <a:gd name="T23" fmla="*/ 1419 h 7618"/>
                <a:gd name="T24" fmla="*/ 3324 w 13029"/>
                <a:gd name="T25" fmla="*/ 1642 h 7618"/>
                <a:gd name="T26" fmla="*/ 3590 w 13029"/>
                <a:gd name="T27" fmla="*/ 1242 h 7618"/>
                <a:gd name="T28" fmla="*/ 3856 w 13029"/>
                <a:gd name="T29" fmla="*/ 1021 h 7618"/>
                <a:gd name="T30" fmla="*/ 4122 w 13029"/>
                <a:gd name="T31" fmla="*/ 799 h 7618"/>
                <a:gd name="T32" fmla="*/ 4388 w 13029"/>
                <a:gd name="T33" fmla="*/ 1305 h 7618"/>
                <a:gd name="T34" fmla="*/ 4653 w 13029"/>
                <a:gd name="T35" fmla="*/ 1810 h 7618"/>
                <a:gd name="T36" fmla="*/ 4919 w 13029"/>
                <a:gd name="T37" fmla="*/ 2104 h 7618"/>
                <a:gd name="T38" fmla="*/ 5185 w 13029"/>
                <a:gd name="T39" fmla="*/ 2431 h 7618"/>
                <a:gd name="T40" fmla="*/ 5451 w 13029"/>
                <a:gd name="T41" fmla="*/ 2873 h 7618"/>
                <a:gd name="T42" fmla="*/ 5717 w 13029"/>
                <a:gd name="T43" fmla="*/ 2343 h 7618"/>
                <a:gd name="T44" fmla="*/ 5983 w 13029"/>
                <a:gd name="T45" fmla="*/ 2794 h 7618"/>
                <a:gd name="T46" fmla="*/ 6249 w 13029"/>
                <a:gd name="T47" fmla="*/ 2841 h 7618"/>
                <a:gd name="T48" fmla="*/ 6515 w 13029"/>
                <a:gd name="T49" fmla="*/ 3187 h 7618"/>
                <a:gd name="T50" fmla="*/ 6780 w 13029"/>
                <a:gd name="T51" fmla="*/ 3766 h 7618"/>
                <a:gd name="T52" fmla="*/ 7046 w 13029"/>
                <a:gd name="T53" fmla="*/ 4135 h 7618"/>
                <a:gd name="T54" fmla="*/ 7312 w 13029"/>
                <a:gd name="T55" fmla="*/ 4000 h 7618"/>
                <a:gd name="T56" fmla="*/ 7578 w 13029"/>
                <a:gd name="T57" fmla="*/ 4173 h 7618"/>
                <a:gd name="T58" fmla="*/ 7844 w 13029"/>
                <a:gd name="T59" fmla="*/ 4332 h 7618"/>
                <a:gd name="T60" fmla="*/ 8110 w 13029"/>
                <a:gd name="T61" fmla="*/ 4381 h 7618"/>
                <a:gd name="T62" fmla="*/ 8376 w 13029"/>
                <a:gd name="T63" fmla="*/ 4073 h 7618"/>
                <a:gd name="T64" fmla="*/ 8642 w 13029"/>
                <a:gd name="T65" fmla="*/ 3826 h 7618"/>
                <a:gd name="T66" fmla="*/ 8908 w 13029"/>
                <a:gd name="T67" fmla="*/ 4258 h 7618"/>
                <a:gd name="T68" fmla="*/ 9173 w 13029"/>
                <a:gd name="T69" fmla="*/ 4596 h 7618"/>
                <a:gd name="T70" fmla="*/ 9439 w 13029"/>
                <a:gd name="T71" fmla="*/ 4202 h 7618"/>
                <a:gd name="T72" fmla="*/ 9705 w 13029"/>
                <a:gd name="T73" fmla="*/ 4646 h 7618"/>
                <a:gd name="T74" fmla="*/ 9971 w 13029"/>
                <a:gd name="T75" fmla="*/ 5280 h 7618"/>
                <a:gd name="T76" fmla="*/ 10237 w 13029"/>
                <a:gd name="T77" fmla="*/ 5694 h 7618"/>
                <a:gd name="T78" fmla="*/ 10503 w 13029"/>
                <a:gd name="T79" fmla="*/ 5046 h 7618"/>
                <a:gd name="T80" fmla="*/ 10769 w 13029"/>
                <a:gd name="T81" fmla="*/ 5217 h 7618"/>
                <a:gd name="T82" fmla="*/ 11035 w 13029"/>
                <a:gd name="T83" fmla="*/ 5457 h 7618"/>
                <a:gd name="T84" fmla="*/ 11300 w 13029"/>
                <a:gd name="T85" fmla="*/ 5686 h 7618"/>
                <a:gd name="T86" fmla="*/ 11566 w 13029"/>
                <a:gd name="T87" fmla="*/ 5629 h 7618"/>
                <a:gd name="T88" fmla="*/ 11832 w 13029"/>
                <a:gd name="T89" fmla="*/ 5980 h 7618"/>
                <a:gd name="T90" fmla="*/ 12098 w 13029"/>
                <a:gd name="T91" fmla="*/ 6191 h 7618"/>
                <a:gd name="T92" fmla="*/ 12364 w 13029"/>
                <a:gd name="T93" fmla="*/ 6159 h 7618"/>
                <a:gd name="T94" fmla="*/ 12630 w 13029"/>
                <a:gd name="T95" fmla="*/ 6128 h 7618"/>
                <a:gd name="T96" fmla="*/ 12896 w 13029"/>
                <a:gd name="T97" fmla="*/ 7109 h 761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3029"/>
                <a:gd name="T148" fmla="*/ 0 h 7618"/>
                <a:gd name="T149" fmla="*/ 13029 w 13029"/>
                <a:gd name="T150" fmla="*/ 7618 h 7618"/>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3029" h="7618">
                  <a:moveTo>
                    <a:pt x="0" y="783"/>
                  </a:moveTo>
                  <a:lnTo>
                    <a:pt x="133" y="887"/>
                  </a:lnTo>
                  <a:lnTo>
                    <a:pt x="266" y="657"/>
                  </a:lnTo>
                  <a:lnTo>
                    <a:pt x="399" y="846"/>
                  </a:lnTo>
                  <a:lnTo>
                    <a:pt x="532" y="595"/>
                  </a:lnTo>
                  <a:lnTo>
                    <a:pt x="665" y="650"/>
                  </a:lnTo>
                  <a:lnTo>
                    <a:pt x="798" y="274"/>
                  </a:lnTo>
                  <a:lnTo>
                    <a:pt x="931" y="396"/>
                  </a:lnTo>
                  <a:lnTo>
                    <a:pt x="1064" y="450"/>
                  </a:lnTo>
                  <a:lnTo>
                    <a:pt x="1197" y="361"/>
                  </a:lnTo>
                  <a:lnTo>
                    <a:pt x="1330" y="664"/>
                  </a:lnTo>
                  <a:lnTo>
                    <a:pt x="1463" y="370"/>
                  </a:lnTo>
                  <a:lnTo>
                    <a:pt x="1596" y="0"/>
                  </a:lnTo>
                  <a:lnTo>
                    <a:pt x="1729" y="142"/>
                  </a:lnTo>
                  <a:lnTo>
                    <a:pt x="1862" y="242"/>
                  </a:lnTo>
                  <a:lnTo>
                    <a:pt x="1995" y="177"/>
                  </a:lnTo>
                  <a:lnTo>
                    <a:pt x="2128" y="322"/>
                  </a:lnTo>
                  <a:lnTo>
                    <a:pt x="2260" y="435"/>
                  </a:lnTo>
                  <a:lnTo>
                    <a:pt x="2393" y="896"/>
                  </a:lnTo>
                  <a:lnTo>
                    <a:pt x="2526" y="914"/>
                  </a:lnTo>
                  <a:lnTo>
                    <a:pt x="2659" y="1100"/>
                  </a:lnTo>
                  <a:lnTo>
                    <a:pt x="2792" y="1275"/>
                  </a:lnTo>
                  <a:lnTo>
                    <a:pt x="2925" y="1360"/>
                  </a:lnTo>
                  <a:lnTo>
                    <a:pt x="3058" y="1419"/>
                  </a:lnTo>
                  <a:lnTo>
                    <a:pt x="3191" y="1382"/>
                  </a:lnTo>
                  <a:lnTo>
                    <a:pt x="3324" y="1642"/>
                  </a:lnTo>
                  <a:lnTo>
                    <a:pt x="3457" y="1455"/>
                  </a:lnTo>
                  <a:lnTo>
                    <a:pt x="3590" y="1242"/>
                  </a:lnTo>
                  <a:lnTo>
                    <a:pt x="3723" y="1091"/>
                  </a:lnTo>
                  <a:lnTo>
                    <a:pt x="3856" y="1021"/>
                  </a:lnTo>
                  <a:lnTo>
                    <a:pt x="3989" y="674"/>
                  </a:lnTo>
                  <a:lnTo>
                    <a:pt x="4122" y="799"/>
                  </a:lnTo>
                  <a:lnTo>
                    <a:pt x="4255" y="976"/>
                  </a:lnTo>
                  <a:lnTo>
                    <a:pt x="4388" y="1305"/>
                  </a:lnTo>
                  <a:lnTo>
                    <a:pt x="4520" y="1674"/>
                  </a:lnTo>
                  <a:lnTo>
                    <a:pt x="4653" y="1810"/>
                  </a:lnTo>
                  <a:lnTo>
                    <a:pt x="4786" y="2198"/>
                  </a:lnTo>
                  <a:lnTo>
                    <a:pt x="4919" y="2104"/>
                  </a:lnTo>
                  <a:lnTo>
                    <a:pt x="5052" y="2143"/>
                  </a:lnTo>
                  <a:lnTo>
                    <a:pt x="5185" y="2431"/>
                  </a:lnTo>
                  <a:lnTo>
                    <a:pt x="5318" y="2636"/>
                  </a:lnTo>
                  <a:lnTo>
                    <a:pt x="5451" y="2873"/>
                  </a:lnTo>
                  <a:lnTo>
                    <a:pt x="5584" y="2695"/>
                  </a:lnTo>
                  <a:lnTo>
                    <a:pt x="5717" y="2343"/>
                  </a:lnTo>
                  <a:lnTo>
                    <a:pt x="5850" y="2590"/>
                  </a:lnTo>
                  <a:lnTo>
                    <a:pt x="5983" y="2794"/>
                  </a:lnTo>
                  <a:lnTo>
                    <a:pt x="6116" y="2418"/>
                  </a:lnTo>
                  <a:lnTo>
                    <a:pt x="6249" y="2841"/>
                  </a:lnTo>
                  <a:lnTo>
                    <a:pt x="6382" y="3150"/>
                  </a:lnTo>
                  <a:lnTo>
                    <a:pt x="6515" y="3187"/>
                  </a:lnTo>
                  <a:lnTo>
                    <a:pt x="6648" y="3551"/>
                  </a:lnTo>
                  <a:lnTo>
                    <a:pt x="6780" y="3766"/>
                  </a:lnTo>
                  <a:lnTo>
                    <a:pt x="6913" y="3754"/>
                  </a:lnTo>
                  <a:lnTo>
                    <a:pt x="7046" y="4135"/>
                  </a:lnTo>
                  <a:lnTo>
                    <a:pt x="7179" y="4235"/>
                  </a:lnTo>
                  <a:lnTo>
                    <a:pt x="7312" y="4000"/>
                  </a:lnTo>
                  <a:lnTo>
                    <a:pt x="7445" y="4186"/>
                  </a:lnTo>
                  <a:lnTo>
                    <a:pt x="7578" y="4173"/>
                  </a:lnTo>
                  <a:lnTo>
                    <a:pt x="7711" y="4177"/>
                  </a:lnTo>
                  <a:lnTo>
                    <a:pt x="7844" y="4332"/>
                  </a:lnTo>
                  <a:lnTo>
                    <a:pt x="7977" y="4066"/>
                  </a:lnTo>
                  <a:lnTo>
                    <a:pt x="8110" y="4381"/>
                  </a:lnTo>
                  <a:lnTo>
                    <a:pt x="8243" y="4158"/>
                  </a:lnTo>
                  <a:lnTo>
                    <a:pt x="8376" y="4073"/>
                  </a:lnTo>
                  <a:lnTo>
                    <a:pt x="8509" y="3907"/>
                  </a:lnTo>
                  <a:lnTo>
                    <a:pt x="8642" y="3826"/>
                  </a:lnTo>
                  <a:lnTo>
                    <a:pt x="8775" y="3737"/>
                  </a:lnTo>
                  <a:lnTo>
                    <a:pt x="8908" y="4258"/>
                  </a:lnTo>
                  <a:lnTo>
                    <a:pt x="9040" y="4084"/>
                  </a:lnTo>
                  <a:lnTo>
                    <a:pt x="9173" y="4596"/>
                  </a:lnTo>
                  <a:lnTo>
                    <a:pt x="9306" y="4459"/>
                  </a:lnTo>
                  <a:lnTo>
                    <a:pt x="9439" y="4202"/>
                  </a:lnTo>
                  <a:lnTo>
                    <a:pt x="9572" y="4175"/>
                  </a:lnTo>
                  <a:lnTo>
                    <a:pt x="9705" y="4646"/>
                  </a:lnTo>
                  <a:lnTo>
                    <a:pt x="9838" y="4890"/>
                  </a:lnTo>
                  <a:lnTo>
                    <a:pt x="9971" y="5280"/>
                  </a:lnTo>
                  <a:lnTo>
                    <a:pt x="10104" y="5394"/>
                  </a:lnTo>
                  <a:lnTo>
                    <a:pt x="10237" y="5694"/>
                  </a:lnTo>
                  <a:lnTo>
                    <a:pt x="10370" y="5316"/>
                  </a:lnTo>
                  <a:lnTo>
                    <a:pt x="10503" y="5046"/>
                  </a:lnTo>
                  <a:lnTo>
                    <a:pt x="10636" y="4997"/>
                  </a:lnTo>
                  <a:lnTo>
                    <a:pt x="10769" y="5217"/>
                  </a:lnTo>
                  <a:lnTo>
                    <a:pt x="10902" y="5448"/>
                  </a:lnTo>
                  <a:lnTo>
                    <a:pt x="11035" y="5457"/>
                  </a:lnTo>
                  <a:lnTo>
                    <a:pt x="11168" y="5216"/>
                  </a:lnTo>
                  <a:lnTo>
                    <a:pt x="11300" y="5686"/>
                  </a:lnTo>
                  <a:lnTo>
                    <a:pt x="11433" y="5669"/>
                  </a:lnTo>
                  <a:lnTo>
                    <a:pt x="11566" y="5629"/>
                  </a:lnTo>
                  <a:lnTo>
                    <a:pt x="11699" y="6068"/>
                  </a:lnTo>
                  <a:lnTo>
                    <a:pt x="11832" y="5980"/>
                  </a:lnTo>
                  <a:lnTo>
                    <a:pt x="11965" y="6442"/>
                  </a:lnTo>
                  <a:lnTo>
                    <a:pt x="12098" y="6191"/>
                  </a:lnTo>
                  <a:lnTo>
                    <a:pt x="12231" y="5835"/>
                  </a:lnTo>
                  <a:lnTo>
                    <a:pt x="12364" y="6159"/>
                  </a:lnTo>
                  <a:lnTo>
                    <a:pt x="12497" y="5994"/>
                  </a:lnTo>
                  <a:lnTo>
                    <a:pt x="12630" y="6128"/>
                  </a:lnTo>
                  <a:lnTo>
                    <a:pt x="12763" y="6602"/>
                  </a:lnTo>
                  <a:lnTo>
                    <a:pt x="12896" y="7109"/>
                  </a:lnTo>
                  <a:lnTo>
                    <a:pt x="13029" y="7618"/>
                  </a:lnTo>
                </a:path>
              </a:pathLst>
            </a:custGeom>
            <a:ln>
              <a:headEnd/>
              <a:tailEnd/>
            </a:ln>
          </p:spPr>
          <p:style>
            <a:lnRef idx="1">
              <a:schemeClr val="accent5"/>
            </a:lnRef>
            <a:fillRef idx="0">
              <a:schemeClr val="accent5"/>
            </a:fillRef>
            <a:effectRef idx="0">
              <a:schemeClr val="accent5"/>
            </a:effectRef>
            <a:fontRef idx="minor">
              <a:schemeClr val="tx1"/>
            </a:fontRef>
          </p:style>
          <p:txBody>
            <a:bodyPr/>
            <a:lstStyle/>
            <a:p>
              <a:endParaRPr lang="en-US"/>
            </a:p>
          </p:txBody>
        </p:sp>
        <p:sp>
          <p:nvSpPr>
            <p:cNvPr id="121" name="Freeform 125"/>
            <p:cNvSpPr>
              <a:spLocks/>
            </p:cNvSpPr>
            <p:nvPr/>
          </p:nvSpPr>
          <p:spPr bwMode="auto">
            <a:xfrm flipV="1">
              <a:off x="905" y="1392"/>
              <a:ext cx="3934" cy="2041"/>
            </a:xfrm>
            <a:custGeom>
              <a:avLst/>
              <a:gdLst>
                <a:gd name="T0" fmla="*/ 133 w 13029"/>
                <a:gd name="T1" fmla="*/ 1126 h 7774"/>
                <a:gd name="T2" fmla="*/ 399 w 13029"/>
                <a:gd name="T3" fmla="*/ 1011 h 7774"/>
                <a:gd name="T4" fmla="*/ 665 w 13029"/>
                <a:gd name="T5" fmla="*/ 690 h 7774"/>
                <a:gd name="T6" fmla="*/ 931 w 13029"/>
                <a:gd name="T7" fmla="*/ 412 h 7774"/>
                <a:gd name="T8" fmla="*/ 1197 w 13029"/>
                <a:gd name="T9" fmla="*/ 532 h 7774"/>
                <a:gd name="T10" fmla="*/ 1463 w 13029"/>
                <a:gd name="T11" fmla="*/ 593 h 7774"/>
                <a:gd name="T12" fmla="*/ 1729 w 13029"/>
                <a:gd name="T13" fmla="*/ 216 h 7774"/>
                <a:gd name="T14" fmla="*/ 1995 w 13029"/>
                <a:gd name="T15" fmla="*/ 403 h 7774"/>
                <a:gd name="T16" fmla="*/ 2260 w 13029"/>
                <a:gd name="T17" fmla="*/ 419 h 7774"/>
                <a:gd name="T18" fmla="*/ 2526 w 13029"/>
                <a:gd name="T19" fmla="*/ 892 h 7774"/>
                <a:gd name="T20" fmla="*/ 2792 w 13029"/>
                <a:gd name="T21" fmla="*/ 1482 h 7774"/>
                <a:gd name="T22" fmla="*/ 3058 w 13029"/>
                <a:gd name="T23" fmla="*/ 1402 h 7774"/>
                <a:gd name="T24" fmla="*/ 3324 w 13029"/>
                <a:gd name="T25" fmla="*/ 1664 h 7774"/>
                <a:gd name="T26" fmla="*/ 3590 w 13029"/>
                <a:gd name="T27" fmla="*/ 1287 h 7774"/>
                <a:gd name="T28" fmla="*/ 3856 w 13029"/>
                <a:gd name="T29" fmla="*/ 1042 h 7774"/>
                <a:gd name="T30" fmla="*/ 4122 w 13029"/>
                <a:gd name="T31" fmla="*/ 743 h 7774"/>
                <a:gd name="T32" fmla="*/ 4388 w 13029"/>
                <a:gd name="T33" fmla="*/ 1347 h 7774"/>
                <a:gd name="T34" fmla="*/ 4653 w 13029"/>
                <a:gd name="T35" fmla="*/ 1868 h 7774"/>
                <a:gd name="T36" fmla="*/ 4919 w 13029"/>
                <a:gd name="T37" fmla="*/ 2131 h 7774"/>
                <a:gd name="T38" fmla="*/ 5185 w 13029"/>
                <a:gd name="T39" fmla="*/ 2481 h 7774"/>
                <a:gd name="T40" fmla="*/ 5451 w 13029"/>
                <a:gd name="T41" fmla="*/ 2912 h 7774"/>
                <a:gd name="T42" fmla="*/ 5717 w 13029"/>
                <a:gd name="T43" fmla="*/ 2589 h 7774"/>
                <a:gd name="T44" fmla="*/ 5983 w 13029"/>
                <a:gd name="T45" fmla="*/ 2992 h 7774"/>
                <a:gd name="T46" fmla="*/ 6249 w 13029"/>
                <a:gd name="T47" fmla="*/ 2743 h 7774"/>
                <a:gd name="T48" fmla="*/ 6515 w 13029"/>
                <a:gd name="T49" fmla="*/ 3272 h 7774"/>
                <a:gd name="T50" fmla="*/ 6780 w 13029"/>
                <a:gd name="T51" fmla="*/ 3965 h 7774"/>
                <a:gd name="T52" fmla="*/ 7046 w 13029"/>
                <a:gd name="T53" fmla="*/ 4357 h 7774"/>
                <a:gd name="T54" fmla="*/ 7312 w 13029"/>
                <a:gd name="T55" fmla="*/ 4037 h 7774"/>
                <a:gd name="T56" fmla="*/ 7578 w 13029"/>
                <a:gd name="T57" fmla="*/ 4399 h 7774"/>
                <a:gd name="T58" fmla="*/ 7844 w 13029"/>
                <a:gd name="T59" fmla="*/ 4401 h 7774"/>
                <a:gd name="T60" fmla="*/ 8110 w 13029"/>
                <a:gd name="T61" fmla="*/ 4443 h 7774"/>
                <a:gd name="T62" fmla="*/ 8376 w 13029"/>
                <a:gd name="T63" fmla="*/ 4040 h 7774"/>
                <a:gd name="T64" fmla="*/ 8642 w 13029"/>
                <a:gd name="T65" fmla="*/ 3828 h 7774"/>
                <a:gd name="T66" fmla="*/ 8908 w 13029"/>
                <a:gd name="T67" fmla="*/ 4452 h 7774"/>
                <a:gd name="T68" fmla="*/ 9173 w 13029"/>
                <a:gd name="T69" fmla="*/ 4514 h 7774"/>
                <a:gd name="T70" fmla="*/ 9439 w 13029"/>
                <a:gd name="T71" fmla="*/ 4117 h 7774"/>
                <a:gd name="T72" fmla="*/ 9705 w 13029"/>
                <a:gd name="T73" fmla="*/ 4655 h 7774"/>
                <a:gd name="T74" fmla="*/ 9971 w 13029"/>
                <a:gd name="T75" fmla="*/ 5489 h 7774"/>
                <a:gd name="T76" fmla="*/ 10237 w 13029"/>
                <a:gd name="T77" fmla="*/ 5906 h 7774"/>
                <a:gd name="T78" fmla="*/ 10503 w 13029"/>
                <a:gd name="T79" fmla="*/ 5158 h 7774"/>
                <a:gd name="T80" fmla="*/ 10769 w 13029"/>
                <a:gd name="T81" fmla="*/ 5432 h 7774"/>
                <a:gd name="T82" fmla="*/ 11035 w 13029"/>
                <a:gd name="T83" fmla="*/ 5535 h 7774"/>
                <a:gd name="T84" fmla="*/ 11300 w 13029"/>
                <a:gd name="T85" fmla="*/ 5730 h 7774"/>
                <a:gd name="T86" fmla="*/ 11566 w 13029"/>
                <a:gd name="T87" fmla="*/ 5624 h 7774"/>
                <a:gd name="T88" fmla="*/ 11832 w 13029"/>
                <a:gd name="T89" fmla="*/ 5994 h 7774"/>
                <a:gd name="T90" fmla="*/ 12098 w 13029"/>
                <a:gd name="T91" fmla="*/ 6210 h 7774"/>
                <a:gd name="T92" fmla="*/ 12364 w 13029"/>
                <a:gd name="T93" fmla="*/ 6133 h 7774"/>
                <a:gd name="T94" fmla="*/ 12630 w 13029"/>
                <a:gd name="T95" fmla="*/ 6273 h 7774"/>
                <a:gd name="T96" fmla="*/ 12896 w 13029"/>
                <a:gd name="T97" fmla="*/ 7140 h 777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3029"/>
                <a:gd name="T148" fmla="*/ 0 h 7774"/>
                <a:gd name="T149" fmla="*/ 13029 w 13029"/>
                <a:gd name="T150" fmla="*/ 7774 h 7774"/>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3029" h="7774">
                  <a:moveTo>
                    <a:pt x="0" y="1022"/>
                  </a:moveTo>
                  <a:lnTo>
                    <a:pt x="133" y="1126"/>
                  </a:lnTo>
                  <a:lnTo>
                    <a:pt x="266" y="594"/>
                  </a:lnTo>
                  <a:lnTo>
                    <a:pt x="399" y="1011"/>
                  </a:lnTo>
                  <a:lnTo>
                    <a:pt x="532" y="642"/>
                  </a:lnTo>
                  <a:lnTo>
                    <a:pt x="665" y="690"/>
                  </a:lnTo>
                  <a:lnTo>
                    <a:pt x="798" y="245"/>
                  </a:lnTo>
                  <a:lnTo>
                    <a:pt x="931" y="412"/>
                  </a:lnTo>
                  <a:lnTo>
                    <a:pt x="1064" y="585"/>
                  </a:lnTo>
                  <a:lnTo>
                    <a:pt x="1197" y="532"/>
                  </a:lnTo>
                  <a:lnTo>
                    <a:pt x="1330" y="693"/>
                  </a:lnTo>
                  <a:lnTo>
                    <a:pt x="1463" y="593"/>
                  </a:lnTo>
                  <a:lnTo>
                    <a:pt x="1596" y="0"/>
                  </a:lnTo>
                  <a:lnTo>
                    <a:pt x="1729" y="216"/>
                  </a:lnTo>
                  <a:lnTo>
                    <a:pt x="1862" y="267"/>
                  </a:lnTo>
                  <a:lnTo>
                    <a:pt x="1995" y="403"/>
                  </a:lnTo>
                  <a:lnTo>
                    <a:pt x="2128" y="216"/>
                  </a:lnTo>
                  <a:lnTo>
                    <a:pt x="2260" y="419"/>
                  </a:lnTo>
                  <a:lnTo>
                    <a:pt x="2393" y="994"/>
                  </a:lnTo>
                  <a:lnTo>
                    <a:pt x="2526" y="892"/>
                  </a:lnTo>
                  <a:lnTo>
                    <a:pt x="2659" y="1018"/>
                  </a:lnTo>
                  <a:lnTo>
                    <a:pt x="2792" y="1482"/>
                  </a:lnTo>
                  <a:lnTo>
                    <a:pt x="2925" y="1461"/>
                  </a:lnTo>
                  <a:lnTo>
                    <a:pt x="3058" y="1402"/>
                  </a:lnTo>
                  <a:lnTo>
                    <a:pt x="3191" y="1515"/>
                  </a:lnTo>
                  <a:lnTo>
                    <a:pt x="3324" y="1664"/>
                  </a:lnTo>
                  <a:lnTo>
                    <a:pt x="3457" y="1709"/>
                  </a:lnTo>
                  <a:lnTo>
                    <a:pt x="3590" y="1287"/>
                  </a:lnTo>
                  <a:lnTo>
                    <a:pt x="3723" y="1132"/>
                  </a:lnTo>
                  <a:lnTo>
                    <a:pt x="3856" y="1042"/>
                  </a:lnTo>
                  <a:lnTo>
                    <a:pt x="3989" y="800"/>
                  </a:lnTo>
                  <a:lnTo>
                    <a:pt x="4122" y="743"/>
                  </a:lnTo>
                  <a:lnTo>
                    <a:pt x="4255" y="1109"/>
                  </a:lnTo>
                  <a:lnTo>
                    <a:pt x="4388" y="1347"/>
                  </a:lnTo>
                  <a:lnTo>
                    <a:pt x="4520" y="1915"/>
                  </a:lnTo>
                  <a:lnTo>
                    <a:pt x="4653" y="1868"/>
                  </a:lnTo>
                  <a:lnTo>
                    <a:pt x="4786" y="2116"/>
                  </a:lnTo>
                  <a:lnTo>
                    <a:pt x="4919" y="2131"/>
                  </a:lnTo>
                  <a:lnTo>
                    <a:pt x="5052" y="2135"/>
                  </a:lnTo>
                  <a:lnTo>
                    <a:pt x="5185" y="2481"/>
                  </a:lnTo>
                  <a:lnTo>
                    <a:pt x="5318" y="2548"/>
                  </a:lnTo>
                  <a:lnTo>
                    <a:pt x="5451" y="2912"/>
                  </a:lnTo>
                  <a:lnTo>
                    <a:pt x="5584" y="2621"/>
                  </a:lnTo>
                  <a:lnTo>
                    <a:pt x="5717" y="2589"/>
                  </a:lnTo>
                  <a:lnTo>
                    <a:pt x="5850" y="2690"/>
                  </a:lnTo>
                  <a:lnTo>
                    <a:pt x="5983" y="2992"/>
                  </a:lnTo>
                  <a:lnTo>
                    <a:pt x="6116" y="2453"/>
                  </a:lnTo>
                  <a:lnTo>
                    <a:pt x="6249" y="2743"/>
                  </a:lnTo>
                  <a:lnTo>
                    <a:pt x="6382" y="3346"/>
                  </a:lnTo>
                  <a:lnTo>
                    <a:pt x="6515" y="3272"/>
                  </a:lnTo>
                  <a:lnTo>
                    <a:pt x="6648" y="3738"/>
                  </a:lnTo>
                  <a:lnTo>
                    <a:pt x="6780" y="3965"/>
                  </a:lnTo>
                  <a:lnTo>
                    <a:pt x="6913" y="3745"/>
                  </a:lnTo>
                  <a:lnTo>
                    <a:pt x="7046" y="4357"/>
                  </a:lnTo>
                  <a:lnTo>
                    <a:pt x="7179" y="4458"/>
                  </a:lnTo>
                  <a:lnTo>
                    <a:pt x="7312" y="4037"/>
                  </a:lnTo>
                  <a:lnTo>
                    <a:pt x="7445" y="4311"/>
                  </a:lnTo>
                  <a:lnTo>
                    <a:pt x="7578" y="4399"/>
                  </a:lnTo>
                  <a:lnTo>
                    <a:pt x="7711" y="4194"/>
                  </a:lnTo>
                  <a:lnTo>
                    <a:pt x="7844" y="4401"/>
                  </a:lnTo>
                  <a:lnTo>
                    <a:pt x="7977" y="4198"/>
                  </a:lnTo>
                  <a:lnTo>
                    <a:pt x="8110" y="4443"/>
                  </a:lnTo>
                  <a:lnTo>
                    <a:pt x="8243" y="4401"/>
                  </a:lnTo>
                  <a:lnTo>
                    <a:pt x="8376" y="4040"/>
                  </a:lnTo>
                  <a:lnTo>
                    <a:pt x="8509" y="4134"/>
                  </a:lnTo>
                  <a:lnTo>
                    <a:pt x="8642" y="3828"/>
                  </a:lnTo>
                  <a:lnTo>
                    <a:pt x="8775" y="3811"/>
                  </a:lnTo>
                  <a:lnTo>
                    <a:pt x="8908" y="4452"/>
                  </a:lnTo>
                  <a:lnTo>
                    <a:pt x="9040" y="4061"/>
                  </a:lnTo>
                  <a:lnTo>
                    <a:pt x="9173" y="4514"/>
                  </a:lnTo>
                  <a:lnTo>
                    <a:pt x="9306" y="4384"/>
                  </a:lnTo>
                  <a:lnTo>
                    <a:pt x="9439" y="4117"/>
                  </a:lnTo>
                  <a:lnTo>
                    <a:pt x="9572" y="4278"/>
                  </a:lnTo>
                  <a:lnTo>
                    <a:pt x="9705" y="4655"/>
                  </a:lnTo>
                  <a:lnTo>
                    <a:pt x="9838" y="4973"/>
                  </a:lnTo>
                  <a:lnTo>
                    <a:pt x="9971" y="5489"/>
                  </a:lnTo>
                  <a:lnTo>
                    <a:pt x="10104" y="5602"/>
                  </a:lnTo>
                  <a:lnTo>
                    <a:pt x="10237" y="5906"/>
                  </a:lnTo>
                  <a:lnTo>
                    <a:pt x="10370" y="5554"/>
                  </a:lnTo>
                  <a:lnTo>
                    <a:pt x="10503" y="5158"/>
                  </a:lnTo>
                  <a:lnTo>
                    <a:pt x="10636" y="5067"/>
                  </a:lnTo>
                  <a:lnTo>
                    <a:pt x="10769" y="5432"/>
                  </a:lnTo>
                  <a:lnTo>
                    <a:pt x="10902" y="5390"/>
                  </a:lnTo>
                  <a:lnTo>
                    <a:pt x="11035" y="5535"/>
                  </a:lnTo>
                  <a:lnTo>
                    <a:pt x="11168" y="5350"/>
                  </a:lnTo>
                  <a:lnTo>
                    <a:pt x="11300" y="5730"/>
                  </a:lnTo>
                  <a:lnTo>
                    <a:pt x="11433" y="5857"/>
                  </a:lnTo>
                  <a:lnTo>
                    <a:pt x="11566" y="5624"/>
                  </a:lnTo>
                  <a:lnTo>
                    <a:pt x="11699" y="6312"/>
                  </a:lnTo>
                  <a:lnTo>
                    <a:pt x="11832" y="5994"/>
                  </a:lnTo>
                  <a:lnTo>
                    <a:pt x="11965" y="6638"/>
                  </a:lnTo>
                  <a:lnTo>
                    <a:pt x="12098" y="6210"/>
                  </a:lnTo>
                  <a:lnTo>
                    <a:pt x="12231" y="6076"/>
                  </a:lnTo>
                  <a:lnTo>
                    <a:pt x="12364" y="6133"/>
                  </a:lnTo>
                  <a:lnTo>
                    <a:pt x="12497" y="6019"/>
                  </a:lnTo>
                  <a:lnTo>
                    <a:pt x="12630" y="6273"/>
                  </a:lnTo>
                  <a:lnTo>
                    <a:pt x="12763" y="6779"/>
                  </a:lnTo>
                  <a:lnTo>
                    <a:pt x="12896" y="7140"/>
                  </a:lnTo>
                  <a:lnTo>
                    <a:pt x="13029" y="7774"/>
                  </a:lnTo>
                </a:path>
              </a:pathLst>
            </a:custGeom>
            <a:ln>
              <a:headEnd/>
              <a:tailEnd/>
            </a:ln>
          </p:spPr>
          <p:style>
            <a:lnRef idx="1">
              <a:schemeClr val="accent2"/>
            </a:lnRef>
            <a:fillRef idx="0">
              <a:schemeClr val="accent2"/>
            </a:fillRef>
            <a:effectRef idx="0">
              <a:schemeClr val="accent2"/>
            </a:effectRef>
            <a:fontRef idx="minor">
              <a:schemeClr val="tx1"/>
            </a:fontRef>
          </p:style>
          <p:txBody>
            <a:bodyPr/>
            <a:lstStyle/>
            <a:p>
              <a:endParaRPr lang="en-US" dirty="0">
                <a:noFill/>
              </a:endParaRPr>
            </a:p>
          </p:txBody>
        </p:sp>
        <p:sp>
          <p:nvSpPr>
            <p:cNvPr id="122" name="Line 126"/>
            <p:cNvSpPr>
              <a:spLocks noChangeShapeType="1"/>
            </p:cNvSpPr>
            <p:nvPr/>
          </p:nvSpPr>
          <p:spPr bwMode="auto">
            <a:xfrm>
              <a:off x="978" y="1466"/>
              <a:ext cx="181" cy="1"/>
            </a:xfrm>
            <a:prstGeom prst="line">
              <a:avLst/>
            </a:prstGeom>
            <a:ln>
              <a:headEnd/>
              <a:tailEnd/>
            </a:ln>
          </p:spPr>
          <p:style>
            <a:lnRef idx="1">
              <a:schemeClr val="accent2"/>
            </a:lnRef>
            <a:fillRef idx="0">
              <a:schemeClr val="accent2"/>
            </a:fillRef>
            <a:effectRef idx="0">
              <a:schemeClr val="accent2"/>
            </a:effectRef>
            <a:fontRef idx="minor">
              <a:schemeClr val="tx1"/>
            </a:fontRef>
          </p:style>
          <p:txBody>
            <a:bodyPr/>
            <a:lstStyle/>
            <a:p>
              <a:endParaRPr lang="en-US"/>
            </a:p>
          </p:txBody>
        </p:sp>
        <p:sp>
          <p:nvSpPr>
            <p:cNvPr id="123" name="Rectangle 127"/>
            <p:cNvSpPr>
              <a:spLocks noChangeArrowheads="1"/>
            </p:cNvSpPr>
            <p:nvPr/>
          </p:nvSpPr>
          <p:spPr bwMode="auto">
            <a:xfrm>
              <a:off x="1189" y="1422"/>
              <a:ext cx="78" cy="96"/>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lIns="0" tIns="0" rIns="0" bIns="0">
              <a:spAutoFit/>
            </a:bodyPr>
            <a:lstStyle/>
            <a:p>
              <a:pPr algn="l"/>
              <a:r>
                <a:rPr lang="en-US" sz="1000" dirty="0">
                  <a:latin typeface="Times New Roman" pitchFamily="18" charset="0"/>
                </a:rPr>
                <a:t>X </a:t>
              </a:r>
              <a:endParaRPr lang="en-US" dirty="0"/>
            </a:p>
          </p:txBody>
        </p:sp>
        <p:sp>
          <p:nvSpPr>
            <p:cNvPr id="124" name="Line 128"/>
            <p:cNvSpPr>
              <a:spLocks noChangeShapeType="1"/>
            </p:cNvSpPr>
            <p:nvPr/>
          </p:nvSpPr>
          <p:spPr bwMode="auto">
            <a:xfrm>
              <a:off x="1306" y="1466"/>
              <a:ext cx="181" cy="1"/>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a:lstStyle/>
            <a:p>
              <a:endParaRPr lang="en-US"/>
            </a:p>
          </p:txBody>
        </p:sp>
        <p:sp>
          <p:nvSpPr>
            <p:cNvPr id="125" name="Rectangle 129"/>
            <p:cNvSpPr>
              <a:spLocks noChangeArrowheads="1"/>
            </p:cNvSpPr>
            <p:nvPr/>
          </p:nvSpPr>
          <p:spPr bwMode="auto">
            <a:xfrm>
              <a:off x="1518" y="1422"/>
              <a:ext cx="78" cy="96"/>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lIns="0" tIns="0" rIns="0" bIns="0">
              <a:spAutoFit/>
            </a:bodyPr>
            <a:lstStyle/>
            <a:p>
              <a:pPr algn="l"/>
              <a:r>
                <a:rPr lang="en-US" sz="1000">
                  <a:latin typeface="Times New Roman" pitchFamily="18" charset="0"/>
                </a:rPr>
                <a:t>Y </a:t>
              </a:r>
              <a:endParaRPr lang="en-US"/>
            </a:p>
          </p:txBody>
        </p:sp>
        <p:sp>
          <p:nvSpPr>
            <p:cNvPr id="126" name="Rectangle 130"/>
            <p:cNvSpPr>
              <a:spLocks noChangeArrowheads="1"/>
            </p:cNvSpPr>
            <p:nvPr/>
          </p:nvSpPr>
          <p:spPr bwMode="auto">
            <a:xfrm>
              <a:off x="947" y="1412"/>
              <a:ext cx="733" cy="124"/>
            </a:xfrm>
            <a:prstGeom prst="rect">
              <a:avLst/>
            </a:prstGeom>
            <a:noFill/>
            <a:ln>
              <a:headEnd/>
              <a:tailEnd/>
            </a:ln>
          </p:spPr>
          <p:style>
            <a:lnRef idx="1">
              <a:schemeClr val="accent4"/>
            </a:lnRef>
            <a:fillRef idx="2">
              <a:schemeClr val="accent4"/>
            </a:fillRef>
            <a:effectRef idx="1">
              <a:schemeClr val="accent4"/>
            </a:effectRef>
            <a:fontRef idx="minor">
              <a:schemeClr val="dk1"/>
            </a:fontRef>
          </p:style>
          <p:txBody>
            <a:bodyPr/>
            <a:lstStyle/>
            <a:p>
              <a:endParaRPr lang="en-US"/>
            </a:p>
          </p:txBody>
        </p:sp>
      </p:grpSp>
      <p:sp>
        <p:nvSpPr>
          <p:cNvPr id="127" name="TextBox 126"/>
          <p:cNvSpPr txBox="1"/>
          <p:nvPr/>
        </p:nvSpPr>
        <p:spPr>
          <a:xfrm>
            <a:off x="1828800" y="1066800"/>
            <a:ext cx="5562600" cy="523220"/>
          </a:xfrm>
          <a:prstGeom prst="rect">
            <a:avLst/>
          </a:prstGeom>
          <a:noFill/>
        </p:spPr>
        <p:txBody>
          <a:bodyPr wrap="square" rtlCol="0">
            <a:spAutoFit/>
          </a:bodyPr>
          <a:lstStyle/>
          <a:p>
            <a:pPr algn="ctr"/>
            <a:r>
              <a:rPr lang="en-US" sz="2800" b="1" dirty="0" smtClean="0">
                <a:latin typeface="Times New Roman" pitchFamily="18" charset="0"/>
                <a:cs typeface="Times New Roman" pitchFamily="18" charset="0"/>
              </a:rPr>
              <a:t>Two </a:t>
            </a:r>
            <a:r>
              <a:rPr lang="en-US" sz="2800" b="1" dirty="0" err="1" smtClean="0">
                <a:latin typeface="Times New Roman" pitchFamily="18" charset="0"/>
                <a:cs typeface="Times New Roman" pitchFamily="18" charset="0"/>
              </a:rPr>
              <a:t>Cointegrated</a:t>
            </a:r>
            <a:r>
              <a:rPr lang="en-US" sz="2800" b="1" dirty="0" smtClean="0">
                <a:latin typeface="Times New Roman" pitchFamily="18" charset="0"/>
                <a:cs typeface="Times New Roman" pitchFamily="18" charset="0"/>
              </a:rPr>
              <a:t> Time series</a:t>
            </a:r>
            <a:endParaRPr lang="en-US" sz="2800" b="1" dirty="0">
              <a:latin typeface="Times New Roman" pitchFamily="18" charset="0"/>
              <a:cs typeface="Times New Roman" pitchFamily="18" charset="0"/>
            </a:endParaRPr>
          </a:p>
        </p:txBody>
      </p:sp>
    </p:spTree>
    <p:extLst>
      <p:ext uri="{BB962C8B-B14F-4D97-AF65-F5344CB8AC3E}">
        <p14:creationId xmlns:p14="http://schemas.microsoft.com/office/powerpoint/2010/main" val="9377422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IN" smtClean="0"/>
              <a:t>Case study</a:t>
            </a:r>
          </a:p>
        </p:txBody>
      </p:sp>
      <p:sp>
        <p:nvSpPr>
          <p:cNvPr id="9219" name="Content Placeholder 2"/>
          <p:cNvSpPr>
            <a:spLocks noGrp="1"/>
          </p:cNvSpPr>
          <p:nvPr>
            <p:ph idx="1"/>
          </p:nvPr>
        </p:nvSpPr>
        <p:spPr/>
        <p:txBody>
          <a:bodyPr/>
          <a:lstStyle/>
          <a:p>
            <a:r>
              <a:rPr lang="en-IN" dirty="0" smtClean="0"/>
              <a:t>Predict GNP of our country</a:t>
            </a:r>
          </a:p>
          <a:p>
            <a:pPr lvl="1"/>
            <a:r>
              <a:rPr lang="en-IN" dirty="0" smtClean="0"/>
              <a:t>Past values?</a:t>
            </a:r>
          </a:p>
          <a:p>
            <a:r>
              <a:rPr lang="en-IN" dirty="0" smtClean="0"/>
              <a:t>Should I consider the Inflation?</a:t>
            </a:r>
          </a:p>
          <a:p>
            <a:r>
              <a:rPr lang="en-IN" dirty="0" smtClean="0"/>
              <a:t>Is there a casual relationship?</a:t>
            </a:r>
          </a:p>
          <a:p>
            <a:r>
              <a:rPr lang="en-IN" dirty="0" smtClean="0"/>
              <a:t>Should I include  past values of Inflation?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normAutofit fontScale="90000"/>
          </a:bodyPr>
          <a:lstStyle/>
          <a:p>
            <a:r>
              <a:rPr lang="en-IN" smtClean="0"/>
              <a:t>Modeling data - </a:t>
            </a:r>
            <a:r>
              <a:rPr lang="en-IN" smtClean="0">
                <a:solidFill>
                  <a:schemeClr val="tx1"/>
                </a:solidFill>
              </a:rPr>
              <a:t>understand the dynamics of the data</a:t>
            </a:r>
            <a:endParaRPr lang="en-IN" smtClean="0"/>
          </a:p>
        </p:txBody>
      </p:sp>
      <p:sp>
        <p:nvSpPr>
          <p:cNvPr id="3" name="Content Placeholder 2"/>
          <p:cNvSpPr>
            <a:spLocks noGrp="1"/>
          </p:cNvSpPr>
          <p:nvPr>
            <p:ph idx="1"/>
          </p:nvPr>
        </p:nvSpPr>
        <p:spPr>
          <a:xfrm>
            <a:off x="1143000" y="1752600"/>
            <a:ext cx="7812088" cy="4379913"/>
          </a:xfrm>
        </p:spPr>
        <p:txBody>
          <a:bodyPr>
            <a:normAutofit lnSpcReduction="10000"/>
          </a:bodyPr>
          <a:lstStyle/>
          <a:p>
            <a:pPr>
              <a:defRPr/>
            </a:pPr>
            <a:r>
              <a:rPr lang="en-IN" sz="2400" dirty="0" smtClean="0"/>
              <a:t>Multivariate</a:t>
            </a:r>
          </a:p>
          <a:p>
            <a:pPr lvl="1">
              <a:defRPr/>
            </a:pPr>
            <a:r>
              <a:rPr lang="en-IN" sz="2000" dirty="0" err="1" smtClean="0">
                <a:ea typeface="+mn-ea"/>
                <a:cs typeface="+mn-cs"/>
              </a:rPr>
              <a:t>GNP</a:t>
            </a:r>
            <a:r>
              <a:rPr lang="en-IN" sz="2000" baseline="-25000" dirty="0" err="1" smtClean="0">
                <a:ea typeface="+mn-ea"/>
                <a:cs typeface="+mn-cs"/>
              </a:rPr>
              <a:t>t</a:t>
            </a:r>
            <a:r>
              <a:rPr lang="en-IN" sz="2000" dirty="0" smtClean="0">
                <a:ea typeface="+mn-ea"/>
                <a:cs typeface="+mn-cs"/>
              </a:rPr>
              <a:t>=f(Inflation, Money supply,---)</a:t>
            </a:r>
          </a:p>
          <a:p>
            <a:pPr lvl="1">
              <a:defRPr/>
            </a:pPr>
            <a:endParaRPr lang="en-IN" sz="2000" dirty="0" smtClean="0">
              <a:ea typeface="+mn-ea"/>
              <a:cs typeface="+mn-cs"/>
            </a:endParaRPr>
          </a:p>
          <a:p>
            <a:pPr lvl="1">
              <a:defRPr/>
            </a:pPr>
            <a:r>
              <a:rPr lang="en-IN" sz="2000" dirty="0" err="1" smtClean="0"/>
              <a:t>GNP</a:t>
            </a:r>
            <a:r>
              <a:rPr lang="en-IN" sz="2000" baseline="-25000" dirty="0" err="1" smtClean="0"/>
              <a:t>t</a:t>
            </a:r>
            <a:r>
              <a:rPr lang="en-IN" sz="2000" dirty="0" smtClean="0"/>
              <a:t>=f (GNP</a:t>
            </a:r>
            <a:r>
              <a:rPr lang="en-IN" sz="2000" baseline="-25000" dirty="0" smtClean="0"/>
              <a:t>t-1, </a:t>
            </a:r>
            <a:r>
              <a:rPr lang="en-IN" sz="2000" dirty="0" smtClean="0"/>
              <a:t>Inflation, Money supply, ...)</a:t>
            </a:r>
          </a:p>
          <a:p>
            <a:pPr lvl="1">
              <a:defRPr/>
            </a:pPr>
            <a:r>
              <a:rPr lang="en-IN" sz="2000" dirty="0" err="1" smtClean="0"/>
              <a:t>INF</a:t>
            </a:r>
            <a:r>
              <a:rPr lang="en-IN" sz="2000" baseline="-25000" dirty="0" err="1" smtClean="0"/>
              <a:t>t</a:t>
            </a:r>
            <a:r>
              <a:rPr lang="en-IN" sz="2000" dirty="0" smtClean="0"/>
              <a:t>=f(INF</a:t>
            </a:r>
            <a:r>
              <a:rPr lang="en-IN" sz="2000" baseline="-25000" dirty="0" smtClean="0"/>
              <a:t>t-1, </a:t>
            </a:r>
            <a:r>
              <a:rPr lang="en-IN" sz="2000" dirty="0" err="1" smtClean="0"/>
              <a:t>GNP</a:t>
            </a:r>
            <a:r>
              <a:rPr lang="en-IN" sz="2000" baseline="-25000" dirty="0" err="1" smtClean="0"/>
              <a:t>t</a:t>
            </a:r>
            <a:r>
              <a:rPr lang="en-IN" sz="2000" dirty="0" smtClean="0"/>
              <a:t>, Money supply, ...)</a:t>
            </a:r>
          </a:p>
          <a:p>
            <a:pPr lvl="1">
              <a:defRPr/>
            </a:pPr>
            <a:r>
              <a:rPr lang="en-US" sz="2000" dirty="0" smtClean="0"/>
              <a:t>Money Supply = f(GNP)</a:t>
            </a:r>
            <a:endParaRPr lang="en-IN" sz="2000" dirty="0" smtClean="0"/>
          </a:p>
          <a:p>
            <a:pPr lvl="2">
              <a:buFont typeface="Wingdings" pitchFamily="2" charset="2"/>
              <a:buNone/>
              <a:defRPr/>
            </a:pPr>
            <a:endParaRPr lang="en-IN" sz="2000" dirty="0" smtClean="0"/>
          </a:p>
          <a:p>
            <a:pPr lvl="1">
              <a:defRPr/>
            </a:pPr>
            <a:r>
              <a:rPr lang="en-IN" sz="2000" dirty="0" err="1" smtClean="0"/>
              <a:t>GNP</a:t>
            </a:r>
            <a:r>
              <a:rPr lang="en-IN" sz="2000" baseline="-25000" dirty="0" err="1" smtClean="0"/>
              <a:t>t</a:t>
            </a:r>
            <a:r>
              <a:rPr lang="en-IN" sz="2000" dirty="0" smtClean="0"/>
              <a:t>=f (GNP</a:t>
            </a:r>
            <a:r>
              <a:rPr lang="en-IN" sz="2000" baseline="-25000" dirty="0" smtClean="0"/>
              <a:t>t-1</a:t>
            </a:r>
            <a:r>
              <a:rPr lang="en-IN" sz="2000" dirty="0" smtClean="0"/>
              <a:t>, GNP</a:t>
            </a:r>
            <a:r>
              <a:rPr lang="en-IN" sz="2000" baseline="-25000" dirty="0" smtClean="0"/>
              <a:t>t-2</a:t>
            </a:r>
            <a:r>
              <a:rPr lang="en-IN" sz="2000" dirty="0" smtClean="0"/>
              <a:t>, Inflation</a:t>
            </a:r>
            <a:r>
              <a:rPr lang="en-IN" sz="2000" baseline="-25000" dirty="0" smtClean="0"/>
              <a:t>t-1</a:t>
            </a:r>
            <a:r>
              <a:rPr lang="en-IN" sz="2000" dirty="0" smtClean="0"/>
              <a:t>, Inflation</a:t>
            </a:r>
            <a:r>
              <a:rPr lang="en-IN" sz="2000" baseline="-25000" dirty="0" smtClean="0"/>
              <a:t>t-2</a:t>
            </a:r>
            <a:r>
              <a:rPr lang="en-IN" sz="2000" dirty="0" smtClean="0"/>
              <a:t>)</a:t>
            </a:r>
          </a:p>
          <a:p>
            <a:pPr lvl="1">
              <a:defRPr/>
            </a:pPr>
            <a:r>
              <a:rPr lang="en-IN" sz="2000" dirty="0" err="1" smtClean="0"/>
              <a:t>INF</a:t>
            </a:r>
            <a:r>
              <a:rPr lang="en-IN" sz="2000" baseline="-25000" dirty="0" err="1" smtClean="0"/>
              <a:t>t</a:t>
            </a:r>
            <a:r>
              <a:rPr lang="en-IN" sz="2000" dirty="0" smtClean="0"/>
              <a:t>=f (GNP</a:t>
            </a:r>
            <a:r>
              <a:rPr lang="en-IN" sz="2000" baseline="-25000" dirty="0" smtClean="0"/>
              <a:t>t-1</a:t>
            </a:r>
            <a:r>
              <a:rPr lang="en-IN" sz="2000" dirty="0" smtClean="0"/>
              <a:t>, GNP</a:t>
            </a:r>
            <a:r>
              <a:rPr lang="en-IN" sz="2000" baseline="-25000" dirty="0" smtClean="0"/>
              <a:t>t-2</a:t>
            </a:r>
            <a:r>
              <a:rPr lang="en-IN" sz="2000" dirty="0" smtClean="0"/>
              <a:t>, Inflation</a:t>
            </a:r>
            <a:r>
              <a:rPr lang="en-IN" sz="2000" baseline="-25000" dirty="0" smtClean="0"/>
              <a:t>t-1</a:t>
            </a:r>
            <a:r>
              <a:rPr lang="en-IN" sz="2000" dirty="0" smtClean="0"/>
              <a:t>, Inflation</a:t>
            </a:r>
            <a:r>
              <a:rPr lang="en-IN" sz="2000" baseline="-25000" dirty="0" smtClean="0"/>
              <a:t>t-2</a:t>
            </a:r>
            <a:r>
              <a:rPr lang="en-IN" sz="2000" dirty="0" smtClean="0"/>
              <a:t>)</a:t>
            </a:r>
          </a:p>
          <a:p>
            <a:pPr lvl="1">
              <a:defRPr/>
            </a:pPr>
            <a:endParaRPr lang="en-IN" sz="2000" dirty="0" smtClean="0"/>
          </a:p>
          <a:p>
            <a:pPr lvl="1">
              <a:defRPr/>
            </a:pPr>
            <a:r>
              <a:rPr lang="en-IN" sz="2000" dirty="0" err="1" smtClean="0"/>
              <a:t>GNP</a:t>
            </a:r>
            <a:r>
              <a:rPr lang="en-IN" sz="2000" baseline="-25000" dirty="0" err="1" smtClean="0"/>
              <a:t>t</a:t>
            </a:r>
            <a:r>
              <a:rPr lang="en-IN" sz="2000" dirty="0" smtClean="0"/>
              <a:t>=f ( Long run rel.,GNP</a:t>
            </a:r>
            <a:r>
              <a:rPr lang="en-IN" sz="2000" baseline="-25000" dirty="0" smtClean="0"/>
              <a:t>t-1</a:t>
            </a:r>
            <a:r>
              <a:rPr lang="en-IN" sz="2000" dirty="0" smtClean="0"/>
              <a:t>, GNP</a:t>
            </a:r>
            <a:r>
              <a:rPr lang="en-IN" sz="2000" baseline="-25000" dirty="0" smtClean="0"/>
              <a:t>t-2</a:t>
            </a:r>
            <a:r>
              <a:rPr lang="en-IN" sz="2000" dirty="0" smtClean="0"/>
              <a:t>, INF</a:t>
            </a:r>
            <a:r>
              <a:rPr lang="en-IN" sz="2000" baseline="-25000" dirty="0" smtClean="0"/>
              <a:t>t-1</a:t>
            </a:r>
            <a:r>
              <a:rPr lang="en-IN" sz="2000" dirty="0" smtClean="0"/>
              <a:t>, Inf</a:t>
            </a:r>
            <a:r>
              <a:rPr lang="en-IN" sz="2000" baseline="-25000" dirty="0" smtClean="0"/>
              <a:t>t-2</a:t>
            </a:r>
            <a:r>
              <a:rPr lang="en-IN" sz="2000" dirty="0" smtClean="0"/>
              <a:t>)</a:t>
            </a:r>
          </a:p>
          <a:p>
            <a:pPr lvl="1">
              <a:defRPr/>
            </a:pPr>
            <a:r>
              <a:rPr lang="en-IN" sz="2000" dirty="0" err="1" smtClean="0"/>
              <a:t>INF</a:t>
            </a:r>
            <a:r>
              <a:rPr lang="en-IN" sz="2000" baseline="-25000" dirty="0" err="1" smtClean="0"/>
              <a:t>t</a:t>
            </a:r>
            <a:r>
              <a:rPr lang="en-IN" sz="2000" dirty="0" smtClean="0"/>
              <a:t>=f ( Long run rel.,GNP</a:t>
            </a:r>
            <a:r>
              <a:rPr lang="en-IN" sz="2000" baseline="-25000" dirty="0" smtClean="0"/>
              <a:t>t-1</a:t>
            </a:r>
            <a:r>
              <a:rPr lang="en-IN" sz="2000" dirty="0" smtClean="0"/>
              <a:t>, GNP</a:t>
            </a:r>
            <a:r>
              <a:rPr lang="en-IN" sz="2000" baseline="-25000" dirty="0" smtClean="0"/>
              <a:t>t-2</a:t>
            </a:r>
            <a:r>
              <a:rPr lang="en-IN" sz="2000" dirty="0" smtClean="0"/>
              <a:t>, INF</a:t>
            </a:r>
            <a:r>
              <a:rPr lang="en-IN" sz="2000" baseline="-25000" dirty="0" smtClean="0"/>
              <a:t>t-1</a:t>
            </a:r>
            <a:r>
              <a:rPr lang="en-IN" sz="2000" dirty="0" smtClean="0"/>
              <a:t>, INF</a:t>
            </a:r>
            <a:r>
              <a:rPr lang="en-IN" sz="2000" baseline="-25000" dirty="0" smtClean="0"/>
              <a:t>t-2</a:t>
            </a:r>
            <a:r>
              <a:rPr lang="en-IN" sz="2000" dirty="0" smtClean="0"/>
              <a:t>)</a:t>
            </a:r>
          </a:p>
          <a:p>
            <a:pPr lvl="1">
              <a:defRPr/>
            </a:pPr>
            <a:endParaRPr lang="en-IN" sz="2000" dirty="0" smtClean="0"/>
          </a:p>
          <a:p>
            <a:pPr lvl="1">
              <a:defRPr/>
            </a:pPr>
            <a:endParaRPr lang="en-IN" sz="2000" dirty="0" smtClean="0"/>
          </a:p>
          <a:p>
            <a:pPr lvl="1">
              <a:defRPr/>
            </a:pPr>
            <a:endParaRPr lang="en-IN" sz="2000" dirty="0" smtClean="0"/>
          </a:p>
          <a:p>
            <a:pPr>
              <a:defRPr/>
            </a:pPr>
            <a:endParaRPr lang="en-IN"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normAutofit fontScale="90000"/>
          </a:bodyPr>
          <a:lstStyle/>
          <a:p>
            <a:r>
              <a:rPr lang="en-IN" smtClean="0"/>
              <a:t>Modeling data - </a:t>
            </a:r>
            <a:r>
              <a:rPr lang="en-IN" smtClean="0">
                <a:solidFill>
                  <a:schemeClr val="tx1"/>
                </a:solidFill>
              </a:rPr>
              <a:t>understand the dynamics of the data</a:t>
            </a:r>
            <a:endParaRPr lang="en-IN" smtClean="0"/>
          </a:p>
        </p:txBody>
      </p:sp>
      <p:sp>
        <p:nvSpPr>
          <p:cNvPr id="3" name="Content Placeholder 2"/>
          <p:cNvSpPr>
            <a:spLocks noGrp="1"/>
          </p:cNvSpPr>
          <p:nvPr>
            <p:ph idx="1"/>
          </p:nvPr>
        </p:nvSpPr>
        <p:spPr>
          <a:xfrm>
            <a:off x="1143000" y="1752600"/>
            <a:ext cx="7812088" cy="4379913"/>
          </a:xfrm>
        </p:spPr>
        <p:txBody>
          <a:bodyPr>
            <a:normAutofit lnSpcReduction="10000"/>
          </a:bodyPr>
          <a:lstStyle/>
          <a:p>
            <a:pPr>
              <a:defRPr/>
            </a:pPr>
            <a:r>
              <a:rPr lang="en-IN" sz="2400" dirty="0" smtClean="0"/>
              <a:t>Multivariate</a:t>
            </a:r>
          </a:p>
          <a:p>
            <a:pPr lvl="1">
              <a:defRPr/>
            </a:pPr>
            <a:r>
              <a:rPr lang="en-IN" sz="2000" dirty="0" err="1" smtClean="0">
                <a:ea typeface="+mn-ea"/>
                <a:cs typeface="+mn-cs"/>
              </a:rPr>
              <a:t>GNP</a:t>
            </a:r>
            <a:r>
              <a:rPr lang="en-IN" sz="2000" baseline="-25000" dirty="0" err="1" smtClean="0">
                <a:ea typeface="+mn-ea"/>
                <a:cs typeface="+mn-cs"/>
              </a:rPr>
              <a:t>t</a:t>
            </a:r>
            <a:r>
              <a:rPr lang="en-IN" sz="2000" dirty="0" smtClean="0">
                <a:ea typeface="+mn-ea"/>
                <a:cs typeface="+mn-cs"/>
              </a:rPr>
              <a:t>=f(Inflation, Money supply,---)  - </a:t>
            </a:r>
            <a:r>
              <a:rPr lang="en-IN" sz="2000" dirty="0" smtClean="0">
                <a:solidFill>
                  <a:srgbClr val="9933FF"/>
                </a:solidFill>
                <a:ea typeface="+mn-ea"/>
                <a:cs typeface="+mn-cs"/>
              </a:rPr>
              <a:t>Multiple regression</a:t>
            </a:r>
          </a:p>
          <a:p>
            <a:pPr lvl="1">
              <a:buFont typeface="Wingdings" pitchFamily="2" charset="2"/>
              <a:buNone/>
              <a:defRPr/>
            </a:pPr>
            <a:r>
              <a:rPr lang="en-IN" sz="2000" dirty="0" smtClean="0">
                <a:solidFill>
                  <a:srgbClr val="9933FF"/>
                </a:solidFill>
                <a:ea typeface="+mn-ea"/>
                <a:cs typeface="+mn-cs"/>
              </a:rPr>
              <a:t>Simultaneous Equation</a:t>
            </a:r>
          </a:p>
          <a:p>
            <a:pPr lvl="1">
              <a:defRPr/>
            </a:pPr>
            <a:r>
              <a:rPr lang="en-IN" sz="2000" dirty="0" err="1"/>
              <a:t>GNP</a:t>
            </a:r>
            <a:r>
              <a:rPr lang="en-IN" sz="2000" baseline="-25000" dirty="0" err="1"/>
              <a:t>t</a:t>
            </a:r>
            <a:r>
              <a:rPr lang="en-IN" sz="2000" dirty="0"/>
              <a:t>=f (GNP</a:t>
            </a:r>
            <a:r>
              <a:rPr lang="en-IN" sz="2000" baseline="-25000" dirty="0"/>
              <a:t>t-1</a:t>
            </a:r>
            <a:r>
              <a:rPr lang="en-IN" sz="2000" baseline="-25000" dirty="0" smtClean="0"/>
              <a:t>, …, </a:t>
            </a:r>
            <a:r>
              <a:rPr lang="en-IN" sz="2000" dirty="0"/>
              <a:t>Inflation, Money supply, ...)</a:t>
            </a:r>
          </a:p>
          <a:p>
            <a:pPr lvl="1">
              <a:defRPr/>
            </a:pPr>
            <a:r>
              <a:rPr lang="en-IN" sz="2000" dirty="0" err="1"/>
              <a:t>INF</a:t>
            </a:r>
            <a:r>
              <a:rPr lang="en-IN" sz="2000" baseline="-25000" dirty="0" err="1"/>
              <a:t>t</a:t>
            </a:r>
            <a:r>
              <a:rPr lang="en-IN" sz="2000" dirty="0"/>
              <a:t>=f(INF</a:t>
            </a:r>
            <a:r>
              <a:rPr lang="en-IN" sz="2000" baseline="-25000" dirty="0"/>
              <a:t>t-1</a:t>
            </a:r>
            <a:r>
              <a:rPr lang="en-IN" sz="2000" baseline="-25000" dirty="0" smtClean="0"/>
              <a:t>, …,  </a:t>
            </a:r>
            <a:r>
              <a:rPr lang="en-IN" sz="2000" dirty="0" err="1"/>
              <a:t>GNP</a:t>
            </a:r>
            <a:r>
              <a:rPr lang="en-IN" sz="2000" baseline="-25000" dirty="0" err="1"/>
              <a:t>t</a:t>
            </a:r>
            <a:r>
              <a:rPr lang="en-IN" sz="2000" dirty="0"/>
              <a:t>, Money supply, ...)</a:t>
            </a:r>
          </a:p>
          <a:p>
            <a:pPr lvl="1">
              <a:defRPr/>
            </a:pPr>
            <a:r>
              <a:rPr lang="en-US" sz="2000" dirty="0"/>
              <a:t>Money Supply = f(GNP)</a:t>
            </a:r>
            <a:endParaRPr lang="en-IN" sz="2000" dirty="0"/>
          </a:p>
          <a:p>
            <a:pPr lvl="1">
              <a:buFont typeface="Wingdings" pitchFamily="2" charset="2"/>
              <a:buNone/>
              <a:defRPr/>
            </a:pPr>
            <a:r>
              <a:rPr lang="en-IN" sz="2000" dirty="0" smtClean="0">
                <a:solidFill>
                  <a:srgbClr val="9933FF"/>
                </a:solidFill>
              </a:rPr>
              <a:t>Vector Auto Regression</a:t>
            </a:r>
          </a:p>
          <a:p>
            <a:pPr lvl="1">
              <a:defRPr/>
            </a:pPr>
            <a:r>
              <a:rPr lang="en-IN" sz="2000" dirty="0" err="1" smtClean="0"/>
              <a:t>GNP</a:t>
            </a:r>
            <a:r>
              <a:rPr lang="en-IN" sz="2000" baseline="-25000" dirty="0" err="1" smtClean="0"/>
              <a:t>t</a:t>
            </a:r>
            <a:r>
              <a:rPr lang="en-IN" sz="2000" dirty="0" smtClean="0"/>
              <a:t>=f (GNP</a:t>
            </a:r>
            <a:r>
              <a:rPr lang="en-IN" sz="2000" baseline="-25000" dirty="0" smtClean="0"/>
              <a:t>t-1</a:t>
            </a:r>
            <a:r>
              <a:rPr lang="en-IN" sz="2000" dirty="0" smtClean="0"/>
              <a:t>, GNP</a:t>
            </a:r>
            <a:r>
              <a:rPr lang="en-IN" sz="2000" baseline="-25000" dirty="0" smtClean="0"/>
              <a:t>t-2</a:t>
            </a:r>
            <a:r>
              <a:rPr lang="en-IN" sz="2000" dirty="0" smtClean="0"/>
              <a:t>, Inflation</a:t>
            </a:r>
            <a:r>
              <a:rPr lang="en-IN" sz="2000" baseline="-25000" dirty="0" smtClean="0"/>
              <a:t>t-1</a:t>
            </a:r>
            <a:r>
              <a:rPr lang="en-IN" sz="2000" dirty="0" smtClean="0"/>
              <a:t>, Inflation</a:t>
            </a:r>
            <a:r>
              <a:rPr lang="en-IN" sz="2000" baseline="-25000" dirty="0" smtClean="0"/>
              <a:t>t-2</a:t>
            </a:r>
            <a:r>
              <a:rPr lang="en-IN" sz="2000" dirty="0" smtClean="0"/>
              <a:t>)</a:t>
            </a:r>
          </a:p>
          <a:p>
            <a:pPr lvl="1">
              <a:defRPr/>
            </a:pPr>
            <a:r>
              <a:rPr lang="en-IN" sz="2000" dirty="0" err="1" smtClean="0"/>
              <a:t>INF</a:t>
            </a:r>
            <a:r>
              <a:rPr lang="en-IN" sz="2000" baseline="-25000" dirty="0" err="1" smtClean="0"/>
              <a:t>t</a:t>
            </a:r>
            <a:r>
              <a:rPr lang="en-IN" sz="2000" dirty="0" smtClean="0"/>
              <a:t>=f (GNP</a:t>
            </a:r>
            <a:r>
              <a:rPr lang="en-IN" sz="2000" baseline="-25000" dirty="0" smtClean="0"/>
              <a:t>t-1</a:t>
            </a:r>
            <a:r>
              <a:rPr lang="en-IN" sz="2000" dirty="0" smtClean="0"/>
              <a:t>, GNP</a:t>
            </a:r>
            <a:r>
              <a:rPr lang="en-IN" sz="2000" baseline="-25000" dirty="0" smtClean="0"/>
              <a:t>t-2</a:t>
            </a:r>
            <a:r>
              <a:rPr lang="en-IN" sz="2000" dirty="0" smtClean="0"/>
              <a:t>, Inflation</a:t>
            </a:r>
            <a:r>
              <a:rPr lang="en-IN" sz="2000" baseline="-25000" dirty="0" smtClean="0"/>
              <a:t>t-1</a:t>
            </a:r>
            <a:r>
              <a:rPr lang="en-IN" sz="2000" dirty="0" smtClean="0"/>
              <a:t>, Inflation</a:t>
            </a:r>
            <a:r>
              <a:rPr lang="en-IN" sz="2000" baseline="-25000" dirty="0" smtClean="0"/>
              <a:t>t-2</a:t>
            </a:r>
            <a:r>
              <a:rPr lang="en-IN" sz="2000" dirty="0" smtClean="0"/>
              <a:t>)</a:t>
            </a:r>
          </a:p>
          <a:p>
            <a:pPr lvl="1">
              <a:buFont typeface="Wingdings" pitchFamily="2" charset="2"/>
              <a:buNone/>
              <a:defRPr/>
            </a:pPr>
            <a:r>
              <a:rPr lang="en-IN" sz="2000" dirty="0" err="1" smtClean="0">
                <a:solidFill>
                  <a:srgbClr val="9933FF"/>
                </a:solidFill>
              </a:rPr>
              <a:t>Cointegration</a:t>
            </a:r>
            <a:r>
              <a:rPr lang="en-IN" sz="2000" dirty="0" smtClean="0">
                <a:solidFill>
                  <a:srgbClr val="9933FF"/>
                </a:solidFill>
              </a:rPr>
              <a:t> and Vector Error Correction Model</a:t>
            </a:r>
          </a:p>
          <a:p>
            <a:pPr lvl="1">
              <a:defRPr/>
            </a:pPr>
            <a:r>
              <a:rPr lang="en-IN" sz="2000" dirty="0" err="1" smtClean="0"/>
              <a:t>GNP</a:t>
            </a:r>
            <a:r>
              <a:rPr lang="en-IN" sz="2000" baseline="-25000" dirty="0" err="1" smtClean="0"/>
              <a:t>t</a:t>
            </a:r>
            <a:r>
              <a:rPr lang="en-IN" sz="2000" dirty="0" smtClean="0"/>
              <a:t>=f (Long run rel.,GNP</a:t>
            </a:r>
            <a:r>
              <a:rPr lang="en-IN" sz="2000" baseline="-25000" dirty="0" smtClean="0"/>
              <a:t>t-1</a:t>
            </a:r>
            <a:r>
              <a:rPr lang="en-IN" sz="2000" dirty="0" smtClean="0"/>
              <a:t>, GNP</a:t>
            </a:r>
            <a:r>
              <a:rPr lang="en-IN" sz="2000" baseline="-25000" dirty="0" smtClean="0"/>
              <a:t>t-2</a:t>
            </a:r>
            <a:r>
              <a:rPr lang="en-IN" sz="2000" dirty="0" smtClean="0"/>
              <a:t>, INF</a:t>
            </a:r>
            <a:r>
              <a:rPr lang="en-IN" sz="2000" baseline="-25000" dirty="0" smtClean="0"/>
              <a:t>t-1</a:t>
            </a:r>
            <a:r>
              <a:rPr lang="en-IN" sz="2000" dirty="0" smtClean="0"/>
              <a:t>, Inf</a:t>
            </a:r>
            <a:r>
              <a:rPr lang="en-IN" sz="2000" baseline="-25000" dirty="0" smtClean="0"/>
              <a:t>t-2</a:t>
            </a:r>
            <a:r>
              <a:rPr lang="en-IN" sz="2000" dirty="0" smtClean="0"/>
              <a:t>)</a:t>
            </a:r>
          </a:p>
          <a:p>
            <a:pPr lvl="1">
              <a:defRPr/>
            </a:pPr>
            <a:r>
              <a:rPr lang="en-IN" sz="2000" dirty="0" err="1" smtClean="0"/>
              <a:t>INF</a:t>
            </a:r>
            <a:r>
              <a:rPr lang="en-IN" sz="2000" baseline="-25000" dirty="0" err="1" smtClean="0"/>
              <a:t>t</a:t>
            </a:r>
            <a:r>
              <a:rPr lang="en-IN" sz="2000" dirty="0" smtClean="0"/>
              <a:t>=f ( Long run rel.,GNP</a:t>
            </a:r>
            <a:r>
              <a:rPr lang="en-IN" sz="2000" baseline="-25000" dirty="0" smtClean="0"/>
              <a:t>t-1</a:t>
            </a:r>
            <a:r>
              <a:rPr lang="en-IN" sz="2000" dirty="0" smtClean="0"/>
              <a:t>, GNP</a:t>
            </a:r>
            <a:r>
              <a:rPr lang="en-IN" sz="2000" baseline="-25000" dirty="0" smtClean="0"/>
              <a:t>t-2</a:t>
            </a:r>
            <a:r>
              <a:rPr lang="en-IN" sz="2000" dirty="0" smtClean="0"/>
              <a:t>, INF</a:t>
            </a:r>
            <a:r>
              <a:rPr lang="en-IN" sz="2000" baseline="-25000" dirty="0" smtClean="0"/>
              <a:t>t-1</a:t>
            </a:r>
            <a:r>
              <a:rPr lang="en-IN" sz="2000" dirty="0" smtClean="0"/>
              <a:t>, INF</a:t>
            </a:r>
            <a:r>
              <a:rPr lang="en-IN" sz="2000" baseline="-25000" dirty="0" smtClean="0"/>
              <a:t>t-2</a:t>
            </a:r>
            <a:r>
              <a:rPr lang="en-IN" sz="2000" dirty="0" smtClean="0"/>
              <a:t>)</a:t>
            </a:r>
          </a:p>
          <a:p>
            <a:pPr lvl="1">
              <a:defRPr/>
            </a:pPr>
            <a:endParaRPr lang="en-IN" sz="2000" dirty="0" smtClean="0"/>
          </a:p>
          <a:p>
            <a:pPr lvl="1">
              <a:defRPr/>
            </a:pPr>
            <a:endParaRPr lang="en-IN" sz="2000" dirty="0" smtClean="0"/>
          </a:p>
          <a:p>
            <a:pPr lvl="1">
              <a:defRPr/>
            </a:pPr>
            <a:endParaRPr lang="en-IN" sz="2000" dirty="0" smtClean="0"/>
          </a:p>
          <a:p>
            <a:pPr>
              <a:defRPr/>
            </a:pPr>
            <a:endParaRPr lang="en-IN"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smtClean="0"/>
              <a:t>Financial Data Characteristics</a:t>
            </a:r>
          </a:p>
        </p:txBody>
      </p:sp>
      <p:sp>
        <p:nvSpPr>
          <p:cNvPr id="9219" name="Rectangle 3"/>
          <p:cNvSpPr>
            <a:spLocks noGrp="1" noChangeArrowheads="1"/>
          </p:cNvSpPr>
          <p:nvPr>
            <p:ph type="body" idx="1"/>
          </p:nvPr>
        </p:nvSpPr>
        <p:spPr/>
        <p:txBody>
          <a:bodyPr/>
          <a:lstStyle/>
          <a:p>
            <a:pPr eaLnBrk="1" hangingPunct="1"/>
            <a:r>
              <a:rPr lang="en-US" smtClean="0"/>
              <a:t>High frequency data</a:t>
            </a:r>
          </a:p>
          <a:p>
            <a:pPr eaLnBrk="1" hangingPunct="1"/>
            <a:r>
              <a:rPr lang="en-US" smtClean="0"/>
              <a:t>Noisy -  difficult to separate underlying trends or patterns ( result of the way prices are recorded,  the way market works, etc)</a:t>
            </a:r>
          </a:p>
          <a:p>
            <a:pPr eaLnBrk="1" hangingPunct="1"/>
            <a:r>
              <a:rPr lang="en-US" smtClean="0"/>
              <a:t>Not normally distributed</a:t>
            </a:r>
          </a:p>
          <a:p>
            <a:pPr eaLnBrk="1" hangingPunct="1"/>
            <a:r>
              <a:rPr lang="en-US" smtClean="0"/>
              <a:t>Seasonality/ patterns exist</a:t>
            </a:r>
          </a:p>
          <a:p>
            <a:pPr eaLnBrk="1" hangingPunct="1"/>
            <a:endParaRPr lang="en-US" smtClean="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smtClean="0"/>
              <a:t>Financial modeling process</a:t>
            </a:r>
          </a:p>
        </p:txBody>
      </p:sp>
      <p:sp>
        <p:nvSpPr>
          <p:cNvPr id="20483" name="Rectangle 3"/>
          <p:cNvSpPr>
            <a:spLocks noGrp="1" noChangeArrowheads="1"/>
          </p:cNvSpPr>
          <p:nvPr>
            <p:ph type="body" idx="1"/>
          </p:nvPr>
        </p:nvSpPr>
        <p:spPr/>
        <p:txBody>
          <a:bodyPr/>
          <a:lstStyle/>
          <a:p>
            <a:pPr eaLnBrk="1" hangingPunct="1"/>
            <a:r>
              <a:rPr lang="en-US" sz="2800" smtClean="0"/>
              <a:t>Economic/ financial theory</a:t>
            </a:r>
          </a:p>
          <a:p>
            <a:pPr eaLnBrk="1" hangingPunct="1"/>
            <a:r>
              <a:rPr lang="en-US" sz="2800" smtClean="0"/>
              <a:t>Formulation of theoretical model</a:t>
            </a:r>
          </a:p>
          <a:p>
            <a:pPr eaLnBrk="1" hangingPunct="1"/>
            <a:r>
              <a:rPr lang="en-US" sz="2800" smtClean="0"/>
              <a:t>Collection of data</a:t>
            </a:r>
          </a:p>
          <a:p>
            <a:pPr eaLnBrk="1" hangingPunct="1"/>
            <a:r>
              <a:rPr lang="en-US" sz="2800" smtClean="0"/>
              <a:t>Model estimation</a:t>
            </a:r>
          </a:p>
          <a:p>
            <a:pPr eaLnBrk="1" hangingPunct="1"/>
            <a:r>
              <a:rPr lang="en-US" sz="2800" smtClean="0"/>
              <a:t>Test adequacy of the model</a:t>
            </a:r>
          </a:p>
          <a:p>
            <a:pPr eaLnBrk="1" hangingPunct="1"/>
            <a:r>
              <a:rPr lang="en-US" sz="2800" smtClean="0"/>
              <a:t>Reformulate </a:t>
            </a:r>
          </a:p>
          <a:p>
            <a:pPr eaLnBrk="1" hangingPunct="1"/>
            <a:r>
              <a:rPr lang="en-US" sz="2800" smtClean="0"/>
              <a:t>Interpret model &amp; link it to theory / use for decision making</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smtClean="0"/>
              <a:t>Steps in Analysis</a:t>
            </a:r>
          </a:p>
        </p:txBody>
      </p:sp>
      <p:sp>
        <p:nvSpPr>
          <p:cNvPr id="11267" name="Rectangle 3"/>
          <p:cNvSpPr>
            <a:spLocks noGrp="1" noChangeArrowheads="1"/>
          </p:cNvSpPr>
          <p:nvPr>
            <p:ph type="body" idx="1"/>
          </p:nvPr>
        </p:nvSpPr>
        <p:spPr/>
        <p:txBody>
          <a:bodyPr/>
          <a:lstStyle/>
          <a:p>
            <a:pPr eaLnBrk="1" hangingPunct="1">
              <a:lnSpc>
                <a:spcPct val="90000"/>
              </a:lnSpc>
            </a:pPr>
            <a:r>
              <a:rPr lang="en-US" sz="2400" b="1" dirty="0" smtClean="0"/>
              <a:t>Define your purpose an identify variables based on  underlying theory</a:t>
            </a:r>
          </a:p>
          <a:p>
            <a:pPr eaLnBrk="1" hangingPunct="1">
              <a:lnSpc>
                <a:spcPct val="90000"/>
              </a:lnSpc>
            </a:pPr>
            <a:r>
              <a:rPr lang="en-US" sz="2400" b="1" dirty="0" smtClean="0"/>
              <a:t>Preparing data for analysis  </a:t>
            </a:r>
            <a:r>
              <a:rPr lang="en-US" sz="2400" b="1" dirty="0" smtClean="0">
                <a:solidFill>
                  <a:schemeClr val="accent2"/>
                </a:solidFill>
              </a:rPr>
              <a:t>(transformation for normality, linearity, </a:t>
            </a:r>
            <a:r>
              <a:rPr lang="en-US" sz="2400" b="1" dirty="0" err="1" smtClean="0">
                <a:solidFill>
                  <a:schemeClr val="accent2"/>
                </a:solidFill>
              </a:rPr>
              <a:t>stationarity</a:t>
            </a:r>
            <a:r>
              <a:rPr lang="en-US" sz="2400" b="1" dirty="0" smtClean="0">
                <a:solidFill>
                  <a:schemeClr val="accent2"/>
                </a:solidFill>
              </a:rPr>
              <a:t> &amp; </a:t>
            </a:r>
            <a:r>
              <a:rPr lang="en-US" sz="2400" b="1" dirty="0" err="1" smtClean="0">
                <a:solidFill>
                  <a:schemeClr val="accent2"/>
                </a:solidFill>
              </a:rPr>
              <a:t>homoscedasticity</a:t>
            </a:r>
            <a:r>
              <a:rPr lang="en-US" sz="2400" b="1" dirty="0" smtClean="0">
                <a:solidFill>
                  <a:schemeClr val="accent2"/>
                </a:solidFill>
              </a:rPr>
              <a:t>)</a:t>
            </a:r>
          </a:p>
          <a:p>
            <a:pPr eaLnBrk="1" hangingPunct="1">
              <a:lnSpc>
                <a:spcPct val="90000"/>
              </a:lnSpc>
            </a:pPr>
            <a:r>
              <a:rPr lang="en-US" sz="2400" b="1" dirty="0" smtClean="0">
                <a:solidFill>
                  <a:schemeClr val="accent2"/>
                </a:solidFill>
              </a:rPr>
              <a:t>Check for autocorrelation</a:t>
            </a:r>
          </a:p>
          <a:p>
            <a:pPr eaLnBrk="1" hangingPunct="1">
              <a:lnSpc>
                <a:spcPct val="90000"/>
              </a:lnSpc>
            </a:pPr>
            <a:r>
              <a:rPr lang="en-US" sz="2400" b="1" dirty="0" smtClean="0"/>
              <a:t>Develop analysis plan – Purpose vs. choice of technique</a:t>
            </a:r>
          </a:p>
          <a:p>
            <a:pPr eaLnBrk="1" hangingPunct="1">
              <a:lnSpc>
                <a:spcPct val="90000"/>
              </a:lnSpc>
            </a:pPr>
            <a:r>
              <a:rPr lang="en-US" sz="2400" b="1" dirty="0" smtClean="0"/>
              <a:t>Evaluate assumptions of the technique</a:t>
            </a:r>
          </a:p>
          <a:p>
            <a:pPr eaLnBrk="1" hangingPunct="1">
              <a:lnSpc>
                <a:spcPct val="90000"/>
              </a:lnSpc>
            </a:pPr>
            <a:r>
              <a:rPr lang="en-US" sz="2400" b="1" dirty="0" smtClean="0"/>
              <a:t>Develop the model, experiment &amp; test overall fit</a:t>
            </a:r>
          </a:p>
          <a:p>
            <a:pPr eaLnBrk="1" hangingPunct="1">
              <a:lnSpc>
                <a:spcPct val="90000"/>
              </a:lnSpc>
            </a:pPr>
            <a:r>
              <a:rPr lang="en-US" sz="2400" b="1" dirty="0" smtClean="0"/>
              <a:t>Validate the results</a:t>
            </a:r>
          </a:p>
          <a:p>
            <a:pPr eaLnBrk="1" hangingPunct="1">
              <a:lnSpc>
                <a:spcPct val="90000"/>
              </a:lnSpc>
            </a:pPr>
            <a:r>
              <a:rPr lang="en-US" sz="2400" b="1" dirty="0" smtClean="0"/>
              <a:t>Interpret the results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pPr eaLnBrk="1" hangingPunct="1"/>
            <a:r>
              <a:rPr lang="en-US" smtClean="0"/>
              <a:t> Testing Data distribution</a:t>
            </a:r>
          </a:p>
        </p:txBody>
      </p:sp>
      <p:sp>
        <p:nvSpPr>
          <p:cNvPr id="2051" name="Rectangle 3"/>
          <p:cNvSpPr>
            <a:spLocks noGrp="1" noChangeArrowheads="1"/>
          </p:cNvSpPr>
          <p:nvPr>
            <p:ph type="subTitle" idx="1"/>
          </p:nvPr>
        </p:nvSpPr>
        <p:spPr/>
        <p:txBody>
          <a:bodyPr/>
          <a:lstStyle/>
          <a:p>
            <a:pPr eaLnBrk="1" hangingPunct="1">
              <a:lnSpc>
                <a:spcPct val="80000"/>
              </a:lnSpc>
            </a:pPr>
            <a:r>
              <a:rPr lang="en-US" sz="2800" smtClean="0"/>
              <a:t>M.Thenmozhi</a:t>
            </a:r>
          </a:p>
          <a:p>
            <a:pPr eaLnBrk="1" hangingPunct="1">
              <a:lnSpc>
                <a:spcPct val="80000"/>
              </a:lnSpc>
            </a:pPr>
            <a:r>
              <a:rPr lang="en-US" sz="2800" smtClean="0"/>
              <a:t>Professor</a:t>
            </a:r>
          </a:p>
          <a:p>
            <a:pPr eaLnBrk="1" hangingPunct="1">
              <a:lnSpc>
                <a:spcPct val="80000"/>
              </a:lnSpc>
            </a:pPr>
            <a:r>
              <a:rPr lang="en-US" sz="2800" smtClean="0"/>
              <a:t>Department of Management Studies</a:t>
            </a:r>
          </a:p>
          <a:p>
            <a:pPr eaLnBrk="1" hangingPunct="1">
              <a:lnSpc>
                <a:spcPct val="80000"/>
              </a:lnSpc>
            </a:pPr>
            <a:r>
              <a:rPr lang="en-US" sz="2800" smtClean="0"/>
              <a:t> IIT Madras, mtm@iitm.ac.in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normAutofit fontScale="90000"/>
          </a:bodyPr>
          <a:lstStyle/>
          <a:p>
            <a:pPr eaLnBrk="1" hangingPunct="1"/>
            <a:r>
              <a:rPr lang="en-US" sz="4000" smtClean="0">
                <a:solidFill>
                  <a:srgbClr val="CC0000"/>
                </a:solidFill>
              </a:rPr>
              <a:t>Adjusting data for analysis</a:t>
            </a:r>
            <a:br>
              <a:rPr lang="en-US" sz="4000" smtClean="0">
                <a:solidFill>
                  <a:srgbClr val="CC0000"/>
                </a:solidFill>
              </a:rPr>
            </a:br>
            <a:endParaRPr lang="en-US" sz="4000" smtClean="0">
              <a:solidFill>
                <a:srgbClr val="CC0000"/>
              </a:solidFill>
            </a:endParaRPr>
          </a:p>
        </p:txBody>
      </p:sp>
      <p:sp>
        <p:nvSpPr>
          <p:cNvPr id="3075" name="Rectangle 3"/>
          <p:cNvSpPr>
            <a:spLocks noGrp="1" noChangeArrowheads="1"/>
          </p:cNvSpPr>
          <p:nvPr>
            <p:ph type="body" idx="1"/>
          </p:nvPr>
        </p:nvSpPr>
        <p:spPr/>
        <p:txBody>
          <a:bodyPr/>
          <a:lstStyle/>
          <a:p>
            <a:pPr marL="609600" indent="-609600" eaLnBrk="1" hangingPunct="1">
              <a:lnSpc>
                <a:spcPct val="90000"/>
              </a:lnSpc>
            </a:pPr>
            <a:r>
              <a:rPr lang="en-US" sz="2800" smtClean="0">
                <a:solidFill>
                  <a:srgbClr val="3333FF"/>
                </a:solidFill>
              </a:rPr>
              <a:t>Weighting  - multiply by number or add </a:t>
            </a:r>
          </a:p>
          <a:p>
            <a:pPr marL="990600" lvl="1" indent="-533400" eaLnBrk="1" hangingPunct="1">
              <a:lnSpc>
                <a:spcPct val="90000"/>
              </a:lnSpc>
            </a:pPr>
            <a:r>
              <a:rPr lang="en-US" sz="2400" smtClean="0">
                <a:solidFill>
                  <a:srgbClr val="3333FF"/>
                </a:solidFill>
              </a:rPr>
              <a:t>e.g data .00007</a:t>
            </a:r>
          </a:p>
          <a:p>
            <a:pPr marL="990600" lvl="1" indent="-533400" eaLnBrk="1" hangingPunct="1">
              <a:lnSpc>
                <a:spcPct val="90000"/>
              </a:lnSpc>
            </a:pPr>
            <a:r>
              <a:rPr lang="en-US" sz="2400" smtClean="0">
                <a:solidFill>
                  <a:srgbClr val="3333FF"/>
                </a:solidFill>
              </a:rPr>
              <a:t>Make data more meaningful and representative</a:t>
            </a:r>
          </a:p>
          <a:p>
            <a:pPr marL="990600" lvl="1" indent="-533400" eaLnBrk="1" hangingPunct="1">
              <a:lnSpc>
                <a:spcPct val="90000"/>
              </a:lnSpc>
              <a:buFontTx/>
              <a:buNone/>
            </a:pPr>
            <a:endParaRPr lang="en-US" sz="2400" smtClean="0">
              <a:solidFill>
                <a:srgbClr val="3333FF"/>
              </a:solidFill>
            </a:endParaRPr>
          </a:p>
          <a:p>
            <a:pPr marL="990600" lvl="1" indent="-533400" eaLnBrk="1" hangingPunct="1">
              <a:lnSpc>
                <a:spcPct val="90000"/>
              </a:lnSpc>
              <a:buFontTx/>
              <a:buNone/>
            </a:pPr>
            <a:r>
              <a:rPr lang="en-US" sz="2400" smtClean="0">
                <a:solidFill>
                  <a:srgbClr val="3333FF"/>
                </a:solidFill>
              </a:rPr>
              <a:t>Variable  respecification</a:t>
            </a:r>
          </a:p>
          <a:p>
            <a:pPr marL="990600" lvl="1" indent="-533400" eaLnBrk="1" hangingPunct="1">
              <a:lnSpc>
                <a:spcPct val="90000"/>
              </a:lnSpc>
              <a:buFontTx/>
              <a:buChar char="-"/>
            </a:pPr>
            <a:r>
              <a:rPr lang="en-US" sz="2400" smtClean="0">
                <a:solidFill>
                  <a:srgbClr val="3333FF"/>
                </a:solidFill>
              </a:rPr>
              <a:t>Transform data to create new variables or modify existing variables</a:t>
            </a:r>
          </a:p>
          <a:p>
            <a:pPr marL="990600" lvl="1" indent="-533400" eaLnBrk="1" hangingPunct="1">
              <a:lnSpc>
                <a:spcPct val="90000"/>
              </a:lnSpc>
              <a:buFontTx/>
              <a:buChar char="-"/>
            </a:pPr>
            <a:r>
              <a:rPr lang="en-US" sz="2400" smtClean="0">
                <a:solidFill>
                  <a:srgbClr val="3333FF"/>
                </a:solidFill>
              </a:rPr>
              <a:t>Create a composite variable</a:t>
            </a:r>
          </a:p>
          <a:p>
            <a:pPr marL="990600" lvl="1" indent="-533400" eaLnBrk="1" hangingPunct="1">
              <a:lnSpc>
                <a:spcPct val="90000"/>
              </a:lnSpc>
              <a:buFontTx/>
              <a:buChar char="-"/>
            </a:pPr>
            <a:r>
              <a:rPr lang="en-US" sz="2400" smtClean="0">
                <a:solidFill>
                  <a:srgbClr val="3333FF"/>
                </a:solidFill>
              </a:rPr>
              <a:t>Use dummy variable</a:t>
            </a:r>
          </a:p>
          <a:p>
            <a:pPr marL="990600" lvl="1" indent="-533400" eaLnBrk="1" hangingPunct="1">
              <a:lnSpc>
                <a:spcPct val="90000"/>
              </a:lnSpc>
              <a:buFontTx/>
              <a:buNone/>
            </a:pPr>
            <a:r>
              <a:rPr lang="en-US" sz="2400" smtClean="0">
                <a:solidFill>
                  <a:srgbClr val="3333FF"/>
                </a:solidFill>
              </a:rPr>
              <a:t>Scale transformation – make data suitable for analysis</a:t>
            </a:r>
          </a:p>
          <a:p>
            <a:pPr marL="990600" lvl="1" indent="-533400" eaLnBrk="1" hangingPunct="1">
              <a:lnSpc>
                <a:spcPct val="90000"/>
              </a:lnSpc>
              <a:buFontTx/>
              <a:buNone/>
            </a:pPr>
            <a:r>
              <a:rPr lang="en-US" sz="2400" smtClean="0">
                <a:solidFill>
                  <a:srgbClr val="3333FF"/>
                </a:solidFill>
              </a:rPr>
              <a:t>- standardisation, divide by a common parameter/value</a:t>
            </a:r>
          </a:p>
          <a:p>
            <a:pPr marL="990600" lvl="1" indent="-533400" eaLnBrk="1" hangingPunct="1">
              <a:lnSpc>
                <a:spcPct val="90000"/>
              </a:lnSpc>
              <a:buFontTx/>
              <a:buChar char="-"/>
            </a:pPr>
            <a:endParaRPr lang="en-US" sz="2400" smtClean="0">
              <a:solidFill>
                <a:srgbClr val="3333FF"/>
              </a:solidFill>
            </a:endParaRPr>
          </a:p>
          <a:p>
            <a:pPr marL="990600" lvl="1" indent="-533400" eaLnBrk="1" hangingPunct="1">
              <a:lnSpc>
                <a:spcPct val="90000"/>
              </a:lnSpc>
              <a:buFontTx/>
              <a:buNone/>
            </a:pPr>
            <a:endParaRPr lang="en-US" sz="2400" smtClean="0">
              <a:solidFill>
                <a:srgbClr val="3333FF"/>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p:txBody>
          <a:bodyPr/>
          <a:lstStyle/>
          <a:p>
            <a:pPr eaLnBrk="1" hangingPunct="1"/>
            <a:r>
              <a:rPr lang="en-US" smtClean="0"/>
              <a:t>TESTING NORMALITY</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smtClean="0"/>
              <a:t>Preparing data for Analysis</a:t>
            </a:r>
          </a:p>
        </p:txBody>
      </p:sp>
      <p:sp>
        <p:nvSpPr>
          <p:cNvPr id="15363" name="Rectangle 3"/>
          <p:cNvSpPr>
            <a:spLocks noGrp="1" noChangeArrowheads="1"/>
          </p:cNvSpPr>
          <p:nvPr>
            <p:ph type="body" idx="1"/>
          </p:nvPr>
        </p:nvSpPr>
        <p:spPr/>
        <p:txBody>
          <a:bodyPr/>
          <a:lstStyle/>
          <a:p>
            <a:pPr eaLnBrk="1" hangingPunct="1">
              <a:lnSpc>
                <a:spcPct val="80000"/>
              </a:lnSpc>
              <a:buFontTx/>
              <a:buNone/>
            </a:pPr>
            <a:r>
              <a:rPr lang="en-US" sz="2400" dirty="0" smtClean="0">
                <a:solidFill>
                  <a:schemeClr val="accent2"/>
                </a:solidFill>
              </a:rPr>
              <a:t>Testing assumption of normality</a:t>
            </a:r>
          </a:p>
          <a:p>
            <a:pPr eaLnBrk="1" hangingPunct="1">
              <a:lnSpc>
                <a:spcPct val="80000"/>
              </a:lnSpc>
            </a:pPr>
            <a:r>
              <a:rPr lang="en-US" sz="2400" dirty="0" smtClean="0"/>
              <a:t>Graphical plot</a:t>
            </a:r>
          </a:p>
          <a:p>
            <a:pPr eaLnBrk="1" hangingPunct="1">
              <a:lnSpc>
                <a:spcPct val="80000"/>
              </a:lnSpc>
            </a:pPr>
            <a:r>
              <a:rPr lang="en-US" sz="2400" dirty="0" smtClean="0"/>
              <a:t> All Values within Mean  of a scale +/- 2 SE</a:t>
            </a:r>
          </a:p>
          <a:p>
            <a:pPr eaLnBrk="1" hangingPunct="1">
              <a:lnSpc>
                <a:spcPct val="80000"/>
              </a:lnSpc>
            </a:pPr>
            <a:r>
              <a:rPr lang="en-US" sz="2400" dirty="0" err="1" smtClean="0"/>
              <a:t>Descriptives</a:t>
            </a:r>
            <a:r>
              <a:rPr lang="en-US" sz="2400" dirty="0" smtClean="0"/>
              <a:t>- Mean=median=mode  </a:t>
            </a:r>
          </a:p>
          <a:p>
            <a:pPr eaLnBrk="1" hangingPunct="1">
              <a:lnSpc>
                <a:spcPct val="80000"/>
              </a:lnSpc>
            </a:pPr>
            <a:r>
              <a:rPr lang="en-US" sz="2400" dirty="0" err="1" smtClean="0"/>
              <a:t>Skewness</a:t>
            </a:r>
            <a:r>
              <a:rPr lang="en-US" sz="2400" dirty="0" smtClean="0"/>
              <a:t> - not to exceed +/- 2</a:t>
            </a:r>
          </a:p>
          <a:p>
            <a:pPr eaLnBrk="1" hangingPunct="1">
              <a:lnSpc>
                <a:spcPct val="80000"/>
              </a:lnSpc>
            </a:pPr>
            <a:r>
              <a:rPr lang="en-US" sz="2400" dirty="0" smtClean="0"/>
              <a:t>Kurtosis-  zero</a:t>
            </a:r>
          </a:p>
          <a:p>
            <a:pPr eaLnBrk="1" hangingPunct="1">
              <a:lnSpc>
                <a:spcPct val="80000"/>
              </a:lnSpc>
            </a:pPr>
            <a:r>
              <a:rPr lang="en-US" sz="2400" dirty="0" smtClean="0"/>
              <a:t>Thumb rule – Z </a:t>
            </a:r>
            <a:r>
              <a:rPr lang="en-US" sz="2400" dirty="0" err="1" smtClean="0"/>
              <a:t>sk</a:t>
            </a:r>
            <a:r>
              <a:rPr lang="en-US" sz="2400" dirty="0" smtClean="0"/>
              <a:t> = </a:t>
            </a:r>
            <a:r>
              <a:rPr lang="en-US" sz="2400" dirty="0" err="1" smtClean="0"/>
              <a:t>skewness</a:t>
            </a:r>
            <a:r>
              <a:rPr lang="en-US" sz="2400" dirty="0" smtClean="0"/>
              <a:t>/SQRT 6/N</a:t>
            </a:r>
          </a:p>
          <a:p>
            <a:pPr eaLnBrk="1" hangingPunct="1">
              <a:lnSpc>
                <a:spcPct val="80000"/>
              </a:lnSpc>
              <a:buFontTx/>
              <a:buNone/>
            </a:pPr>
            <a:r>
              <a:rPr lang="en-US" sz="2400" dirty="0" smtClean="0"/>
              <a:t>                       _ </a:t>
            </a:r>
            <a:r>
              <a:rPr lang="en-US" sz="2400" dirty="0" err="1" smtClean="0"/>
              <a:t>Zk</a:t>
            </a:r>
            <a:r>
              <a:rPr lang="en-US" sz="2400" dirty="0" smtClean="0"/>
              <a:t>= Kurtosis/ </a:t>
            </a:r>
            <a:r>
              <a:rPr lang="en-US" sz="2400" dirty="0" err="1" smtClean="0"/>
              <a:t>skewness</a:t>
            </a:r>
            <a:r>
              <a:rPr lang="en-US" sz="2400" dirty="0" smtClean="0"/>
              <a:t>/SQRT 24/N</a:t>
            </a:r>
          </a:p>
          <a:p>
            <a:pPr eaLnBrk="1" hangingPunct="1">
              <a:lnSpc>
                <a:spcPct val="80000"/>
              </a:lnSpc>
              <a:buFontTx/>
              <a:buNone/>
            </a:pPr>
            <a:r>
              <a:rPr lang="en-US" sz="2400" dirty="0" smtClean="0"/>
              <a:t>( If Z value &gt; +/-2.58  normality rejected at .01)</a:t>
            </a:r>
          </a:p>
          <a:p>
            <a:pPr eaLnBrk="1" hangingPunct="1">
              <a:lnSpc>
                <a:spcPct val="80000"/>
              </a:lnSpc>
            </a:pPr>
            <a:endParaRPr lang="en-US" sz="2400" dirty="0" smtClean="0"/>
          </a:p>
          <a:p>
            <a:pPr eaLnBrk="1" hangingPunct="1">
              <a:lnSpc>
                <a:spcPct val="80000"/>
              </a:lnSpc>
            </a:pPr>
            <a:r>
              <a:rPr lang="en-US" sz="2400" dirty="0" smtClean="0"/>
              <a:t>Tests- Modified </a:t>
            </a:r>
            <a:r>
              <a:rPr lang="en-US" sz="2400" dirty="0" err="1" smtClean="0"/>
              <a:t>Kolmogorov</a:t>
            </a:r>
            <a:r>
              <a:rPr lang="en-US" sz="2400" dirty="0" smtClean="0"/>
              <a:t>-Smirnov test,  Shapiro- </a:t>
            </a:r>
            <a:r>
              <a:rPr lang="en-US" sz="2400" dirty="0" err="1" smtClean="0"/>
              <a:t>Wilks</a:t>
            </a:r>
            <a:r>
              <a:rPr lang="en-US" sz="2400" dirty="0" smtClean="0"/>
              <a:t> test, </a:t>
            </a:r>
            <a:r>
              <a:rPr lang="en-US" sz="2400" dirty="0" err="1" smtClean="0"/>
              <a:t>Jarque</a:t>
            </a:r>
            <a:r>
              <a:rPr lang="en-US" sz="2400" dirty="0" smtClean="0"/>
              <a:t> </a:t>
            </a:r>
            <a:r>
              <a:rPr lang="en-US" sz="2400" dirty="0" err="1" smtClean="0"/>
              <a:t>Bera</a:t>
            </a:r>
            <a:r>
              <a:rPr lang="en-US" sz="2400" dirty="0" smtClean="0"/>
              <a:t> test</a:t>
            </a:r>
          </a:p>
          <a:p>
            <a:pPr eaLnBrk="1" hangingPunct="1">
              <a:lnSpc>
                <a:spcPct val="80000"/>
              </a:lnSpc>
            </a:pPr>
            <a:endParaRPr lang="en-US" sz="2400" dirty="0" smtClean="0"/>
          </a:p>
          <a:p>
            <a:pPr eaLnBrk="1" hangingPunct="1">
              <a:lnSpc>
                <a:spcPct val="80000"/>
              </a:lnSpc>
            </a:pPr>
            <a:endParaRPr lang="en-US" sz="2400" dirty="0" smtClean="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554" name="Group 2"/>
          <p:cNvGraphicFramePr>
            <a:graphicFrameLocks noGrp="1"/>
          </p:cNvGraphicFramePr>
          <p:nvPr>
            <p:ph type="tbl" idx="1"/>
          </p:nvPr>
        </p:nvGraphicFramePr>
        <p:xfrm>
          <a:off x="381000" y="533400"/>
          <a:ext cx="8305800" cy="5980123"/>
        </p:xfrm>
        <a:graphic>
          <a:graphicData uri="http://schemas.openxmlformats.org/drawingml/2006/table">
            <a:tbl>
              <a:tblPr/>
              <a:tblGrid>
                <a:gridCol w="2752725"/>
                <a:gridCol w="1895475"/>
                <a:gridCol w="3657600"/>
              </a:tblGrid>
              <a:tr h="98581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1" i="0" u="none" strike="noStrike" cap="none" normalizeH="0" baseline="0" smtClean="0">
                        <a:ln>
                          <a:noFill/>
                        </a:ln>
                        <a:solidFill>
                          <a:schemeClr val="tx1"/>
                        </a:solidFill>
                        <a:effectLst/>
                        <a:latin typeface="Arial"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smtClean="0">
                          <a:ln>
                            <a:noFill/>
                          </a:ln>
                          <a:solidFill>
                            <a:schemeClr val="tx1"/>
                          </a:solidFill>
                          <a:effectLst/>
                          <a:latin typeface="Arial" pitchFamily="34" charset="0"/>
                        </a:rPr>
                        <a:t>Graphical methods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smtClean="0">
                          <a:ln>
                            <a:noFill/>
                          </a:ln>
                          <a:solidFill>
                            <a:schemeClr val="tx1"/>
                          </a:solidFill>
                          <a:effectLst/>
                          <a:latin typeface="Arial" pitchFamily="34" charset="0"/>
                        </a:rPr>
                        <a:t>Numerical Methods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75732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smtClean="0">
                          <a:ln>
                            <a:noFill/>
                          </a:ln>
                          <a:solidFill>
                            <a:schemeClr val="tx1"/>
                          </a:solidFill>
                          <a:effectLst/>
                          <a:latin typeface="Arial" pitchFamily="34" charset="0"/>
                        </a:rPr>
                        <a:t>Descriptive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Char char="•"/>
                        <a:tabLst/>
                      </a:pPr>
                      <a:r>
                        <a:rPr kumimoji="0" lang="en-US" sz="2400" b="1" i="0" u="none" strike="noStrike" cap="none" normalizeH="0" baseline="0" smtClean="0">
                          <a:ln>
                            <a:noFill/>
                          </a:ln>
                          <a:solidFill>
                            <a:schemeClr val="tx1"/>
                          </a:solidFill>
                          <a:effectLst/>
                          <a:latin typeface="Arial" pitchFamily="34" charset="0"/>
                        </a:rPr>
                        <a:t>Histogram</a:t>
                      </a:r>
                    </a:p>
                    <a:p>
                      <a:pPr marL="0" marR="0" lvl="0" indent="0" algn="l" defTabSz="914400" rtl="0" eaLnBrk="1" fontAlgn="base" latinLnBrk="0" hangingPunct="1">
                        <a:lnSpc>
                          <a:spcPct val="100000"/>
                        </a:lnSpc>
                        <a:spcBef>
                          <a:spcPct val="20000"/>
                        </a:spcBef>
                        <a:spcAft>
                          <a:spcPct val="0"/>
                        </a:spcAft>
                        <a:buClrTx/>
                        <a:buSzTx/>
                        <a:buFontTx/>
                        <a:buChar char="•"/>
                        <a:tabLst/>
                      </a:pPr>
                      <a:r>
                        <a:rPr kumimoji="0" lang="en-US" sz="2400" b="1" i="0" u="none" strike="noStrike" cap="none" normalizeH="0" baseline="0" smtClean="0">
                          <a:ln>
                            <a:noFill/>
                          </a:ln>
                          <a:solidFill>
                            <a:schemeClr val="tx1"/>
                          </a:solidFill>
                          <a:effectLst/>
                          <a:latin typeface="Arial" pitchFamily="34" charset="0"/>
                        </a:rPr>
                        <a:t>Stem and Leaf plot</a:t>
                      </a:r>
                    </a:p>
                    <a:p>
                      <a:pPr marL="0" marR="0" lvl="0" indent="0" algn="l" defTabSz="914400" rtl="0" eaLnBrk="1" fontAlgn="base" latinLnBrk="0" hangingPunct="1">
                        <a:lnSpc>
                          <a:spcPct val="100000"/>
                        </a:lnSpc>
                        <a:spcBef>
                          <a:spcPct val="20000"/>
                        </a:spcBef>
                        <a:spcAft>
                          <a:spcPct val="0"/>
                        </a:spcAft>
                        <a:buClrTx/>
                        <a:buSzTx/>
                        <a:buFontTx/>
                        <a:buChar char="•"/>
                        <a:tabLst/>
                      </a:pPr>
                      <a:r>
                        <a:rPr kumimoji="0" lang="en-US" sz="2400" b="1" i="0" u="none" strike="noStrike" cap="none" normalizeH="0" baseline="0" smtClean="0">
                          <a:ln>
                            <a:noFill/>
                          </a:ln>
                          <a:solidFill>
                            <a:schemeClr val="tx1"/>
                          </a:solidFill>
                          <a:effectLst/>
                          <a:latin typeface="Arial" pitchFamily="34" charset="0"/>
                        </a:rPr>
                        <a:t>Box Plot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Char char="•"/>
                        <a:tabLst/>
                      </a:pPr>
                      <a:r>
                        <a:rPr kumimoji="0" lang="en-US" sz="2400" b="1" i="0" u="none" strike="noStrike" cap="none" normalizeH="0" baseline="0" smtClean="0">
                          <a:ln>
                            <a:noFill/>
                          </a:ln>
                          <a:solidFill>
                            <a:schemeClr val="tx1"/>
                          </a:solidFill>
                          <a:effectLst/>
                          <a:latin typeface="Arial" pitchFamily="34" charset="0"/>
                        </a:rPr>
                        <a:t>Mean, Median, Mode</a:t>
                      </a:r>
                    </a:p>
                    <a:p>
                      <a:pPr marL="0" marR="0" lvl="0" indent="0" algn="l" defTabSz="914400" rtl="0" eaLnBrk="1" fontAlgn="base" latinLnBrk="0" hangingPunct="1">
                        <a:lnSpc>
                          <a:spcPct val="100000"/>
                        </a:lnSpc>
                        <a:spcBef>
                          <a:spcPct val="20000"/>
                        </a:spcBef>
                        <a:spcAft>
                          <a:spcPct val="0"/>
                        </a:spcAft>
                        <a:buClrTx/>
                        <a:buSzTx/>
                        <a:buFontTx/>
                        <a:buChar char="•"/>
                        <a:tabLst/>
                      </a:pPr>
                      <a:r>
                        <a:rPr kumimoji="0" lang="en-US" sz="2400" b="1" i="0" u="none" strike="noStrike" cap="none" normalizeH="0" baseline="0" smtClean="0">
                          <a:ln>
                            <a:noFill/>
                          </a:ln>
                          <a:solidFill>
                            <a:schemeClr val="tx1"/>
                          </a:solidFill>
                          <a:effectLst/>
                          <a:latin typeface="Arial" pitchFamily="34" charset="0"/>
                        </a:rPr>
                        <a:t>Skewness</a:t>
                      </a:r>
                    </a:p>
                    <a:p>
                      <a:pPr marL="0" marR="0" lvl="0" indent="0" algn="l" defTabSz="914400" rtl="0" eaLnBrk="1" fontAlgn="base" latinLnBrk="0" hangingPunct="1">
                        <a:lnSpc>
                          <a:spcPct val="100000"/>
                        </a:lnSpc>
                        <a:spcBef>
                          <a:spcPct val="20000"/>
                        </a:spcBef>
                        <a:spcAft>
                          <a:spcPct val="0"/>
                        </a:spcAft>
                        <a:buClrTx/>
                        <a:buSzTx/>
                        <a:buFontTx/>
                        <a:buChar char="•"/>
                        <a:tabLst/>
                      </a:pPr>
                      <a:r>
                        <a:rPr kumimoji="0" lang="en-US" sz="2400" b="1" i="0" u="none" strike="noStrike" cap="none" normalizeH="0" baseline="0" smtClean="0">
                          <a:ln>
                            <a:noFill/>
                          </a:ln>
                          <a:solidFill>
                            <a:schemeClr val="tx1"/>
                          </a:solidFill>
                          <a:effectLst/>
                          <a:latin typeface="Arial" pitchFamily="34" charset="0"/>
                        </a:rPr>
                        <a:t>Kurtosis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3696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smtClean="0">
                          <a:ln>
                            <a:noFill/>
                          </a:ln>
                          <a:solidFill>
                            <a:schemeClr val="tx1"/>
                          </a:solidFill>
                          <a:effectLst/>
                          <a:latin typeface="Arial" pitchFamily="34" charset="0"/>
                        </a:rPr>
                        <a:t>Theory-Driven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Char char="•"/>
                        <a:tabLst/>
                      </a:pPr>
                      <a:r>
                        <a:rPr kumimoji="0" lang="en-US" sz="2400" b="1" i="0" u="none" strike="noStrike" cap="none" normalizeH="0" baseline="0" smtClean="0">
                          <a:ln>
                            <a:noFill/>
                          </a:ln>
                          <a:solidFill>
                            <a:schemeClr val="tx1"/>
                          </a:solidFill>
                          <a:effectLst/>
                          <a:latin typeface="Arial" pitchFamily="34" charset="0"/>
                        </a:rPr>
                        <a:t>P-P plot</a:t>
                      </a:r>
                    </a:p>
                    <a:p>
                      <a:pPr marL="0" marR="0" lvl="0" indent="0" algn="l" defTabSz="914400" rtl="0" eaLnBrk="1" fontAlgn="base" latinLnBrk="0" hangingPunct="1">
                        <a:lnSpc>
                          <a:spcPct val="100000"/>
                        </a:lnSpc>
                        <a:spcBef>
                          <a:spcPct val="20000"/>
                        </a:spcBef>
                        <a:spcAft>
                          <a:spcPct val="0"/>
                        </a:spcAft>
                        <a:buClrTx/>
                        <a:buSzTx/>
                        <a:buFontTx/>
                        <a:buChar char="•"/>
                        <a:tabLst/>
                      </a:pPr>
                      <a:r>
                        <a:rPr kumimoji="0" lang="en-US" sz="2400" b="1" i="0" u="none" strike="noStrike" cap="none" normalizeH="0" baseline="0" smtClean="0">
                          <a:ln>
                            <a:noFill/>
                          </a:ln>
                          <a:solidFill>
                            <a:schemeClr val="tx1"/>
                          </a:solidFill>
                          <a:effectLst/>
                          <a:latin typeface="Arial" pitchFamily="34" charset="0"/>
                        </a:rPr>
                        <a:t>Q-Q plot</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1" i="0" u="none" strike="noStrike" cap="none" normalizeH="0" baseline="0" smtClean="0">
                        <a:ln>
                          <a:noFill/>
                        </a:ln>
                        <a:solidFill>
                          <a:schemeClr val="tx1"/>
                        </a:solidFill>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533400" marR="0" lvl="0" indent="-533400" algn="l" defTabSz="914400" rtl="0" eaLnBrk="1" fontAlgn="base" latinLnBrk="0" hangingPunct="1">
                        <a:lnSpc>
                          <a:spcPct val="100000"/>
                        </a:lnSpc>
                        <a:spcBef>
                          <a:spcPct val="20000"/>
                        </a:spcBef>
                        <a:spcAft>
                          <a:spcPct val="0"/>
                        </a:spcAft>
                        <a:buClrTx/>
                        <a:buSzTx/>
                        <a:buFontTx/>
                        <a:buAutoNum type="arabicPeriod"/>
                        <a:tabLst/>
                      </a:pPr>
                      <a:r>
                        <a:rPr kumimoji="0" lang="en-US" sz="2400" b="1" i="0" u="none" strike="noStrike" cap="none" normalizeH="0" baseline="0" smtClean="0">
                          <a:ln>
                            <a:noFill/>
                          </a:ln>
                          <a:solidFill>
                            <a:schemeClr val="tx1"/>
                          </a:solidFill>
                          <a:effectLst/>
                          <a:latin typeface="Arial" pitchFamily="34" charset="0"/>
                        </a:rPr>
                        <a:t>Shapiro-Wilks W test</a:t>
                      </a:r>
                    </a:p>
                    <a:p>
                      <a:pPr marL="533400" marR="0" lvl="0" indent="-533400" algn="l" defTabSz="914400" rtl="0" eaLnBrk="1" fontAlgn="base" latinLnBrk="0" hangingPunct="1">
                        <a:lnSpc>
                          <a:spcPct val="100000"/>
                        </a:lnSpc>
                        <a:spcBef>
                          <a:spcPct val="20000"/>
                        </a:spcBef>
                        <a:spcAft>
                          <a:spcPct val="0"/>
                        </a:spcAft>
                        <a:buClrTx/>
                        <a:buSzTx/>
                        <a:buFontTx/>
                        <a:buAutoNum type="arabicPeriod"/>
                        <a:tabLst/>
                      </a:pPr>
                      <a:r>
                        <a:rPr kumimoji="0" lang="en-US" sz="2400" b="1" i="0" u="none" strike="noStrike" cap="none" normalizeH="0" baseline="0" smtClean="0">
                          <a:ln>
                            <a:noFill/>
                          </a:ln>
                          <a:solidFill>
                            <a:schemeClr val="tx1"/>
                          </a:solidFill>
                          <a:effectLst/>
                          <a:latin typeface="Arial" pitchFamily="34" charset="0"/>
                        </a:rPr>
                        <a:t>Chi-square goodness of fit test</a:t>
                      </a:r>
                    </a:p>
                    <a:p>
                      <a:pPr marL="533400" marR="0" lvl="0" indent="-533400" algn="l" defTabSz="914400" rtl="0" eaLnBrk="1" fontAlgn="base" latinLnBrk="0" hangingPunct="1">
                        <a:lnSpc>
                          <a:spcPct val="100000"/>
                        </a:lnSpc>
                        <a:spcBef>
                          <a:spcPct val="20000"/>
                        </a:spcBef>
                        <a:spcAft>
                          <a:spcPct val="0"/>
                        </a:spcAft>
                        <a:buClrTx/>
                        <a:buSzTx/>
                        <a:buFontTx/>
                        <a:buAutoNum type="arabicPeriod"/>
                        <a:tabLst/>
                      </a:pPr>
                      <a:r>
                        <a:rPr kumimoji="0" lang="en-US" sz="2400" b="1" i="0" u="none" strike="noStrike" cap="none" normalizeH="0" baseline="0" smtClean="0">
                          <a:ln>
                            <a:noFill/>
                          </a:ln>
                          <a:solidFill>
                            <a:schemeClr val="tx1"/>
                          </a:solidFill>
                          <a:effectLst/>
                          <a:latin typeface="Arial" pitchFamily="34" charset="0"/>
                        </a:rPr>
                        <a:t>Kolmogorov-Smirnov test (Lillefors test)</a:t>
                      </a:r>
                    </a:p>
                    <a:p>
                      <a:pPr marL="533400" marR="0" lvl="0" indent="-533400" algn="l" defTabSz="914400" rtl="0" eaLnBrk="1" fontAlgn="base" latinLnBrk="0" hangingPunct="1">
                        <a:lnSpc>
                          <a:spcPct val="100000"/>
                        </a:lnSpc>
                        <a:spcBef>
                          <a:spcPct val="20000"/>
                        </a:spcBef>
                        <a:spcAft>
                          <a:spcPct val="0"/>
                        </a:spcAft>
                        <a:buClrTx/>
                        <a:buSzTx/>
                        <a:buFontTx/>
                        <a:buAutoNum type="arabicPeriod"/>
                        <a:tabLst/>
                      </a:pPr>
                      <a:r>
                        <a:rPr kumimoji="0" lang="en-US" sz="2400" b="1" i="0" u="none" strike="noStrike" cap="none" normalizeH="0" baseline="0" smtClean="0">
                          <a:ln>
                            <a:noFill/>
                          </a:ln>
                          <a:solidFill>
                            <a:schemeClr val="tx1"/>
                          </a:solidFill>
                          <a:effectLst/>
                          <a:latin typeface="Arial" pitchFamily="34" charset="0"/>
                        </a:rPr>
                        <a:t>Jarque-Bera test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smtClean="0"/>
              <a:t>Testing Normality</a:t>
            </a:r>
          </a:p>
        </p:txBody>
      </p:sp>
      <p:sp>
        <p:nvSpPr>
          <p:cNvPr id="7171" name="Rectangle 3"/>
          <p:cNvSpPr>
            <a:spLocks noGrp="1" noChangeArrowheads="1"/>
          </p:cNvSpPr>
          <p:nvPr>
            <p:ph type="body" idx="1"/>
          </p:nvPr>
        </p:nvSpPr>
        <p:spPr/>
        <p:txBody>
          <a:bodyPr/>
          <a:lstStyle/>
          <a:p>
            <a:pPr eaLnBrk="1" hangingPunct="1"/>
            <a:r>
              <a:rPr lang="en-US" smtClean="0"/>
              <a:t>Assumption: Data were sampled from a Gaussian distribution</a:t>
            </a:r>
          </a:p>
          <a:p>
            <a:pPr eaLnBrk="1" hangingPunct="1"/>
            <a:r>
              <a:rPr lang="en-US" smtClean="0"/>
              <a:t>Graphical methods</a:t>
            </a:r>
          </a:p>
          <a:p>
            <a:pPr lvl="1" eaLnBrk="1" hangingPunct="1">
              <a:buFontTx/>
              <a:buNone/>
            </a:pPr>
            <a:r>
              <a:rPr lang="en-US" smtClean="0"/>
              <a:t>     Descriptive plots</a:t>
            </a:r>
          </a:p>
          <a:p>
            <a:pPr lvl="2" eaLnBrk="1" hangingPunct="1"/>
            <a:r>
              <a:rPr lang="en-US" smtClean="0"/>
              <a:t>Stem and leaf plot , Box plot</a:t>
            </a:r>
          </a:p>
          <a:p>
            <a:pPr lvl="2" eaLnBrk="1" hangingPunct="1">
              <a:buFontTx/>
              <a:buNone/>
            </a:pPr>
            <a:r>
              <a:rPr lang="en-US" smtClean="0"/>
              <a:t>Theory driven plots</a:t>
            </a:r>
          </a:p>
          <a:p>
            <a:pPr lvl="3" eaLnBrk="1" hangingPunct="1"/>
            <a:r>
              <a:rPr lang="en-US" smtClean="0"/>
              <a:t>P- P plot,  Q-Q plot</a:t>
            </a:r>
          </a:p>
          <a:p>
            <a:pPr lvl="1" eaLnBrk="1" hangingPunct="1"/>
            <a:endParaRPr lang="en-US" smtClean="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smtClean="0"/>
              <a:t>Descriptive plots</a:t>
            </a:r>
          </a:p>
        </p:txBody>
      </p:sp>
      <p:sp>
        <p:nvSpPr>
          <p:cNvPr id="8195" name="Rectangle 3"/>
          <p:cNvSpPr>
            <a:spLocks noGrp="1" noChangeArrowheads="1"/>
          </p:cNvSpPr>
          <p:nvPr>
            <p:ph type="body" idx="1"/>
          </p:nvPr>
        </p:nvSpPr>
        <p:spPr/>
        <p:txBody>
          <a:bodyPr/>
          <a:lstStyle/>
          <a:p>
            <a:pPr eaLnBrk="1" hangingPunct="1"/>
            <a:r>
              <a:rPr lang="en-US" sz="2800" smtClean="0"/>
              <a:t>Stem and leaf plot</a:t>
            </a:r>
          </a:p>
          <a:p>
            <a:pPr lvl="1" eaLnBrk="1" hangingPunct="1"/>
            <a:r>
              <a:rPr lang="en-US" sz="2400" smtClean="0"/>
              <a:t>When n is small, continuous /categorical data data</a:t>
            </a:r>
          </a:p>
          <a:p>
            <a:pPr eaLnBrk="1" hangingPunct="1"/>
            <a:r>
              <a:rPr lang="en-US" sz="2800" smtClean="0"/>
              <a:t>Box plot </a:t>
            </a:r>
          </a:p>
          <a:p>
            <a:pPr lvl="1" eaLnBrk="1" hangingPunct="1"/>
            <a:r>
              <a:rPr lang="en-US" sz="2400" smtClean="0"/>
              <a:t> When n is small, continuous /categorical data data</a:t>
            </a:r>
          </a:p>
          <a:p>
            <a:pPr lvl="1" eaLnBrk="1" hangingPunct="1"/>
            <a:r>
              <a:rPr lang="en-US" sz="2400" smtClean="0"/>
              <a:t>Presents- minimum, 25</a:t>
            </a:r>
            <a:r>
              <a:rPr lang="en-US" sz="2400" baseline="30000" smtClean="0"/>
              <a:t>th</a:t>
            </a:r>
            <a:r>
              <a:rPr lang="en-US" sz="2400" smtClean="0"/>
              <a:t> percentile, 50</a:t>
            </a:r>
            <a:r>
              <a:rPr lang="en-US" sz="2400" baseline="30000" smtClean="0"/>
              <a:t>th</a:t>
            </a:r>
            <a:r>
              <a:rPr lang="en-US" sz="2400" smtClean="0"/>
              <a:t> percentile and 75</a:t>
            </a:r>
            <a:r>
              <a:rPr lang="en-US" sz="2400" baseline="30000" smtClean="0"/>
              <a:t>th</a:t>
            </a:r>
            <a:r>
              <a:rPr lang="en-US" sz="2400" smtClean="0"/>
              <a:t> percentile and maximum in a box and lines</a:t>
            </a:r>
          </a:p>
          <a:p>
            <a:pPr lvl="1" eaLnBrk="1" hangingPunct="1"/>
            <a:r>
              <a:rPr lang="en-US" sz="2400" smtClean="0"/>
              <a:t>If normal- 25</a:t>
            </a:r>
            <a:r>
              <a:rPr lang="en-US" sz="2400" baseline="30000" smtClean="0"/>
              <a:t>th</a:t>
            </a:r>
            <a:r>
              <a:rPr lang="en-US" sz="2400" smtClean="0"/>
              <a:t> and 75</a:t>
            </a:r>
            <a:r>
              <a:rPr lang="en-US" sz="2400" baseline="30000" smtClean="0"/>
              <a:t>th</a:t>
            </a:r>
            <a:r>
              <a:rPr lang="en-US" sz="2400" smtClean="0"/>
              <a:t> percentile must be symmetric, mean and median located at same point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smtClean="0"/>
              <a:t>Theory driven plots</a:t>
            </a:r>
          </a:p>
        </p:txBody>
      </p:sp>
      <p:sp>
        <p:nvSpPr>
          <p:cNvPr id="9219" name="Rectangle 3"/>
          <p:cNvSpPr>
            <a:spLocks noGrp="1" noChangeArrowheads="1"/>
          </p:cNvSpPr>
          <p:nvPr>
            <p:ph type="body" idx="1"/>
          </p:nvPr>
        </p:nvSpPr>
        <p:spPr/>
        <p:txBody>
          <a:bodyPr/>
          <a:lstStyle/>
          <a:p>
            <a:pPr eaLnBrk="1" hangingPunct="1">
              <a:lnSpc>
                <a:spcPct val="90000"/>
              </a:lnSpc>
            </a:pPr>
            <a:r>
              <a:rPr lang="en-US" smtClean="0"/>
              <a:t>Probability-Probability plot</a:t>
            </a:r>
          </a:p>
          <a:p>
            <a:pPr lvl="1" eaLnBrk="1" hangingPunct="1">
              <a:lnSpc>
                <a:spcPct val="90000"/>
              </a:lnSpc>
            </a:pPr>
            <a:r>
              <a:rPr lang="en-US" smtClean="0"/>
              <a:t>Compares empirical cumulative distribution of a variable with a specific theoretical cumulative distribution</a:t>
            </a:r>
          </a:p>
          <a:p>
            <a:pPr eaLnBrk="1" hangingPunct="1">
              <a:lnSpc>
                <a:spcPct val="90000"/>
              </a:lnSpc>
            </a:pPr>
            <a:r>
              <a:rPr lang="en-US" smtClean="0"/>
              <a:t>Quantile-Quantile plot </a:t>
            </a:r>
          </a:p>
          <a:p>
            <a:pPr lvl="1" eaLnBrk="1" hangingPunct="1">
              <a:lnSpc>
                <a:spcPct val="90000"/>
              </a:lnSpc>
            </a:pPr>
            <a:r>
              <a:rPr lang="en-US" smtClean="0"/>
              <a:t> compares ordered values of variable with quantiles of a specific theoretical distribution</a:t>
            </a:r>
          </a:p>
          <a:p>
            <a:pPr lvl="1" eaLnBrk="1" hangingPunct="1">
              <a:lnSpc>
                <a:spcPct val="90000"/>
              </a:lnSpc>
              <a:buFontTx/>
              <a:buNone/>
            </a:pPr>
            <a:r>
              <a:rPr lang="en-US" smtClean="0"/>
              <a:t>Detrended plots- actual deviation of data points from the straight line at 0 – No specific pattern – indicates normality</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smtClean="0"/>
              <a:t>Descriptive statistics</a:t>
            </a:r>
          </a:p>
        </p:txBody>
      </p:sp>
      <p:sp>
        <p:nvSpPr>
          <p:cNvPr id="10243" name="Rectangle 3"/>
          <p:cNvSpPr>
            <a:spLocks noGrp="1" noChangeArrowheads="1"/>
          </p:cNvSpPr>
          <p:nvPr>
            <p:ph type="body" idx="1"/>
          </p:nvPr>
        </p:nvSpPr>
        <p:spPr/>
        <p:txBody>
          <a:bodyPr/>
          <a:lstStyle/>
          <a:p>
            <a:pPr eaLnBrk="1" hangingPunct="1"/>
            <a:r>
              <a:rPr lang="en-US" smtClean="0"/>
              <a:t>Skewness/std error- should be within the range of +2 to -2 range</a:t>
            </a:r>
          </a:p>
          <a:p>
            <a:pPr eaLnBrk="1" hangingPunct="1"/>
            <a:r>
              <a:rPr lang="en-US" smtClean="0"/>
              <a:t>Kurtosis -  Fisher’s kurtosis =0 ,   </a:t>
            </a:r>
          </a:p>
          <a:p>
            <a:pPr eaLnBrk="1" hangingPunct="1">
              <a:buFontTx/>
              <a:buNone/>
            </a:pPr>
            <a:r>
              <a:rPr lang="en-US" smtClean="0"/>
              <a:t>                    Pearson’s Kurtosis= 3 </a:t>
            </a:r>
          </a:p>
          <a:p>
            <a:pPr lvl="1" eaLnBrk="1" hangingPunct="1"/>
            <a:r>
              <a:rPr lang="en-US" smtClean="0"/>
              <a:t>SPSS uses Fishers’s  i.e. K  =0 normal  , </a:t>
            </a:r>
          </a:p>
          <a:p>
            <a:pPr lvl="1" eaLnBrk="1" hangingPunct="1"/>
            <a:r>
              <a:rPr lang="en-US" smtClean="0"/>
              <a:t>should be within the range of +3 to -3 range</a:t>
            </a:r>
          </a:p>
          <a:p>
            <a:pPr lvl="1" eaLnBrk="1" hangingPunct="1"/>
            <a:endParaRPr lang="en-US" smtClean="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normAutofit fontScale="90000"/>
          </a:bodyPr>
          <a:lstStyle/>
          <a:p>
            <a:pPr eaLnBrk="1" hangingPunct="1"/>
            <a:r>
              <a:rPr lang="en-US" sz="4000" b="1" i="1" smtClean="0"/>
              <a:t>Kolmogorov-Smirnov test</a:t>
            </a:r>
            <a:r>
              <a:rPr lang="en-US" sz="4000" i="1" smtClean="0"/>
              <a:t> </a:t>
            </a:r>
            <a:br>
              <a:rPr lang="en-US" sz="4000" i="1" smtClean="0"/>
            </a:br>
            <a:r>
              <a:rPr lang="en-US" sz="4000" i="1" smtClean="0"/>
              <a:t>  now K-S Lilliefors test </a:t>
            </a:r>
            <a:r>
              <a:rPr lang="en-US" sz="4000" smtClean="0"/>
              <a:t/>
            </a:r>
            <a:br>
              <a:rPr lang="en-US" sz="4000" smtClean="0"/>
            </a:br>
            <a:endParaRPr lang="en-US" sz="4000" smtClean="0"/>
          </a:p>
        </p:txBody>
      </p:sp>
      <p:sp>
        <p:nvSpPr>
          <p:cNvPr id="11267" name="Rectangle 3"/>
          <p:cNvSpPr>
            <a:spLocks noGrp="1" noChangeArrowheads="1"/>
          </p:cNvSpPr>
          <p:nvPr>
            <p:ph type="body" idx="1"/>
          </p:nvPr>
        </p:nvSpPr>
        <p:spPr/>
        <p:txBody>
          <a:bodyPr/>
          <a:lstStyle/>
          <a:p>
            <a:pPr eaLnBrk="1" hangingPunct="1">
              <a:lnSpc>
                <a:spcPct val="90000"/>
              </a:lnSpc>
            </a:pPr>
            <a:r>
              <a:rPr lang="en-US" sz="2400" smtClean="0"/>
              <a:t>applied to test whether data follow any specified distribution, not just the normal distribution. </a:t>
            </a:r>
          </a:p>
          <a:p>
            <a:pPr eaLnBrk="1" hangingPunct="1">
              <a:lnSpc>
                <a:spcPct val="90000"/>
              </a:lnSpc>
            </a:pPr>
            <a:r>
              <a:rPr lang="en-US" sz="2400" smtClean="0"/>
              <a:t>not as powerful as a test specifically designed to test for normality-  </a:t>
            </a:r>
            <a:r>
              <a:rPr lang="en-US" sz="2400" smtClean="0">
                <a:solidFill>
                  <a:srgbClr val="3333FF"/>
                </a:solidFill>
              </a:rPr>
              <a:t>conservative test</a:t>
            </a:r>
            <a:r>
              <a:rPr lang="en-US" sz="2400" smtClean="0"/>
              <a:t> (and thus loses power) if the mean and/or variance is not specified beforehand, but must be calculated from the sample data. </a:t>
            </a:r>
          </a:p>
          <a:p>
            <a:pPr eaLnBrk="1" hangingPunct="1">
              <a:lnSpc>
                <a:spcPct val="90000"/>
              </a:lnSpc>
            </a:pPr>
            <a:r>
              <a:rPr lang="en-US" sz="2400" smtClean="0"/>
              <a:t>Will not indicate the type of non-normality, say whether the distribution appears to be skewed or heavy-tailed. </a:t>
            </a:r>
          </a:p>
          <a:p>
            <a:pPr eaLnBrk="1" hangingPunct="1">
              <a:lnSpc>
                <a:spcPct val="90000"/>
              </a:lnSpc>
            </a:pPr>
            <a:r>
              <a:rPr lang="en-US" sz="2400" smtClean="0"/>
              <a:t>Examination of the calculated skewness and kurtosis, and of the histogram, box plot, and normal probability plot for the data may provide clues as to why the data failed the Kolmogorov-Smirnov test.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smtClean="0"/>
              <a:t>Shapiro-Wilks W test</a:t>
            </a:r>
          </a:p>
        </p:txBody>
      </p:sp>
      <p:sp>
        <p:nvSpPr>
          <p:cNvPr id="12291" name="Rectangle 3"/>
          <p:cNvSpPr>
            <a:spLocks noGrp="1" noChangeArrowheads="1"/>
          </p:cNvSpPr>
          <p:nvPr>
            <p:ph type="body" idx="1"/>
          </p:nvPr>
        </p:nvSpPr>
        <p:spPr/>
        <p:txBody>
          <a:bodyPr/>
          <a:lstStyle/>
          <a:p>
            <a:pPr eaLnBrk="1" hangingPunct="1">
              <a:lnSpc>
                <a:spcPct val="90000"/>
              </a:lnSpc>
            </a:pPr>
            <a:r>
              <a:rPr lang="en-US" sz="2800" smtClean="0"/>
              <a:t>specifically designed to detect departures from normality, without requiring that the mean or variance of the hypothesized normal distribution be specified in advance. </a:t>
            </a:r>
          </a:p>
          <a:p>
            <a:pPr eaLnBrk="1" hangingPunct="1">
              <a:lnSpc>
                <a:spcPct val="90000"/>
              </a:lnSpc>
            </a:pPr>
            <a:r>
              <a:rPr lang="en-US" sz="2800" smtClean="0"/>
              <a:t>tests tend to be more powerful than the Kolmogorov-Smirnov test</a:t>
            </a:r>
          </a:p>
          <a:p>
            <a:pPr eaLnBrk="1" hangingPunct="1">
              <a:lnSpc>
                <a:spcPct val="90000"/>
              </a:lnSpc>
            </a:pPr>
            <a:r>
              <a:rPr lang="en-US" sz="2800" smtClean="0"/>
              <a:t>Examination of the calculated skewness and kurtosis, and of the histogram, box plot, and normal probability plot for the data may provide clues as to why the data failed the Shapiro-Wilk test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b="1" i="1" smtClean="0"/>
              <a:t>Jarque Bera test</a:t>
            </a:r>
          </a:p>
        </p:txBody>
      </p:sp>
      <p:sp>
        <p:nvSpPr>
          <p:cNvPr id="13315" name="Rectangle 3"/>
          <p:cNvSpPr>
            <a:spLocks noGrp="1" noChangeArrowheads="1"/>
          </p:cNvSpPr>
          <p:nvPr>
            <p:ph type="body" idx="1"/>
          </p:nvPr>
        </p:nvSpPr>
        <p:spPr/>
        <p:txBody>
          <a:bodyPr/>
          <a:lstStyle/>
          <a:p>
            <a:pPr eaLnBrk="1" hangingPunct="1"/>
            <a:r>
              <a:rPr lang="en-US" sz="2400" smtClean="0"/>
              <a:t>is a goodness-of-fit measure of departure from normality, based on the sample kurtosis and skewness. The test statistic </a:t>
            </a:r>
            <a:r>
              <a:rPr lang="en-US" sz="2400" i="1" smtClean="0"/>
              <a:t>JB</a:t>
            </a:r>
            <a:r>
              <a:rPr lang="en-US" sz="2400" smtClean="0"/>
              <a:t> is defined as</a:t>
            </a:r>
          </a:p>
          <a:p>
            <a:pPr eaLnBrk="1" hangingPunct="1"/>
            <a:endParaRPr lang="en-US" sz="2400" smtClean="0"/>
          </a:p>
          <a:p>
            <a:pPr eaLnBrk="1" hangingPunct="1">
              <a:buFontTx/>
              <a:buNone/>
            </a:pPr>
            <a:endParaRPr lang="en-US" sz="2400" smtClean="0"/>
          </a:p>
          <a:p>
            <a:pPr eaLnBrk="1" hangingPunct="1">
              <a:buFontTx/>
              <a:buNone/>
            </a:pPr>
            <a:endParaRPr lang="en-US" sz="2400" smtClean="0"/>
          </a:p>
          <a:p>
            <a:pPr eaLnBrk="1" hangingPunct="1">
              <a:buFontTx/>
              <a:buNone/>
            </a:pPr>
            <a:r>
              <a:rPr lang="en-US" sz="2400" smtClean="0"/>
              <a:t>where </a:t>
            </a:r>
            <a:r>
              <a:rPr lang="en-US" sz="2400" i="1" smtClean="0"/>
              <a:t>n</a:t>
            </a:r>
            <a:r>
              <a:rPr lang="en-US" sz="2400" smtClean="0"/>
              <a:t> is the number of observations (or degrees of freedom in general); </a:t>
            </a:r>
          </a:p>
          <a:p>
            <a:pPr eaLnBrk="1" hangingPunct="1">
              <a:buFontTx/>
              <a:buNone/>
            </a:pPr>
            <a:r>
              <a:rPr lang="en-US" sz="2400" i="1" smtClean="0"/>
              <a:t>S</a:t>
            </a:r>
            <a:r>
              <a:rPr lang="en-US" sz="2400" smtClean="0"/>
              <a:t> is the sample skewness, </a:t>
            </a:r>
            <a:r>
              <a:rPr lang="en-US" sz="2400" i="1" smtClean="0"/>
              <a:t>K</a:t>
            </a:r>
            <a:r>
              <a:rPr lang="en-US" sz="2400" smtClean="0"/>
              <a:t> is the sample kurtosis </a:t>
            </a:r>
          </a:p>
        </p:txBody>
      </p:sp>
      <p:pic>
        <p:nvPicPr>
          <p:cNvPr id="13316" name="Picture 4" descr="\mathit{JB} = \frac{n}{6} \left( S^2 + \frac{(K-3)^2}{4} \right),"/>
          <p:cNvPicPr>
            <a:picLocks noChangeAspect="1" noChangeArrowheads="1"/>
          </p:cNvPicPr>
          <p:nvPr/>
        </p:nvPicPr>
        <p:blipFill>
          <a:blip r:embed="rId2"/>
          <a:srcRect/>
          <a:stretch>
            <a:fillRect/>
          </a:stretch>
        </p:blipFill>
        <p:spPr bwMode="auto">
          <a:xfrm>
            <a:off x="2438400" y="3035300"/>
            <a:ext cx="4572000" cy="760413"/>
          </a:xfrm>
          <a:prstGeom prst="rect">
            <a:avLst/>
          </a:prstGeom>
          <a:noFill/>
          <a:ln w="9525">
            <a:noFill/>
            <a:miter lim="800000"/>
            <a:headEnd/>
            <a:tailEnd/>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b="1" i="1" smtClean="0"/>
              <a:t>Jarque Bera test</a:t>
            </a:r>
          </a:p>
        </p:txBody>
      </p:sp>
      <p:pic>
        <p:nvPicPr>
          <p:cNvPr id="14339" name="Picture 3" descr="S = \frac{ \mu_3 }{ \sigma^3 } = \frac{ \mu_3 }{ \left( \sigma^2 \right)^{3/2} } = \frac{ \frac{1}{n} \sum_{i=1}^n \left( x - \bar{x} \right)^3}{ \left( \frac{1}{n} \sum_{i=1}^n \left( x - \bar{x} \right)^2 \right)^{3/2}}"/>
          <p:cNvPicPr>
            <a:picLocks noGrp="1" noChangeAspect="1" noChangeArrowheads="1"/>
          </p:cNvPicPr>
          <p:nvPr>
            <p:ph type="body" idx="1"/>
          </p:nvPr>
        </p:nvPicPr>
        <p:blipFill>
          <a:blip r:embed="rId2"/>
          <a:srcRect/>
          <a:stretch>
            <a:fillRect/>
          </a:stretch>
        </p:blipFill>
        <p:spPr>
          <a:xfrm>
            <a:off x="1752600" y="1524000"/>
            <a:ext cx="5324475" cy="989013"/>
          </a:xfrm>
          <a:noFill/>
        </p:spPr>
      </p:pic>
      <p:pic>
        <p:nvPicPr>
          <p:cNvPr id="14340" name="Picture 4" descr="K = \frac{ \mu_4 }{ \sigma^4 } = \frac{ \mu_4 }{ \left( \sigma^2 \right)^{2} } = \frac{\frac{1}{n} \sum_{i=1}^n \left( x - \bar{x} \right)^4}{\left( \frac{1}{n} \sum_{i=1}^n \left( x - \bar{x} \right)^2 \right)^2}"/>
          <p:cNvPicPr>
            <a:picLocks noChangeAspect="1" noChangeArrowheads="1"/>
          </p:cNvPicPr>
          <p:nvPr/>
        </p:nvPicPr>
        <p:blipFill>
          <a:blip r:embed="rId3"/>
          <a:srcRect/>
          <a:stretch>
            <a:fillRect/>
          </a:stretch>
        </p:blipFill>
        <p:spPr bwMode="auto">
          <a:xfrm>
            <a:off x="1600200" y="2760663"/>
            <a:ext cx="5562600" cy="1092200"/>
          </a:xfrm>
          <a:prstGeom prst="rect">
            <a:avLst/>
          </a:prstGeom>
          <a:noFill/>
          <a:ln w="9525">
            <a:noFill/>
            <a:miter lim="800000"/>
            <a:headEnd/>
            <a:tailEnd/>
          </a:ln>
        </p:spPr>
      </p:pic>
      <p:pic>
        <p:nvPicPr>
          <p:cNvPr id="14341" name="Picture 5" descr="\bar{x}"/>
          <p:cNvPicPr>
            <a:picLocks noChangeAspect="1" noChangeArrowheads="1"/>
          </p:cNvPicPr>
          <p:nvPr/>
        </p:nvPicPr>
        <p:blipFill>
          <a:blip r:embed="rId4" r:link="rId5"/>
          <a:srcRect/>
          <a:stretch>
            <a:fillRect/>
          </a:stretch>
        </p:blipFill>
        <p:spPr bwMode="auto">
          <a:xfrm>
            <a:off x="2068513" y="3367088"/>
            <a:ext cx="104775" cy="1238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b="1" i="1" smtClean="0"/>
              <a:t>Jarque Bera test</a:t>
            </a:r>
          </a:p>
        </p:txBody>
      </p:sp>
      <p:sp>
        <p:nvSpPr>
          <p:cNvPr id="15363" name="Rectangle 3"/>
          <p:cNvSpPr>
            <a:spLocks noGrp="1" noChangeArrowheads="1"/>
          </p:cNvSpPr>
          <p:nvPr>
            <p:ph type="body" idx="1"/>
          </p:nvPr>
        </p:nvSpPr>
        <p:spPr/>
        <p:txBody>
          <a:bodyPr/>
          <a:lstStyle/>
          <a:p>
            <a:pPr eaLnBrk="1" hangingPunct="1">
              <a:lnSpc>
                <a:spcPct val="80000"/>
              </a:lnSpc>
            </a:pPr>
            <a:r>
              <a:rPr lang="en-US" sz="2800" smtClean="0"/>
              <a:t>The statistic </a:t>
            </a:r>
            <a:r>
              <a:rPr lang="en-US" sz="2800" i="1" smtClean="0"/>
              <a:t>JB</a:t>
            </a:r>
            <a:r>
              <a:rPr lang="en-US" sz="2800" smtClean="0"/>
              <a:t> has an asymptotic chi-square distribution with two degrees of freedom </a:t>
            </a:r>
          </a:p>
          <a:p>
            <a:pPr eaLnBrk="1" hangingPunct="1">
              <a:lnSpc>
                <a:spcPct val="80000"/>
              </a:lnSpc>
            </a:pPr>
            <a:r>
              <a:rPr lang="en-US" sz="2800" smtClean="0"/>
              <a:t>used to test the null hypothesis that the data are from a normal distribution. </a:t>
            </a:r>
          </a:p>
          <a:p>
            <a:pPr eaLnBrk="1" hangingPunct="1">
              <a:lnSpc>
                <a:spcPct val="80000"/>
              </a:lnSpc>
            </a:pPr>
            <a:r>
              <a:rPr lang="en-US" sz="2800" smtClean="0"/>
              <a:t>Null hypothesis is a joint hypothesis of both the skewness and excess kurtosis being 0, since samples from a normal distribution have an expected skewness of 0 and an expected excess kurtosis of 0.</a:t>
            </a:r>
          </a:p>
          <a:p>
            <a:pPr eaLnBrk="1" hangingPunct="1">
              <a:lnSpc>
                <a:spcPct val="80000"/>
              </a:lnSpc>
            </a:pPr>
            <a:r>
              <a:rPr lang="en-US" sz="2800" smtClean="0"/>
              <a:t>As the definition of </a:t>
            </a:r>
            <a:r>
              <a:rPr lang="en-US" sz="2800" i="1" smtClean="0"/>
              <a:t>JB</a:t>
            </a:r>
            <a:r>
              <a:rPr lang="en-US" sz="2800" smtClean="0"/>
              <a:t> shows, any deviation from this increases the JB statistic.</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normAutofit fontScale="90000"/>
          </a:bodyPr>
          <a:lstStyle/>
          <a:p>
            <a:pPr eaLnBrk="1" hangingPunct="1"/>
            <a:r>
              <a:rPr lang="en-US" sz="4000" smtClean="0">
                <a:solidFill>
                  <a:srgbClr val="CC0000"/>
                </a:solidFill>
              </a:rPr>
              <a:t>Transforming data for  normality</a:t>
            </a:r>
            <a:br>
              <a:rPr lang="en-US" sz="4000" smtClean="0">
                <a:solidFill>
                  <a:srgbClr val="CC0000"/>
                </a:solidFill>
              </a:rPr>
            </a:br>
            <a:endParaRPr lang="en-US" sz="4000" smtClean="0">
              <a:solidFill>
                <a:srgbClr val="CC0000"/>
              </a:solidFill>
            </a:endParaRPr>
          </a:p>
        </p:txBody>
      </p:sp>
      <p:sp>
        <p:nvSpPr>
          <p:cNvPr id="16387" name="Rectangle 3"/>
          <p:cNvSpPr>
            <a:spLocks noGrp="1" noChangeArrowheads="1"/>
          </p:cNvSpPr>
          <p:nvPr>
            <p:ph type="body" idx="1"/>
          </p:nvPr>
        </p:nvSpPr>
        <p:spPr/>
        <p:txBody>
          <a:bodyPr/>
          <a:lstStyle/>
          <a:p>
            <a:pPr eaLnBrk="1" hangingPunct="1"/>
            <a:r>
              <a:rPr lang="en-US" smtClean="0"/>
              <a:t>Skewed  distribution - </a:t>
            </a:r>
            <a:r>
              <a:rPr lang="en-US" smtClean="0">
                <a:solidFill>
                  <a:schemeClr val="accent2"/>
                </a:solidFill>
              </a:rPr>
              <a:t>Square root</a:t>
            </a:r>
            <a:r>
              <a:rPr lang="en-US" smtClean="0"/>
              <a:t> (negative sk), </a:t>
            </a:r>
            <a:r>
              <a:rPr lang="en-US" smtClean="0">
                <a:solidFill>
                  <a:schemeClr val="accent2"/>
                </a:solidFill>
              </a:rPr>
              <a:t>logarithm</a:t>
            </a:r>
            <a:r>
              <a:rPr lang="en-US" smtClean="0"/>
              <a:t> (positive sk), </a:t>
            </a:r>
            <a:r>
              <a:rPr lang="en-US" smtClean="0">
                <a:solidFill>
                  <a:schemeClr val="accent2"/>
                </a:solidFill>
              </a:rPr>
              <a:t>inverse </a:t>
            </a:r>
          </a:p>
          <a:p>
            <a:pPr eaLnBrk="1" hangingPunct="1"/>
            <a:r>
              <a:rPr lang="en-US" smtClean="0"/>
              <a:t>Flat distribution- </a:t>
            </a:r>
            <a:r>
              <a:rPr lang="en-US" smtClean="0">
                <a:solidFill>
                  <a:schemeClr val="accent2"/>
                </a:solidFill>
              </a:rPr>
              <a:t>inverse</a:t>
            </a:r>
          </a:p>
          <a:p>
            <a:pPr eaLnBrk="1" hangingPunct="1"/>
            <a:r>
              <a:rPr lang="en-US" smtClean="0">
                <a:solidFill>
                  <a:schemeClr val="accent2"/>
                </a:solidFill>
              </a:rPr>
              <a:t> Add / Divide by a number</a:t>
            </a:r>
          </a:p>
          <a:p>
            <a:pPr eaLnBrk="1" hangingPunct="1"/>
            <a:r>
              <a:rPr lang="en-US" smtClean="0">
                <a:solidFill>
                  <a:schemeClr val="accent2"/>
                </a:solidFill>
              </a:rPr>
              <a:t>Standardisation- Z score</a:t>
            </a:r>
          </a:p>
          <a:p>
            <a:pPr eaLnBrk="1" hangingPunct="1"/>
            <a:r>
              <a:rPr lang="en-US" smtClean="0">
                <a:solidFill>
                  <a:schemeClr val="accent2"/>
                </a:solidFill>
              </a:rPr>
              <a:t>Percentage change </a:t>
            </a:r>
          </a:p>
          <a:p>
            <a:pPr eaLnBrk="1" hangingPunct="1"/>
            <a:r>
              <a:rPr lang="en-US" smtClean="0">
                <a:solidFill>
                  <a:schemeClr val="accent2"/>
                </a:solidFill>
              </a:rPr>
              <a:t>Time series data – first difference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smtClean="0"/>
              <a:t>Returns</a:t>
            </a:r>
            <a:endParaRPr lang="en-IN" smtClean="0"/>
          </a:p>
        </p:txBody>
      </p:sp>
      <p:sp>
        <p:nvSpPr>
          <p:cNvPr id="3" name="Content Placeholder 2"/>
          <p:cNvSpPr>
            <a:spLocks noGrp="1"/>
          </p:cNvSpPr>
          <p:nvPr>
            <p:ph idx="1"/>
          </p:nvPr>
        </p:nvSpPr>
        <p:spPr/>
        <p:txBody>
          <a:bodyPr/>
          <a:lstStyle/>
          <a:p>
            <a:pPr>
              <a:defRPr/>
            </a:pPr>
            <a:r>
              <a:rPr lang="en-US" dirty="0" smtClean="0"/>
              <a:t>Simple return(Pt-Pt-1)/Pt-1 – not additive</a:t>
            </a:r>
          </a:p>
          <a:p>
            <a:pPr>
              <a:defRPr/>
            </a:pPr>
            <a:r>
              <a:rPr lang="en-US" dirty="0" smtClean="0"/>
              <a:t>Compound return – </a:t>
            </a:r>
            <a:r>
              <a:rPr lang="en-US" dirty="0" err="1" smtClean="0"/>
              <a:t>multiperiod</a:t>
            </a:r>
            <a:r>
              <a:rPr lang="en-US" dirty="0" smtClean="0"/>
              <a:t> return</a:t>
            </a:r>
          </a:p>
          <a:p>
            <a:pPr>
              <a:defRPr/>
            </a:pPr>
            <a:r>
              <a:rPr lang="en-US" dirty="0" err="1" smtClean="0"/>
              <a:t>Continous</a:t>
            </a:r>
            <a:r>
              <a:rPr lang="en-US" dirty="0" smtClean="0"/>
              <a:t> </a:t>
            </a:r>
            <a:r>
              <a:rPr lang="en-US" dirty="0" err="1" smtClean="0"/>
              <a:t>compunding</a:t>
            </a:r>
            <a:r>
              <a:rPr lang="en-US" dirty="0" smtClean="0"/>
              <a:t>-  </a:t>
            </a:r>
          </a:p>
          <a:p>
            <a:pPr lvl="2">
              <a:defRPr/>
            </a:pPr>
            <a:r>
              <a:rPr lang="en-US" dirty="0" smtClean="0"/>
              <a:t>log(pt-pt-1) </a:t>
            </a:r>
          </a:p>
          <a:p>
            <a:pPr lvl="2">
              <a:defRPr/>
            </a:pPr>
            <a:r>
              <a:rPr lang="en-US" dirty="0" smtClean="0"/>
              <a:t>(log </a:t>
            </a:r>
            <a:r>
              <a:rPr lang="en-US" dirty="0" err="1" smtClean="0"/>
              <a:t>pt</a:t>
            </a:r>
            <a:r>
              <a:rPr lang="en-US" dirty="0" smtClean="0"/>
              <a:t>)-(logpt-1)</a:t>
            </a:r>
          </a:p>
          <a:p>
            <a:pPr lvl="2">
              <a:defRPr/>
            </a:pPr>
            <a:endParaRPr lang="en-US" dirty="0"/>
          </a:p>
          <a:p>
            <a:pPr marL="914400" lvl="2" indent="0">
              <a:buFontTx/>
              <a:buNone/>
              <a:defRPr/>
            </a:pPr>
            <a:r>
              <a:rPr lang="en-US" dirty="0" smtClean="0"/>
              <a:t>Excess returns = Returns – reference rate of return</a:t>
            </a:r>
          </a:p>
          <a:p>
            <a:pPr marL="914400" lvl="2" indent="0">
              <a:buFontTx/>
              <a:buNone/>
              <a:defRPr/>
            </a:pPr>
            <a:r>
              <a:rPr lang="en-US" dirty="0" smtClean="0"/>
              <a:t>Abnormal returns= Returns – </a:t>
            </a:r>
            <a:r>
              <a:rPr lang="en-US" smtClean="0"/>
              <a:t>market return</a:t>
            </a:r>
            <a:endParaRPr lang="en-US" dirty="0" smtClean="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smtClean="0"/>
              <a:t>Preparing data for Analysis…</a:t>
            </a:r>
          </a:p>
        </p:txBody>
      </p:sp>
      <p:sp>
        <p:nvSpPr>
          <p:cNvPr id="18435" name="Rectangle 3"/>
          <p:cNvSpPr>
            <a:spLocks noGrp="1" noChangeArrowheads="1"/>
          </p:cNvSpPr>
          <p:nvPr>
            <p:ph type="body" idx="1"/>
          </p:nvPr>
        </p:nvSpPr>
        <p:spPr/>
        <p:txBody>
          <a:bodyPr/>
          <a:lstStyle/>
          <a:p>
            <a:pPr eaLnBrk="1" hangingPunct="1">
              <a:buFontTx/>
              <a:buNone/>
            </a:pPr>
            <a:r>
              <a:rPr lang="en-US" dirty="0" smtClean="0">
                <a:solidFill>
                  <a:srgbClr val="CC0000"/>
                </a:solidFill>
              </a:rPr>
              <a:t>Testing for  </a:t>
            </a:r>
            <a:r>
              <a:rPr lang="en-US" dirty="0" err="1" smtClean="0">
                <a:solidFill>
                  <a:srgbClr val="CC0000"/>
                </a:solidFill>
              </a:rPr>
              <a:t>Stationarity</a:t>
            </a:r>
            <a:endParaRPr lang="en-US" dirty="0" smtClean="0">
              <a:solidFill>
                <a:srgbClr val="CC0000"/>
              </a:solidFill>
            </a:endParaRPr>
          </a:p>
          <a:p>
            <a:pPr eaLnBrk="1" hangingPunct="1">
              <a:buFontTx/>
              <a:buNone/>
            </a:pPr>
            <a:endParaRPr lang="en-US" dirty="0" smtClean="0">
              <a:solidFill>
                <a:schemeClr val="accent2"/>
              </a:solidFill>
            </a:endParaRPr>
          </a:p>
          <a:p>
            <a:pPr eaLnBrk="1" hangingPunct="1">
              <a:buFontTx/>
              <a:buNone/>
            </a:pPr>
            <a:endParaRPr lang="en-US" dirty="0" smtClean="0">
              <a:solidFill>
                <a:schemeClr val="accent2"/>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4"/>
          <p:cNvSpPr txBox="1">
            <a:spLocks noChangeArrowheads="1"/>
          </p:cNvSpPr>
          <p:nvPr/>
        </p:nvSpPr>
        <p:spPr bwMode="auto">
          <a:xfrm>
            <a:off x="0" y="112713"/>
            <a:ext cx="9144000" cy="579437"/>
          </a:xfrm>
          <a:prstGeom prst="rect">
            <a:avLst/>
          </a:prstGeom>
          <a:noFill/>
          <a:ln w="9525">
            <a:noFill/>
            <a:miter lim="800000"/>
            <a:headEnd/>
            <a:tailEnd/>
          </a:ln>
        </p:spPr>
        <p:txBody>
          <a:bodyPr>
            <a:spAutoFit/>
          </a:bodyPr>
          <a:lstStyle/>
          <a:p>
            <a:pPr algn="ctr"/>
            <a:r>
              <a:rPr lang="en-US" sz="3200" b="1">
                <a:solidFill>
                  <a:schemeClr val="accent2"/>
                </a:solidFill>
                <a:latin typeface="Comic Sans MS" pitchFamily="66" charset="0"/>
              </a:rPr>
              <a:t>STATIONARITY</a:t>
            </a:r>
          </a:p>
        </p:txBody>
      </p:sp>
      <p:sp>
        <p:nvSpPr>
          <p:cNvPr id="18435" name="Rectangle 5"/>
          <p:cNvSpPr>
            <a:spLocks noGrp="1" noChangeArrowheads="1"/>
          </p:cNvSpPr>
          <p:nvPr>
            <p:ph type="body" idx="1"/>
          </p:nvPr>
        </p:nvSpPr>
        <p:spPr>
          <a:xfrm>
            <a:off x="152400" y="838200"/>
            <a:ext cx="8991600" cy="4113213"/>
          </a:xfrm>
          <a:noFill/>
        </p:spPr>
        <p:txBody>
          <a:bodyPr>
            <a:normAutofit fontScale="92500"/>
          </a:bodyPr>
          <a:lstStyle/>
          <a:p>
            <a:pPr algn="just" eaLnBrk="1" hangingPunct="1">
              <a:lnSpc>
                <a:spcPct val="80000"/>
              </a:lnSpc>
              <a:buFont typeface="Wingdings" pitchFamily="2" charset="2"/>
              <a:buNone/>
            </a:pPr>
            <a:r>
              <a:rPr lang="en-US" sz="2400" b="1" smtClean="0">
                <a:latin typeface="Times New Roman" pitchFamily="18" charset="0"/>
              </a:rPr>
              <a:t>Many financial and economic time series exhibit non stationarity:</a:t>
            </a:r>
          </a:p>
          <a:p>
            <a:pPr algn="just" eaLnBrk="1" hangingPunct="1">
              <a:lnSpc>
                <a:spcPct val="80000"/>
              </a:lnSpc>
              <a:buFont typeface="Wingdings" pitchFamily="2" charset="2"/>
              <a:buNone/>
            </a:pPr>
            <a:r>
              <a:rPr lang="en-US" sz="2400" b="1" smtClean="0">
                <a:latin typeface="Times New Roman" pitchFamily="18" charset="0"/>
              </a:rPr>
              <a:t>Stock market indices, exchange rates, interest rates, commodity</a:t>
            </a:r>
          </a:p>
          <a:p>
            <a:pPr algn="just" eaLnBrk="1" hangingPunct="1">
              <a:lnSpc>
                <a:spcPct val="80000"/>
              </a:lnSpc>
              <a:buFont typeface="Wingdings" pitchFamily="2" charset="2"/>
              <a:buNone/>
            </a:pPr>
            <a:r>
              <a:rPr lang="en-US" sz="2400" b="1" smtClean="0">
                <a:latin typeface="Times New Roman" pitchFamily="18" charset="0"/>
              </a:rPr>
              <a:t>prices</a:t>
            </a:r>
          </a:p>
          <a:p>
            <a:pPr algn="just" eaLnBrk="1" hangingPunct="1">
              <a:lnSpc>
                <a:spcPct val="80000"/>
              </a:lnSpc>
              <a:buFont typeface="Wingdings" pitchFamily="2" charset="2"/>
              <a:buNone/>
            </a:pPr>
            <a:endParaRPr lang="en-US" sz="2400" b="1" smtClean="0">
              <a:solidFill>
                <a:srgbClr val="990000"/>
              </a:solidFill>
              <a:latin typeface="Times New Roman" pitchFamily="18" charset="0"/>
            </a:endParaRPr>
          </a:p>
          <a:p>
            <a:pPr algn="just" eaLnBrk="1" hangingPunct="1">
              <a:lnSpc>
                <a:spcPct val="80000"/>
              </a:lnSpc>
              <a:buFont typeface="Wingdings" pitchFamily="2" charset="2"/>
              <a:buNone/>
            </a:pPr>
            <a:r>
              <a:rPr lang="en-US" sz="2400" b="1" smtClean="0">
                <a:solidFill>
                  <a:srgbClr val="990000"/>
                </a:solidFill>
                <a:latin typeface="Times New Roman" pitchFamily="18" charset="0"/>
              </a:rPr>
              <a:t>Properties of Stationary Time Series</a:t>
            </a:r>
          </a:p>
          <a:p>
            <a:pPr algn="just" eaLnBrk="1" hangingPunct="1">
              <a:lnSpc>
                <a:spcPct val="80000"/>
              </a:lnSpc>
            </a:pPr>
            <a:endParaRPr lang="en-US" sz="2400" b="1" smtClean="0">
              <a:solidFill>
                <a:srgbClr val="990000"/>
              </a:solidFill>
              <a:latin typeface="Times New Roman" pitchFamily="18" charset="0"/>
            </a:endParaRPr>
          </a:p>
          <a:p>
            <a:pPr lvl="1" algn="just" eaLnBrk="1" hangingPunct="1">
              <a:lnSpc>
                <a:spcPct val="80000"/>
              </a:lnSpc>
            </a:pPr>
            <a:r>
              <a:rPr lang="en-US" sz="2400" b="1" smtClean="0">
                <a:latin typeface="Times New Roman" pitchFamily="18" charset="0"/>
              </a:rPr>
              <a:t> Constant mean over time (i. e., no trend)</a:t>
            </a:r>
          </a:p>
          <a:p>
            <a:pPr lvl="1" algn="just" eaLnBrk="1" hangingPunct="1">
              <a:lnSpc>
                <a:spcPct val="80000"/>
              </a:lnSpc>
            </a:pPr>
            <a:endParaRPr lang="en-US" sz="2400" b="1" smtClean="0">
              <a:latin typeface="Times New Roman" pitchFamily="18" charset="0"/>
            </a:endParaRPr>
          </a:p>
          <a:p>
            <a:pPr lvl="1" algn="just" eaLnBrk="1" hangingPunct="1">
              <a:lnSpc>
                <a:spcPct val="80000"/>
              </a:lnSpc>
            </a:pPr>
            <a:r>
              <a:rPr lang="en-US" sz="2400" b="1" smtClean="0">
                <a:latin typeface="Times New Roman" pitchFamily="18" charset="0"/>
              </a:rPr>
              <a:t> Constant variance over time </a:t>
            </a:r>
          </a:p>
          <a:p>
            <a:pPr lvl="1" algn="just" eaLnBrk="1" hangingPunct="1">
              <a:lnSpc>
                <a:spcPct val="80000"/>
              </a:lnSpc>
            </a:pPr>
            <a:endParaRPr lang="en-US" sz="2400" b="1" smtClean="0">
              <a:latin typeface="Times New Roman" pitchFamily="18" charset="0"/>
            </a:endParaRPr>
          </a:p>
          <a:p>
            <a:pPr lvl="1" algn="just" eaLnBrk="1" hangingPunct="1">
              <a:lnSpc>
                <a:spcPct val="80000"/>
              </a:lnSpc>
            </a:pPr>
            <a:r>
              <a:rPr lang="en-US" sz="2400" b="1" smtClean="0">
                <a:latin typeface="Times New Roman" pitchFamily="18" charset="0"/>
              </a:rPr>
              <a:t> Correlation over time depends on relationship between Yt and Y at some lag k, (Yt-k) doesn’t depend on any other variable. </a:t>
            </a: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i="1" smtClean="0"/>
              <a:t> Stationarity</a:t>
            </a:r>
          </a:p>
        </p:txBody>
      </p:sp>
      <p:sp>
        <p:nvSpPr>
          <p:cNvPr id="26627" name="Rectangle 3"/>
          <p:cNvSpPr>
            <a:spLocks noGrp="1" noChangeArrowheads="1"/>
          </p:cNvSpPr>
          <p:nvPr>
            <p:ph type="body" idx="1"/>
          </p:nvPr>
        </p:nvSpPr>
        <p:spPr/>
        <p:txBody>
          <a:bodyPr/>
          <a:lstStyle/>
          <a:p>
            <a:pPr eaLnBrk="1" hangingPunct="1">
              <a:lnSpc>
                <a:spcPct val="80000"/>
              </a:lnSpc>
            </a:pPr>
            <a:r>
              <a:rPr lang="en-US" sz="2400" i="1" smtClean="0"/>
              <a:t>Stationarity</a:t>
            </a:r>
            <a:r>
              <a:rPr lang="en-US" sz="2400" smtClean="0"/>
              <a:t>, is defined as a quality of a process in which the statistical parameters (mean and standard deviation) of the process do not change with time. (Challis and Kitney,1991)</a:t>
            </a:r>
          </a:p>
          <a:p>
            <a:pPr eaLnBrk="1" hangingPunct="1">
              <a:lnSpc>
                <a:spcPct val="80000"/>
              </a:lnSpc>
            </a:pPr>
            <a:r>
              <a:rPr lang="en-US" sz="2400" smtClean="0"/>
              <a:t>The most important property of a stationary process is that the auto-correlation function (ACF) depends on lag alone and does not change with the time at which the function was calculated. </a:t>
            </a:r>
          </a:p>
          <a:p>
            <a:pPr eaLnBrk="1" hangingPunct="1">
              <a:lnSpc>
                <a:spcPct val="80000"/>
              </a:lnSpc>
            </a:pPr>
            <a:r>
              <a:rPr lang="en-US" sz="2400" smtClean="0"/>
              <a:t>A </a:t>
            </a:r>
            <a:r>
              <a:rPr lang="en-US" sz="2400" i="1" smtClean="0">
                <a:solidFill>
                  <a:srgbClr val="3333FF"/>
                </a:solidFill>
              </a:rPr>
              <a:t>weakly stationary </a:t>
            </a:r>
            <a:r>
              <a:rPr lang="en-US" sz="2400" smtClean="0">
                <a:solidFill>
                  <a:srgbClr val="3333FF"/>
                </a:solidFill>
              </a:rPr>
              <a:t>process</a:t>
            </a:r>
            <a:r>
              <a:rPr lang="en-US" sz="2400" smtClean="0"/>
              <a:t> has a constant mean, constant variance  and constant autovariance structure </a:t>
            </a:r>
          </a:p>
          <a:p>
            <a:pPr eaLnBrk="1" hangingPunct="1">
              <a:lnSpc>
                <a:spcPct val="80000"/>
              </a:lnSpc>
            </a:pPr>
            <a:r>
              <a:rPr lang="en-US" sz="2400" smtClean="0"/>
              <a:t>A </a:t>
            </a:r>
            <a:r>
              <a:rPr lang="en-US" sz="2400" i="1" smtClean="0">
                <a:solidFill>
                  <a:srgbClr val="3333FF"/>
                </a:solidFill>
              </a:rPr>
              <a:t>truly stationary (or strongly(strictly) stationary)</a:t>
            </a:r>
            <a:r>
              <a:rPr lang="en-US" sz="2400" smtClean="0"/>
              <a:t> process has all higher-order moments constant including the variance and mean. i.e the distribution of values remain the same as time progresses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i="1" smtClean="0"/>
              <a:t> Stationarity</a:t>
            </a:r>
          </a:p>
        </p:txBody>
      </p:sp>
      <p:sp>
        <p:nvSpPr>
          <p:cNvPr id="27651" name="Rectangle 3"/>
          <p:cNvSpPr>
            <a:spLocks noGrp="1" noChangeArrowheads="1"/>
          </p:cNvSpPr>
          <p:nvPr>
            <p:ph type="body" idx="1"/>
          </p:nvPr>
        </p:nvSpPr>
        <p:spPr/>
        <p:txBody>
          <a:bodyPr/>
          <a:lstStyle/>
          <a:p>
            <a:pPr lvl="1" eaLnBrk="1" hangingPunct="1">
              <a:lnSpc>
                <a:spcPct val="80000"/>
              </a:lnSpc>
              <a:buFont typeface="Wingdings" pitchFamily="2" charset="2"/>
              <a:buChar char="v"/>
            </a:pPr>
            <a:r>
              <a:rPr lang="en-US" sz="2400" i="1" smtClean="0"/>
              <a:t>E[Y1] = E[Y2] = …. = E[YT] =  </a:t>
            </a:r>
            <a:r>
              <a:rPr lang="en-US" sz="2400" i="1" smtClean="0">
                <a:sym typeface="Symbol" pitchFamily="18" charset="2"/>
              </a:rPr>
              <a:t></a:t>
            </a:r>
            <a:r>
              <a:rPr lang="en-US" sz="2400" smtClean="0"/>
              <a:t>, a constant; </a:t>
            </a:r>
            <a:endParaRPr lang="en-US" sz="2400" i="1" smtClean="0"/>
          </a:p>
          <a:p>
            <a:pPr lvl="1" eaLnBrk="1" hangingPunct="1">
              <a:lnSpc>
                <a:spcPct val="80000"/>
              </a:lnSpc>
              <a:buFont typeface="Wingdings" pitchFamily="2" charset="2"/>
              <a:buChar char="v"/>
            </a:pPr>
            <a:r>
              <a:rPr lang="en-US" sz="2400" i="1" smtClean="0"/>
              <a:t>Var[Y1]= Var[Y2]= …. = Var[YT]= </a:t>
            </a:r>
            <a:r>
              <a:rPr lang="en-US" sz="2400" i="1" smtClean="0">
                <a:sym typeface="Symbol" pitchFamily="18" charset="2"/>
              </a:rPr>
              <a:t></a:t>
            </a:r>
            <a:r>
              <a:rPr lang="en-US" sz="2400" i="1" smtClean="0"/>
              <a:t>0</a:t>
            </a:r>
            <a:r>
              <a:rPr lang="en-US" sz="2400" smtClean="0"/>
              <a:t> , a constant; </a:t>
            </a:r>
            <a:endParaRPr lang="en-US" sz="2400" i="1" smtClean="0"/>
          </a:p>
          <a:p>
            <a:pPr lvl="1" eaLnBrk="1" hangingPunct="1">
              <a:lnSpc>
                <a:spcPct val="80000"/>
              </a:lnSpc>
              <a:buFont typeface="Wingdings" pitchFamily="2" charset="2"/>
              <a:buChar char="v"/>
            </a:pPr>
            <a:r>
              <a:rPr lang="en-US" sz="2400" i="1" smtClean="0"/>
              <a:t>Cov[Y1,Y1+k] = Cov[Y2,Y2+k] = . … = </a:t>
            </a:r>
            <a:r>
              <a:rPr lang="en-US" sz="2400" i="1" smtClean="0">
                <a:sym typeface="Symbol" pitchFamily="18" charset="2"/>
              </a:rPr>
              <a:t></a:t>
            </a:r>
            <a:r>
              <a:rPr lang="en-US" sz="2400" i="1" smtClean="0"/>
              <a:t>k</a:t>
            </a:r>
            <a:r>
              <a:rPr lang="en-US" sz="2400" smtClean="0"/>
              <a:t>, depends only on lag </a:t>
            </a:r>
            <a:r>
              <a:rPr lang="en-US" sz="2400" i="1" smtClean="0"/>
              <a:t>k</a:t>
            </a:r>
            <a:r>
              <a:rPr lang="en-US" sz="2400" smtClean="0"/>
              <a:t>. </a:t>
            </a:r>
          </a:p>
          <a:p>
            <a:pPr eaLnBrk="1" hangingPunct="1">
              <a:lnSpc>
                <a:spcPct val="80000"/>
              </a:lnSpc>
              <a:buFontTx/>
              <a:buNone/>
            </a:pPr>
            <a:r>
              <a:rPr lang="en-US" sz="2800" smtClean="0"/>
              <a:t>	</a:t>
            </a:r>
          </a:p>
          <a:p>
            <a:pPr eaLnBrk="1" hangingPunct="1">
              <a:lnSpc>
                <a:spcPct val="80000"/>
              </a:lnSpc>
              <a:buFontTx/>
              <a:buNone/>
            </a:pPr>
            <a:r>
              <a:rPr lang="en-US" sz="2800" smtClean="0"/>
              <a:t>	If these conditions hold then the series is said to be covariance stationary</a:t>
            </a:r>
          </a:p>
          <a:p>
            <a:pPr eaLnBrk="1" hangingPunct="1"/>
            <a:endParaRPr lang="en-US" sz="2800" smtClean="0"/>
          </a:p>
          <a:p>
            <a:pPr eaLnBrk="1" hangingPunct="1"/>
            <a:r>
              <a:rPr lang="en-US" sz="2800" smtClean="0"/>
              <a:t>White noise process- constant mean and variance, zero autocovariance.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smtClean="0"/>
              <a:t>Making a series stationary</a:t>
            </a:r>
          </a:p>
        </p:txBody>
      </p:sp>
      <p:sp>
        <p:nvSpPr>
          <p:cNvPr id="28675" name="Rectangle 3"/>
          <p:cNvSpPr>
            <a:spLocks noGrp="1" noChangeArrowheads="1"/>
          </p:cNvSpPr>
          <p:nvPr>
            <p:ph type="body" idx="1"/>
          </p:nvPr>
        </p:nvSpPr>
        <p:spPr/>
        <p:txBody>
          <a:bodyPr/>
          <a:lstStyle/>
          <a:p>
            <a:pPr eaLnBrk="1" hangingPunct="1"/>
            <a:r>
              <a:rPr lang="en-US" smtClean="0"/>
              <a:t>A series which is non-stationary can be made stationary after differencing. </a:t>
            </a:r>
          </a:p>
          <a:p>
            <a:pPr eaLnBrk="1" hangingPunct="1"/>
            <a:r>
              <a:rPr lang="en-US" smtClean="0"/>
              <a:t>given the series </a:t>
            </a:r>
            <a:r>
              <a:rPr lang="en-US" b="1" i="1" smtClean="0"/>
              <a:t>Zt</a:t>
            </a:r>
            <a:r>
              <a:rPr lang="en-US" smtClean="0"/>
              <a:t>, we create the new series </a:t>
            </a:r>
          </a:p>
          <a:p>
            <a:pPr eaLnBrk="1" hangingPunct="1">
              <a:buFontTx/>
              <a:buNone/>
            </a:pPr>
            <a:endParaRPr lang="en-US" smtClean="0"/>
          </a:p>
          <a:p>
            <a:pPr eaLnBrk="1" hangingPunct="1"/>
            <a:r>
              <a:rPr lang="en-US" smtClean="0"/>
              <a:t>A series which is stationary after being differentiated once is said to be integrated of order 1 and is denoted by I(1).</a:t>
            </a:r>
          </a:p>
        </p:txBody>
      </p:sp>
      <p:sp>
        <p:nvSpPr>
          <p:cNvPr id="28676" name="Rectangle 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a:p>
        </p:txBody>
      </p:sp>
      <p:pic>
        <p:nvPicPr>
          <p:cNvPr id="28677" name="Picture 4" descr="Y(i) = Z(i) - Z(i-1)"/>
          <p:cNvPicPr>
            <a:picLocks noChangeAspect="1" noChangeArrowheads="1"/>
          </p:cNvPicPr>
          <p:nvPr/>
        </p:nvPicPr>
        <p:blipFill>
          <a:blip r:embed="rId2"/>
          <a:srcRect/>
          <a:stretch>
            <a:fillRect/>
          </a:stretch>
        </p:blipFill>
        <p:spPr bwMode="auto">
          <a:xfrm>
            <a:off x="2209800" y="3505200"/>
            <a:ext cx="3352800" cy="461963"/>
          </a:xfrm>
          <a:prstGeom prst="rect">
            <a:avLst/>
          </a:prstGeom>
          <a:noFill/>
          <a:ln w="9525">
            <a:noFill/>
            <a:miter lim="800000"/>
            <a:headEnd/>
            <a:tailEnd/>
          </a:ln>
        </p:spPr>
      </p:pic>
      <p:sp>
        <p:nvSpPr>
          <p:cNvPr id="28678" name="Rectangle 6"/>
          <p:cNvSpPr>
            <a:spLocks noChangeArrowheads="1"/>
          </p:cNvSpPr>
          <p:nvPr/>
        </p:nvSpPr>
        <p:spPr bwMode="auto">
          <a:xfrm>
            <a:off x="457200" y="142875"/>
            <a:ext cx="9144000" cy="0"/>
          </a:xfrm>
          <a:prstGeom prst="rect">
            <a:avLst/>
          </a:prstGeom>
          <a:solidFill>
            <a:srgbClr val="F8FCFF"/>
          </a:solidFill>
          <a:ln w="9525">
            <a:noFill/>
            <a:miter lim="800000"/>
            <a:headEnd/>
            <a:tailEnd/>
          </a:ln>
        </p:spPr>
        <p:txBody>
          <a:bodyPr wrap="none" anchor="ctr">
            <a:spAutoFit/>
          </a:bodyPr>
          <a:lstStyle/>
          <a:p>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smtClean="0"/>
              <a:t>Making a series stationary</a:t>
            </a:r>
          </a:p>
        </p:txBody>
      </p:sp>
      <p:sp>
        <p:nvSpPr>
          <p:cNvPr id="29699" name="Rectangle 3"/>
          <p:cNvSpPr>
            <a:spLocks noGrp="1" noChangeArrowheads="1"/>
          </p:cNvSpPr>
          <p:nvPr>
            <p:ph type="body" idx="1"/>
          </p:nvPr>
        </p:nvSpPr>
        <p:spPr/>
        <p:txBody>
          <a:bodyPr/>
          <a:lstStyle/>
          <a:p>
            <a:pPr marL="609600" indent="-609600" eaLnBrk="1" hangingPunct="1">
              <a:lnSpc>
                <a:spcPct val="90000"/>
              </a:lnSpc>
            </a:pPr>
            <a:r>
              <a:rPr lang="en-US" sz="2400" dirty="0" smtClean="0"/>
              <a:t>If the data contains a trend – </a:t>
            </a:r>
          </a:p>
          <a:p>
            <a:pPr marL="1009650" lvl="1" indent="-609600">
              <a:lnSpc>
                <a:spcPct val="90000"/>
              </a:lnSpc>
            </a:pPr>
            <a:r>
              <a:rPr lang="en-US" sz="2000" dirty="0" smtClean="0"/>
              <a:t> we can fit some type of curve to the data and then model the residuals from that fit. Since the purpose of the fit is to simply remove long term trend, a simple fit, such as a straight line, is typically used. </a:t>
            </a:r>
          </a:p>
          <a:p>
            <a:pPr marL="609600" indent="-609600" eaLnBrk="1" hangingPunct="1">
              <a:lnSpc>
                <a:spcPct val="90000"/>
              </a:lnSpc>
            </a:pPr>
            <a:r>
              <a:rPr lang="en-US" sz="2400" dirty="0" smtClean="0"/>
              <a:t>For non-constant variance</a:t>
            </a:r>
          </a:p>
          <a:p>
            <a:pPr marL="1009650" lvl="1" indent="-609600">
              <a:lnSpc>
                <a:spcPct val="90000"/>
              </a:lnSpc>
            </a:pPr>
            <a:r>
              <a:rPr lang="en-US" sz="2000" dirty="0" smtClean="0"/>
              <a:t> taking the logarithm or square root of the series may stabilize the variance. </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98" name="Group 2"/>
          <p:cNvGraphicFramePr>
            <a:graphicFrameLocks noGrp="1"/>
          </p:cNvGraphicFramePr>
          <p:nvPr/>
        </p:nvGraphicFramePr>
        <p:xfrm>
          <a:off x="468313" y="333375"/>
          <a:ext cx="8280400" cy="5637213"/>
        </p:xfrm>
        <a:graphic>
          <a:graphicData uri="http://schemas.openxmlformats.org/drawingml/2006/table">
            <a:tbl>
              <a:tblPr/>
              <a:tblGrid>
                <a:gridCol w="4140200"/>
                <a:gridCol w="4140200"/>
              </a:tblGrid>
              <a:tr h="6477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tx1"/>
                          </a:solidFill>
                          <a:effectLst/>
                          <a:latin typeface="Arial" pitchFamily="34" charset="0"/>
                        </a:rPr>
                        <a:t>Stationary</a:t>
                      </a:r>
                      <a:r>
                        <a:rPr kumimoji="0" lang="en-US" sz="2000" b="0" i="0" u="none" strike="noStrike" cap="none" normalizeH="0" baseline="0" smtClean="0">
                          <a:ln>
                            <a:noFill/>
                          </a:ln>
                          <a:solidFill>
                            <a:schemeClr val="tx1"/>
                          </a:solidFill>
                          <a:effectLst/>
                          <a:latin typeface="Arial" pitchFamily="34" charset="0"/>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tx1"/>
                          </a:solidFill>
                          <a:effectLst/>
                          <a:latin typeface="Arial" pitchFamily="34" charset="0"/>
                        </a:rPr>
                        <a:t>Non-stationary</a:t>
                      </a:r>
                      <a:r>
                        <a:rPr kumimoji="0" lang="en-US" sz="2000" b="0" i="0" u="none" strike="noStrike" cap="none" normalizeH="0" baseline="0" smtClean="0">
                          <a:ln>
                            <a:noFill/>
                          </a:ln>
                          <a:solidFill>
                            <a:schemeClr val="tx1"/>
                          </a:solidFill>
                          <a:effectLst/>
                          <a:latin typeface="Arial" pitchFamily="34" charset="0"/>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08063">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pitchFamily="34" charset="0"/>
                        </a:rPr>
                        <a:t> Exhibits </a:t>
                      </a:r>
                      <a:r>
                        <a:rPr kumimoji="0" lang="en-US" sz="2000" b="0" i="1" u="none" strike="noStrike" cap="none" normalizeH="0" baseline="0" smtClean="0">
                          <a:ln>
                            <a:noFill/>
                          </a:ln>
                          <a:solidFill>
                            <a:schemeClr val="tx1"/>
                          </a:solidFill>
                          <a:effectLst/>
                          <a:latin typeface="Arial" pitchFamily="34" charset="0"/>
                        </a:rPr>
                        <a:t>mean reversion</a:t>
                      </a:r>
                      <a:r>
                        <a:rPr kumimoji="0" lang="en-US" sz="2000" b="1" i="0" u="none" strike="noStrike" cap="none" normalizeH="0" baseline="0" smtClean="0">
                          <a:ln>
                            <a:noFill/>
                          </a:ln>
                          <a:solidFill>
                            <a:schemeClr val="tx1"/>
                          </a:solidFill>
                          <a:effectLst/>
                          <a:latin typeface="Arial" pitchFamily="34" charset="0"/>
                        </a:rPr>
                        <a:t> </a:t>
                      </a:r>
                      <a:r>
                        <a:rPr kumimoji="0" lang="en-US" sz="2000" b="0" i="0" u="none" strike="noStrike" cap="none" normalizeH="0" baseline="0" smtClean="0">
                          <a:ln>
                            <a:noFill/>
                          </a:ln>
                          <a:solidFill>
                            <a:schemeClr val="tx1"/>
                          </a:solidFill>
                          <a:effectLst/>
                          <a:latin typeface="Arial" pitchFamily="34" charset="0"/>
                        </a:rPr>
                        <a:t>in that it fluctuates around a constant long run mean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pitchFamily="34" charset="0"/>
                        </a:rPr>
                        <a:t>There is no long-run mean to which the series returns.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79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pitchFamily="34" charset="0"/>
                        </a:rPr>
                        <a:t>Has a finite variance that is time invariant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pitchFamily="34" charset="0"/>
                        </a:rPr>
                        <a:t>The variance is time dependent and goes to infinity as time approaches to infinity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4509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pitchFamily="34" charset="0"/>
                        </a:rPr>
                        <a:t>Has a theoretical correlogram that diminishes as lag length increases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pitchFamily="34" charset="0"/>
                        </a:rPr>
                        <a:t>Theoretical autocorrelations do not decay but, in finite samples, the sample correlogram dies out slowly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4509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smtClean="0">
                        <a:ln>
                          <a:noFill/>
                        </a:ln>
                        <a:solidFill>
                          <a:schemeClr val="tx1"/>
                        </a:solidFill>
                        <a:effectLst/>
                        <a:latin typeface="Arial"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Arial" pitchFamily="34" charset="0"/>
                        </a:rPr>
                        <a:t>Examples: Share prices, Exchange Rate, Income etc.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a:spLocks noGrp="1" noChangeArrowheads="1"/>
          </p:cNvSpPr>
          <p:nvPr>
            <p:ph type="body" idx="1"/>
          </p:nvPr>
        </p:nvSpPr>
        <p:spPr>
          <a:xfrm>
            <a:off x="0" y="228600"/>
            <a:ext cx="9144000" cy="4525963"/>
          </a:xfrm>
        </p:spPr>
        <p:txBody>
          <a:bodyPr/>
          <a:lstStyle/>
          <a:p>
            <a:pPr algn="just" eaLnBrk="1" hangingPunct="1">
              <a:buFont typeface="Wingdings" pitchFamily="2" charset="2"/>
              <a:buNone/>
            </a:pPr>
            <a:r>
              <a:rPr lang="en-US" b="1" smtClean="0">
                <a:solidFill>
                  <a:schemeClr val="accent2"/>
                </a:solidFill>
              </a:rPr>
              <a:t>Question:  How do you know if a series is stationary or not?</a:t>
            </a:r>
          </a:p>
          <a:p>
            <a:pPr algn="just" eaLnBrk="1" hangingPunct="1">
              <a:buFont typeface="Wingdings" pitchFamily="2" charset="2"/>
              <a:buNone/>
            </a:pPr>
            <a:endParaRPr lang="en-US" b="1" smtClean="0">
              <a:solidFill>
                <a:schemeClr val="accent2"/>
              </a:solidFill>
            </a:endParaRPr>
          </a:p>
        </p:txBody>
      </p:sp>
      <p:sp>
        <p:nvSpPr>
          <p:cNvPr id="16388" name="Rectangle 4"/>
          <p:cNvSpPr>
            <a:spLocks noChangeArrowheads="1"/>
          </p:cNvSpPr>
          <p:nvPr/>
        </p:nvSpPr>
        <p:spPr bwMode="auto">
          <a:xfrm>
            <a:off x="0" y="1600200"/>
            <a:ext cx="9144000" cy="3378200"/>
          </a:xfrm>
          <a:prstGeom prst="rect">
            <a:avLst/>
          </a:prstGeom>
          <a:noFill/>
          <a:ln w="9525">
            <a:noFill/>
            <a:miter lim="800000"/>
            <a:headEnd/>
            <a:tailEnd/>
          </a:ln>
        </p:spPr>
        <p:txBody>
          <a:bodyPr>
            <a:spAutoFit/>
          </a:bodyPr>
          <a:lstStyle/>
          <a:p>
            <a:pPr lvl="1">
              <a:buFontTx/>
              <a:buChar char="•"/>
            </a:pPr>
            <a:r>
              <a:rPr lang="en-US" sz="2400" b="1">
                <a:latin typeface="Times New Roman" pitchFamily="18" charset="0"/>
              </a:rPr>
              <a:t> Visual inspection of time series</a:t>
            </a:r>
          </a:p>
          <a:p>
            <a:pPr lvl="1">
              <a:buFontTx/>
              <a:buChar char="•"/>
            </a:pPr>
            <a:endParaRPr lang="en-US" sz="2400" b="1">
              <a:latin typeface="Times New Roman" pitchFamily="18" charset="0"/>
            </a:endParaRPr>
          </a:p>
          <a:p>
            <a:pPr lvl="1">
              <a:buFontTx/>
              <a:buChar char="•"/>
            </a:pPr>
            <a:r>
              <a:rPr lang="en-US" sz="2400" b="1">
                <a:latin typeface="Times New Roman" pitchFamily="18" charset="0"/>
              </a:rPr>
              <a:t> Can evaluate the Autocorrelation Function (ACF)</a:t>
            </a:r>
          </a:p>
          <a:p>
            <a:pPr lvl="1">
              <a:buFontTx/>
              <a:buChar char="•"/>
            </a:pPr>
            <a:endParaRPr lang="en-US" sz="2400" b="1">
              <a:latin typeface="Times New Roman" pitchFamily="18" charset="0"/>
            </a:endParaRPr>
          </a:p>
          <a:p>
            <a:pPr lvl="1">
              <a:buFontTx/>
              <a:buChar char="•"/>
            </a:pPr>
            <a:r>
              <a:rPr lang="en-US" sz="2400" b="1">
                <a:latin typeface="Times New Roman" pitchFamily="18" charset="0"/>
              </a:rPr>
              <a:t> Can also conduct a formal test:</a:t>
            </a:r>
          </a:p>
          <a:p>
            <a:pPr lvl="2"/>
            <a:r>
              <a:rPr lang="en-US" sz="2400" b="1">
                <a:latin typeface="Times New Roman" pitchFamily="18" charset="0"/>
              </a:rPr>
              <a:t>	</a:t>
            </a:r>
          </a:p>
          <a:p>
            <a:pPr lvl="2"/>
            <a:r>
              <a:rPr lang="en-US" sz="2400" b="1">
                <a:latin typeface="Times New Roman" pitchFamily="18" charset="0"/>
              </a:rPr>
              <a:t>	Dickey-Fuller test</a:t>
            </a:r>
          </a:p>
          <a:p>
            <a:pPr lvl="2"/>
            <a:r>
              <a:rPr lang="en-US" sz="2400" b="1">
                <a:latin typeface="Times New Roman" pitchFamily="18" charset="0"/>
              </a:rPr>
              <a:t>	</a:t>
            </a:r>
          </a:p>
          <a:p>
            <a:pPr lvl="2"/>
            <a:r>
              <a:rPr lang="en-US" sz="2400" b="1">
                <a:latin typeface="Times New Roman" pitchFamily="18" charset="0"/>
              </a:rPr>
              <a:t>	Phillip Perron’s test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6388">
                                            <p:txEl>
                                              <p:pRg st="0" end="0"/>
                                            </p:txEl>
                                          </p:spTgt>
                                        </p:tgtEl>
                                        <p:attrNameLst>
                                          <p:attrName>style.visibility</p:attrName>
                                        </p:attrNameLst>
                                      </p:cBhvr>
                                      <p:to>
                                        <p:strVal val="visible"/>
                                      </p:to>
                                    </p:set>
                                    <p:animEffect transition="in" filter="blinds(horizontal)">
                                      <p:cBhvr>
                                        <p:cTn id="7" dur="500"/>
                                        <p:tgtEl>
                                          <p:spTgt spid="1638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6388">
                                            <p:txEl>
                                              <p:pRg st="2" end="2"/>
                                            </p:txEl>
                                          </p:spTgt>
                                        </p:tgtEl>
                                        <p:attrNameLst>
                                          <p:attrName>style.visibility</p:attrName>
                                        </p:attrNameLst>
                                      </p:cBhvr>
                                      <p:to>
                                        <p:strVal val="visible"/>
                                      </p:to>
                                    </p:set>
                                    <p:animEffect transition="in" filter="blinds(horizontal)">
                                      <p:cBhvr>
                                        <p:cTn id="12" dur="500"/>
                                        <p:tgtEl>
                                          <p:spTgt spid="16388">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6388">
                                            <p:txEl>
                                              <p:pRg st="4" end="4"/>
                                            </p:txEl>
                                          </p:spTgt>
                                        </p:tgtEl>
                                        <p:attrNameLst>
                                          <p:attrName>style.visibility</p:attrName>
                                        </p:attrNameLst>
                                      </p:cBhvr>
                                      <p:to>
                                        <p:strVal val="visible"/>
                                      </p:to>
                                    </p:set>
                                    <p:animEffect transition="in" filter="blinds(horizontal)">
                                      <p:cBhvr>
                                        <p:cTn id="17" dur="500"/>
                                        <p:tgtEl>
                                          <p:spTgt spid="16388">
                                            <p:txEl>
                                              <p:pRg st="4" end="4"/>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16388">
                                            <p:txEl>
                                              <p:pRg st="5" end="5"/>
                                            </p:txEl>
                                          </p:spTgt>
                                        </p:tgtEl>
                                        <p:attrNameLst>
                                          <p:attrName>style.visibility</p:attrName>
                                        </p:attrNameLst>
                                      </p:cBhvr>
                                      <p:to>
                                        <p:strVal val="visible"/>
                                      </p:to>
                                    </p:set>
                                    <p:animEffect transition="in" filter="blinds(horizontal)">
                                      <p:cBhvr>
                                        <p:cTn id="20" dur="500"/>
                                        <p:tgtEl>
                                          <p:spTgt spid="16388">
                                            <p:txEl>
                                              <p:pRg st="5" end="5"/>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16388">
                                            <p:txEl>
                                              <p:pRg st="6" end="6"/>
                                            </p:txEl>
                                          </p:spTgt>
                                        </p:tgtEl>
                                        <p:attrNameLst>
                                          <p:attrName>style.visibility</p:attrName>
                                        </p:attrNameLst>
                                      </p:cBhvr>
                                      <p:to>
                                        <p:strVal val="visible"/>
                                      </p:to>
                                    </p:set>
                                    <p:animEffect transition="in" filter="blinds(horizontal)">
                                      <p:cBhvr>
                                        <p:cTn id="23" dur="500"/>
                                        <p:tgtEl>
                                          <p:spTgt spid="16388">
                                            <p:txEl>
                                              <p:pRg st="6" end="6"/>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16388">
                                            <p:txEl>
                                              <p:pRg st="7" end="7"/>
                                            </p:txEl>
                                          </p:spTgt>
                                        </p:tgtEl>
                                        <p:attrNameLst>
                                          <p:attrName>style.visibility</p:attrName>
                                        </p:attrNameLst>
                                      </p:cBhvr>
                                      <p:to>
                                        <p:strVal val="visible"/>
                                      </p:to>
                                    </p:set>
                                    <p:animEffect transition="in" filter="blinds(horizontal)">
                                      <p:cBhvr>
                                        <p:cTn id="26" dur="500"/>
                                        <p:tgtEl>
                                          <p:spTgt spid="16388">
                                            <p:txEl>
                                              <p:pRg st="7" end="7"/>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16388">
                                            <p:txEl>
                                              <p:pRg st="8" end="8"/>
                                            </p:txEl>
                                          </p:spTgt>
                                        </p:tgtEl>
                                        <p:attrNameLst>
                                          <p:attrName>style.visibility</p:attrName>
                                        </p:attrNameLst>
                                      </p:cBhvr>
                                      <p:to>
                                        <p:strVal val="visible"/>
                                      </p:to>
                                    </p:set>
                                    <p:animEffect transition="in" filter="blinds(horizontal)">
                                      <p:cBhvr>
                                        <p:cTn id="29" dur="500"/>
                                        <p:tgtEl>
                                          <p:spTgt spid="1638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normAutofit fontScale="90000"/>
          </a:bodyPr>
          <a:lstStyle/>
          <a:p>
            <a:pPr eaLnBrk="1" hangingPunct="1"/>
            <a:r>
              <a:rPr lang="en-US" sz="4000" i="1" u="sng" dirty="0" smtClean="0"/>
              <a:t>Autocorrelation Function (ACF)</a:t>
            </a:r>
            <a:r>
              <a:rPr lang="en-US" sz="4000" dirty="0" smtClean="0"/>
              <a:t/>
            </a:r>
            <a:br>
              <a:rPr lang="en-US" sz="4000" dirty="0" smtClean="0"/>
            </a:br>
            <a:endParaRPr lang="en-US" sz="4000" dirty="0" smtClean="0"/>
          </a:p>
        </p:txBody>
      </p:sp>
      <p:sp>
        <p:nvSpPr>
          <p:cNvPr id="32771" name="Rectangle 3"/>
          <p:cNvSpPr>
            <a:spLocks noGrp="1" noChangeArrowheads="1"/>
          </p:cNvSpPr>
          <p:nvPr>
            <p:ph type="body" sz="half" idx="1"/>
          </p:nvPr>
        </p:nvSpPr>
        <p:spPr>
          <a:xfrm>
            <a:off x="457200" y="1026544"/>
            <a:ext cx="8686800" cy="5099620"/>
          </a:xfrm>
        </p:spPr>
        <p:txBody>
          <a:bodyPr/>
          <a:lstStyle/>
          <a:p>
            <a:pPr eaLnBrk="1" hangingPunct="1"/>
            <a:r>
              <a:rPr lang="en-US" sz="2800" dirty="0" smtClean="0"/>
              <a:t>The shape of the ACF can be used to identify particular models for a given time-series.</a:t>
            </a:r>
          </a:p>
          <a:p>
            <a:r>
              <a:rPr lang="en-US" sz="2800" dirty="0" smtClean="0"/>
              <a:t>If ACF is not equal to 0, unit root exists – the series is then non-stationary.</a:t>
            </a:r>
          </a:p>
          <a:p>
            <a:pPr lvl="1"/>
            <a:r>
              <a:rPr lang="en-US" sz="2000" dirty="0" smtClean="0"/>
              <a:t>For a stationary time series, the </a:t>
            </a:r>
            <a:r>
              <a:rPr lang="en-US" sz="2000" i="1" dirty="0" smtClean="0"/>
              <a:t>k</a:t>
            </a:r>
            <a:r>
              <a:rPr lang="en-US" sz="2000" dirty="0" smtClean="0"/>
              <a:t>-lag autocorrelation function (ACF), which is the direct correlation between </a:t>
            </a:r>
            <a:r>
              <a:rPr lang="en-US" sz="2000" i="1" dirty="0" err="1" smtClean="0"/>
              <a:t>Yt</a:t>
            </a:r>
            <a:r>
              <a:rPr lang="en-US" sz="2000" dirty="0" smtClean="0"/>
              <a:t> and </a:t>
            </a:r>
            <a:r>
              <a:rPr lang="en-US" sz="2000" i="1" dirty="0" err="1" smtClean="0"/>
              <a:t>Yt</a:t>
            </a:r>
            <a:r>
              <a:rPr lang="en-US" sz="2000" i="1" dirty="0" smtClean="0"/>
              <a:t>-k</a:t>
            </a:r>
            <a:r>
              <a:rPr lang="en-US" sz="2000" dirty="0" smtClean="0"/>
              <a:t>, is</a:t>
            </a:r>
          </a:p>
        </p:txBody>
      </p:sp>
      <p:graphicFrame>
        <p:nvGraphicFramePr>
          <p:cNvPr id="32772" name="Object 4"/>
          <p:cNvGraphicFramePr>
            <a:graphicFrameLocks noGrp="1" noChangeAspect="1"/>
          </p:cNvGraphicFramePr>
          <p:nvPr>
            <p:ph sz="half" idx="2"/>
          </p:nvPr>
        </p:nvGraphicFramePr>
        <p:xfrm>
          <a:off x="549275" y="4156958"/>
          <a:ext cx="8137525" cy="1150938"/>
        </p:xfrm>
        <a:graphic>
          <a:graphicData uri="http://schemas.openxmlformats.org/presentationml/2006/ole">
            <mc:AlternateContent xmlns:mc="http://schemas.openxmlformats.org/markup-compatibility/2006">
              <mc:Choice xmlns:v="urn:schemas-microsoft-com:vml" Requires="v">
                <p:oleObj spid="_x0000_s80902" name="Equation" r:id="rId3" imgW="3378200" imgH="431800" progId="Equation.3">
                  <p:embed/>
                </p:oleObj>
              </mc:Choice>
              <mc:Fallback>
                <p:oleObj name="Equation" r:id="rId3" imgW="3378200" imgH="4318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9275" y="4156958"/>
                        <a:ext cx="8137525" cy="1150938"/>
                      </a:xfrm>
                      <a:prstGeom prst="rect">
                        <a:avLst/>
                      </a:prstGeom>
                      <a:solidFill>
                        <a:srgbClr val="FFFFFF"/>
                      </a:solidFill>
                    </p:spPr>
                  </p:pic>
                </p:oleObj>
              </mc:Fallback>
            </mc:AlternateContent>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US" smtClean="0"/>
              <a:t>Responses to autocorrelation</a:t>
            </a:r>
          </a:p>
        </p:txBody>
      </p:sp>
      <p:sp>
        <p:nvSpPr>
          <p:cNvPr id="36867" name="Rectangle 3"/>
          <p:cNvSpPr>
            <a:spLocks noGrp="1" noChangeArrowheads="1"/>
          </p:cNvSpPr>
          <p:nvPr>
            <p:ph type="body" idx="1"/>
          </p:nvPr>
        </p:nvSpPr>
        <p:spPr/>
        <p:txBody>
          <a:bodyPr/>
          <a:lstStyle/>
          <a:p>
            <a:pPr eaLnBrk="1" hangingPunct="1"/>
            <a:r>
              <a:rPr lang="en-US" dirty="0" smtClean="0"/>
              <a:t>Differencing of the data and the use of lag structures in estimation.</a:t>
            </a:r>
          </a:p>
          <a:p>
            <a:pPr eaLnBrk="1" hangingPunct="1"/>
            <a:r>
              <a:rPr lang="en-US" dirty="0" smtClean="0"/>
              <a:t>If ACF is not equal to 0, unit root exists – the series is then non-stationary.</a:t>
            </a: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4"/>
          <p:cNvSpPr txBox="1">
            <a:spLocks noChangeArrowheads="1"/>
          </p:cNvSpPr>
          <p:nvPr/>
        </p:nvSpPr>
        <p:spPr bwMode="auto">
          <a:xfrm>
            <a:off x="0" y="65088"/>
            <a:ext cx="9144000" cy="579437"/>
          </a:xfrm>
          <a:prstGeom prst="rect">
            <a:avLst/>
          </a:prstGeom>
          <a:noFill/>
          <a:ln w="9525">
            <a:noFill/>
            <a:miter lim="800000"/>
            <a:headEnd/>
            <a:tailEnd/>
          </a:ln>
        </p:spPr>
        <p:txBody>
          <a:bodyPr>
            <a:spAutoFit/>
          </a:bodyPr>
          <a:lstStyle/>
          <a:p>
            <a:pPr algn="ctr"/>
            <a:r>
              <a:rPr lang="en-US" sz="3200">
                <a:solidFill>
                  <a:schemeClr val="accent2"/>
                </a:solidFill>
                <a:latin typeface="Comic Sans MS" pitchFamily="66" charset="0"/>
              </a:rPr>
              <a:t>Some Formal Test for Stationarity</a:t>
            </a:r>
          </a:p>
        </p:txBody>
      </p:sp>
      <p:sp>
        <p:nvSpPr>
          <p:cNvPr id="24579" name="Rectangle 5"/>
          <p:cNvSpPr>
            <a:spLocks noGrp="1" noChangeArrowheads="1"/>
          </p:cNvSpPr>
          <p:nvPr>
            <p:ph type="title"/>
          </p:nvPr>
        </p:nvSpPr>
        <p:spPr>
          <a:xfrm>
            <a:off x="0" y="609600"/>
            <a:ext cx="7772400" cy="533400"/>
          </a:xfrm>
          <a:noFill/>
        </p:spPr>
        <p:txBody>
          <a:bodyPr lIns="90488" tIns="44450" rIns="90488" bIns="44450"/>
          <a:lstStyle/>
          <a:p>
            <a:pPr eaLnBrk="1" hangingPunct="1"/>
            <a:r>
              <a:rPr lang="en-US" sz="2400" b="1" smtClean="0">
                <a:solidFill>
                  <a:srgbClr val="990000"/>
                </a:solidFill>
                <a:latin typeface="Times New Roman" pitchFamily="18" charset="0"/>
              </a:rPr>
              <a:t>Unit Root Hypothesis</a:t>
            </a:r>
          </a:p>
        </p:txBody>
      </p:sp>
      <p:sp>
        <p:nvSpPr>
          <p:cNvPr id="21510" name="Rectangle 6"/>
          <p:cNvSpPr>
            <a:spLocks noChangeArrowheads="1"/>
          </p:cNvSpPr>
          <p:nvPr/>
        </p:nvSpPr>
        <p:spPr bwMode="auto">
          <a:xfrm>
            <a:off x="457200" y="1371600"/>
            <a:ext cx="8686800" cy="5083175"/>
          </a:xfrm>
          <a:prstGeom prst="rect">
            <a:avLst/>
          </a:prstGeom>
          <a:noFill/>
          <a:ln w="9525">
            <a:noFill/>
            <a:miter lim="800000"/>
            <a:headEnd/>
            <a:tailEnd/>
          </a:ln>
        </p:spPr>
        <p:txBody>
          <a:bodyPr>
            <a:spAutoFit/>
          </a:bodyPr>
          <a:lstStyle/>
          <a:p>
            <a:pPr algn="just"/>
            <a:r>
              <a:rPr lang="en-US" sz="2400" b="1">
                <a:latin typeface="Times New Roman" pitchFamily="18" charset="0"/>
              </a:rPr>
              <a:t>A nonstationary series is said to have a unit root.</a:t>
            </a:r>
          </a:p>
          <a:p>
            <a:pPr algn="just"/>
            <a:endParaRPr lang="en-US" sz="2400" b="1">
              <a:latin typeface="Times New Roman" pitchFamily="18" charset="0"/>
            </a:endParaRPr>
          </a:p>
          <a:p>
            <a:pPr algn="just"/>
            <a:r>
              <a:rPr lang="en-US" sz="2400" b="1">
                <a:latin typeface="Times New Roman" pitchFamily="18" charset="0"/>
              </a:rPr>
              <a:t>e.g. Y</a:t>
            </a:r>
            <a:r>
              <a:rPr lang="en-US" sz="2400" b="1" baseline="-25000">
                <a:latin typeface="Times New Roman" pitchFamily="18" charset="0"/>
              </a:rPr>
              <a:t>t</a:t>
            </a:r>
            <a:r>
              <a:rPr lang="en-US" sz="2400" b="1">
                <a:latin typeface="Times New Roman" pitchFamily="18" charset="0"/>
              </a:rPr>
              <a:t>= </a:t>
            </a:r>
            <a:r>
              <a:rPr lang="el-GR" sz="2400" b="1">
                <a:latin typeface="Times New Roman" pitchFamily="18" charset="0"/>
                <a:cs typeface="Times New Roman" pitchFamily="18" charset="0"/>
              </a:rPr>
              <a:t>ρ</a:t>
            </a:r>
            <a:r>
              <a:rPr lang="en-US" sz="2400" b="1">
                <a:latin typeface="Times New Roman" pitchFamily="18" charset="0"/>
                <a:cs typeface="Times New Roman" pitchFamily="18" charset="0"/>
              </a:rPr>
              <a:t>Y</a:t>
            </a:r>
            <a:r>
              <a:rPr lang="en-US" sz="2400" b="1" baseline="-25000">
                <a:latin typeface="Times New Roman" pitchFamily="18" charset="0"/>
                <a:cs typeface="Times New Roman" pitchFamily="18" charset="0"/>
              </a:rPr>
              <a:t>t-1</a:t>
            </a:r>
            <a:r>
              <a:rPr lang="en-US" sz="2400" b="1">
                <a:latin typeface="Times New Roman" pitchFamily="18" charset="0"/>
                <a:cs typeface="Times New Roman" pitchFamily="18" charset="0"/>
              </a:rPr>
              <a:t>+u</a:t>
            </a:r>
            <a:r>
              <a:rPr lang="en-US" sz="2400" b="1" baseline="-25000">
                <a:latin typeface="Times New Roman" pitchFamily="18" charset="0"/>
                <a:cs typeface="Times New Roman" pitchFamily="18" charset="0"/>
              </a:rPr>
              <a:t>t</a:t>
            </a:r>
          </a:p>
          <a:p>
            <a:pPr algn="just"/>
            <a:endParaRPr lang="en-US" sz="2400" b="1" baseline="-25000">
              <a:latin typeface="Times New Roman" pitchFamily="18" charset="0"/>
              <a:cs typeface="Times New Roman" pitchFamily="18" charset="0"/>
            </a:endParaRPr>
          </a:p>
          <a:p>
            <a:pPr algn="just"/>
            <a:r>
              <a:rPr lang="en-US" sz="2400" b="1">
                <a:latin typeface="Times New Roman" pitchFamily="18" charset="0"/>
                <a:cs typeface="Times New Roman" pitchFamily="18" charset="0"/>
              </a:rPr>
              <a:t>If </a:t>
            </a:r>
            <a:r>
              <a:rPr lang="el-GR" sz="2400" b="1">
                <a:latin typeface="Times New Roman" pitchFamily="18" charset="0"/>
              </a:rPr>
              <a:t>ρ</a:t>
            </a:r>
            <a:r>
              <a:rPr lang="en-US" sz="2400" b="1">
                <a:latin typeface="Times New Roman" pitchFamily="18" charset="0"/>
              </a:rPr>
              <a:t>=1 then series Y</a:t>
            </a:r>
            <a:r>
              <a:rPr lang="en-US" sz="2400" b="1" baseline="-25000">
                <a:latin typeface="Times New Roman" pitchFamily="18" charset="0"/>
              </a:rPr>
              <a:t>t</a:t>
            </a:r>
            <a:r>
              <a:rPr lang="en-US" sz="2400" b="1">
                <a:latin typeface="Times New Roman" pitchFamily="18" charset="0"/>
              </a:rPr>
              <a:t>  has a unit root</a:t>
            </a:r>
          </a:p>
          <a:p>
            <a:pPr algn="just"/>
            <a:endParaRPr lang="el-GR" sz="2400" b="1">
              <a:latin typeface="Times New Roman" pitchFamily="18" charset="0"/>
              <a:cs typeface="Times New Roman" pitchFamily="18" charset="0"/>
            </a:endParaRPr>
          </a:p>
          <a:p>
            <a:pPr algn="just"/>
            <a:r>
              <a:rPr lang="en-US" sz="2400" b="1">
                <a:latin typeface="Times New Roman" pitchFamily="18" charset="0"/>
              </a:rPr>
              <a:t>Null Hypothesis:</a:t>
            </a:r>
          </a:p>
          <a:p>
            <a:pPr algn="just"/>
            <a:endParaRPr lang="en-US" sz="2400" b="1">
              <a:latin typeface="Times New Roman" pitchFamily="18" charset="0"/>
            </a:endParaRPr>
          </a:p>
          <a:p>
            <a:pPr lvl="1" algn="just"/>
            <a:r>
              <a:rPr lang="en-US" sz="2400" b="1">
                <a:latin typeface="Times New Roman" pitchFamily="18" charset="0"/>
              </a:rPr>
              <a:t>  H</a:t>
            </a:r>
            <a:r>
              <a:rPr lang="en-US" sz="2400" b="1" baseline="-25000">
                <a:latin typeface="Times New Roman" pitchFamily="18" charset="0"/>
              </a:rPr>
              <a:t>o</a:t>
            </a:r>
            <a:r>
              <a:rPr lang="en-US" sz="2400" b="1">
                <a:latin typeface="Times New Roman" pitchFamily="18" charset="0"/>
              </a:rPr>
              <a:t>:  Series has unit root and is nonstationary</a:t>
            </a:r>
          </a:p>
          <a:p>
            <a:pPr lvl="1" algn="just"/>
            <a:endParaRPr lang="en-US" sz="2400" b="1">
              <a:latin typeface="Times New Roman" pitchFamily="18" charset="0"/>
            </a:endParaRPr>
          </a:p>
          <a:p>
            <a:pPr lvl="1" algn="just"/>
            <a:r>
              <a:rPr lang="en-US" sz="2400" b="1">
                <a:latin typeface="Times New Roman" pitchFamily="18" charset="0"/>
              </a:rPr>
              <a:t>  H</a:t>
            </a:r>
            <a:r>
              <a:rPr lang="en-US" sz="2400" b="1" baseline="-25000">
                <a:latin typeface="Times New Roman" pitchFamily="18" charset="0"/>
              </a:rPr>
              <a:t>A</a:t>
            </a:r>
            <a:r>
              <a:rPr lang="en-US" sz="2400" b="1">
                <a:latin typeface="Times New Roman" pitchFamily="18" charset="0"/>
              </a:rPr>
              <a:t>:  Series is stationary</a:t>
            </a:r>
          </a:p>
          <a:p>
            <a:pPr lvl="1" algn="just"/>
            <a:endParaRPr lang="en-US" sz="2400" b="1">
              <a:latin typeface="Times New Roman" pitchFamily="18" charset="0"/>
            </a:endParaRPr>
          </a:p>
          <a:p>
            <a:pPr algn="just"/>
            <a:r>
              <a:rPr lang="en-US" sz="2400" b="1">
                <a:latin typeface="Times New Roman" pitchFamily="18" charset="0"/>
              </a:rPr>
              <a:t>Here, if you reject the null, you have stationarity and thus, don’t need to difference.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1510">
                                            <p:txEl>
                                              <p:pRg st="0" end="0"/>
                                            </p:txEl>
                                          </p:spTgt>
                                        </p:tgtEl>
                                        <p:attrNameLst>
                                          <p:attrName>style.visibility</p:attrName>
                                        </p:attrNameLst>
                                      </p:cBhvr>
                                      <p:to>
                                        <p:strVal val="visible"/>
                                      </p:to>
                                    </p:set>
                                    <p:animEffect transition="in" filter="blinds(horizontal)">
                                      <p:cBhvr>
                                        <p:cTn id="7" dur="500"/>
                                        <p:tgtEl>
                                          <p:spTgt spid="2151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1510">
                                            <p:txEl>
                                              <p:pRg st="2" end="2"/>
                                            </p:txEl>
                                          </p:spTgt>
                                        </p:tgtEl>
                                        <p:attrNameLst>
                                          <p:attrName>style.visibility</p:attrName>
                                        </p:attrNameLst>
                                      </p:cBhvr>
                                      <p:to>
                                        <p:strVal val="visible"/>
                                      </p:to>
                                    </p:set>
                                    <p:animEffect transition="in" filter="blinds(horizontal)">
                                      <p:cBhvr>
                                        <p:cTn id="12" dur="500"/>
                                        <p:tgtEl>
                                          <p:spTgt spid="21510">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1510">
                                            <p:txEl>
                                              <p:pRg st="4" end="4"/>
                                            </p:txEl>
                                          </p:spTgt>
                                        </p:tgtEl>
                                        <p:attrNameLst>
                                          <p:attrName>style.visibility</p:attrName>
                                        </p:attrNameLst>
                                      </p:cBhvr>
                                      <p:to>
                                        <p:strVal val="visible"/>
                                      </p:to>
                                    </p:set>
                                    <p:animEffect transition="in" filter="blinds(horizontal)">
                                      <p:cBhvr>
                                        <p:cTn id="17" dur="500"/>
                                        <p:tgtEl>
                                          <p:spTgt spid="21510">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1510">
                                            <p:txEl>
                                              <p:pRg st="6" end="6"/>
                                            </p:txEl>
                                          </p:spTgt>
                                        </p:tgtEl>
                                        <p:attrNameLst>
                                          <p:attrName>style.visibility</p:attrName>
                                        </p:attrNameLst>
                                      </p:cBhvr>
                                      <p:to>
                                        <p:strVal val="visible"/>
                                      </p:to>
                                    </p:set>
                                    <p:animEffect transition="in" filter="blinds(horizontal)">
                                      <p:cBhvr>
                                        <p:cTn id="22" dur="500"/>
                                        <p:tgtEl>
                                          <p:spTgt spid="21510">
                                            <p:txEl>
                                              <p:pRg st="6" end="6"/>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21510">
                                            <p:txEl>
                                              <p:pRg st="8" end="8"/>
                                            </p:txEl>
                                          </p:spTgt>
                                        </p:tgtEl>
                                        <p:attrNameLst>
                                          <p:attrName>style.visibility</p:attrName>
                                        </p:attrNameLst>
                                      </p:cBhvr>
                                      <p:to>
                                        <p:strVal val="visible"/>
                                      </p:to>
                                    </p:set>
                                    <p:animEffect transition="in" filter="blinds(horizontal)">
                                      <p:cBhvr>
                                        <p:cTn id="25" dur="500"/>
                                        <p:tgtEl>
                                          <p:spTgt spid="21510">
                                            <p:txEl>
                                              <p:pRg st="8" end="8"/>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21510">
                                            <p:txEl>
                                              <p:pRg st="10" end="10"/>
                                            </p:txEl>
                                          </p:spTgt>
                                        </p:tgtEl>
                                        <p:attrNameLst>
                                          <p:attrName>style.visibility</p:attrName>
                                        </p:attrNameLst>
                                      </p:cBhvr>
                                      <p:to>
                                        <p:strVal val="visible"/>
                                      </p:to>
                                    </p:set>
                                    <p:animEffect transition="in" filter="blinds(horizontal)">
                                      <p:cBhvr>
                                        <p:cTn id="28" dur="500"/>
                                        <p:tgtEl>
                                          <p:spTgt spid="21510">
                                            <p:txEl>
                                              <p:pRg st="10" end="10"/>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nodeType="clickEffect">
                                  <p:stCondLst>
                                    <p:cond delay="0"/>
                                  </p:stCondLst>
                                  <p:childTnLst>
                                    <p:set>
                                      <p:cBhvr>
                                        <p:cTn id="32" dur="1" fill="hold">
                                          <p:stCondLst>
                                            <p:cond delay="0"/>
                                          </p:stCondLst>
                                        </p:cTn>
                                        <p:tgtEl>
                                          <p:spTgt spid="21510">
                                            <p:txEl>
                                              <p:pRg st="12" end="12"/>
                                            </p:txEl>
                                          </p:spTgt>
                                        </p:tgtEl>
                                        <p:attrNameLst>
                                          <p:attrName>style.visibility</p:attrName>
                                        </p:attrNameLst>
                                      </p:cBhvr>
                                      <p:to>
                                        <p:strVal val="visible"/>
                                      </p:to>
                                    </p:set>
                                    <p:animEffect transition="in" filter="blinds(horizontal)">
                                      <p:cBhvr>
                                        <p:cTn id="33" dur="500"/>
                                        <p:tgtEl>
                                          <p:spTgt spid="21510">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4"/>
          <p:cNvSpPr>
            <a:spLocks noGrp="1" noChangeArrowheads="1"/>
          </p:cNvSpPr>
          <p:nvPr>
            <p:ph type="title"/>
          </p:nvPr>
        </p:nvSpPr>
        <p:spPr>
          <a:xfrm>
            <a:off x="0" y="0"/>
            <a:ext cx="9144000" cy="609600"/>
          </a:xfrm>
          <a:noFill/>
        </p:spPr>
        <p:txBody>
          <a:bodyPr/>
          <a:lstStyle/>
          <a:p>
            <a:pPr eaLnBrk="1" hangingPunct="1"/>
            <a:r>
              <a:rPr lang="en-US" sz="3100" smtClean="0">
                <a:solidFill>
                  <a:srgbClr val="990000"/>
                </a:solidFill>
              </a:rPr>
              <a:t>Dickey-Fuller test</a:t>
            </a:r>
          </a:p>
        </p:txBody>
      </p:sp>
      <p:sp>
        <p:nvSpPr>
          <p:cNvPr id="25603" name="Text Box 6"/>
          <p:cNvSpPr txBox="1">
            <a:spLocks noChangeArrowheads="1"/>
          </p:cNvSpPr>
          <p:nvPr/>
        </p:nvSpPr>
        <p:spPr bwMode="auto">
          <a:xfrm>
            <a:off x="381000" y="1184275"/>
            <a:ext cx="8763000" cy="2557463"/>
          </a:xfrm>
          <a:prstGeom prst="rect">
            <a:avLst/>
          </a:prstGeom>
          <a:noFill/>
          <a:ln w="9525">
            <a:noFill/>
            <a:miter lim="800000"/>
            <a:headEnd/>
            <a:tailEnd/>
          </a:ln>
        </p:spPr>
        <p:txBody>
          <a:bodyPr>
            <a:spAutoFit/>
          </a:bodyPr>
          <a:lstStyle/>
          <a:p>
            <a:r>
              <a:rPr lang="en-US" sz="2400" b="1">
                <a:latin typeface="Times New Roman" pitchFamily="18" charset="0"/>
                <a:cs typeface="Arial" charset="0"/>
              </a:rPr>
              <a:t>∆ Y</a:t>
            </a:r>
            <a:r>
              <a:rPr lang="en-US" sz="2400" b="1" baseline="-25000">
                <a:latin typeface="Times New Roman" pitchFamily="18" charset="0"/>
                <a:cs typeface="Arial" charset="0"/>
              </a:rPr>
              <a:t>t</a:t>
            </a:r>
            <a:r>
              <a:rPr lang="en-US" sz="2400" b="1">
                <a:latin typeface="Times New Roman" pitchFamily="18" charset="0"/>
                <a:cs typeface="Arial" charset="0"/>
              </a:rPr>
              <a:t> = (</a:t>
            </a:r>
            <a:r>
              <a:rPr lang="el-GR" sz="2400" b="1">
                <a:latin typeface="Times New Roman" pitchFamily="18" charset="0"/>
                <a:cs typeface="Arial" charset="0"/>
              </a:rPr>
              <a:t>ρ</a:t>
            </a:r>
            <a:r>
              <a:rPr lang="en-US" sz="2400" b="1">
                <a:latin typeface="Times New Roman" pitchFamily="18" charset="0"/>
                <a:cs typeface="Arial" charset="0"/>
              </a:rPr>
              <a:t>-1)Y</a:t>
            </a:r>
            <a:r>
              <a:rPr lang="en-US" sz="2400" b="1" baseline="-25000">
                <a:latin typeface="Times New Roman" pitchFamily="18" charset="0"/>
                <a:cs typeface="Arial" charset="0"/>
              </a:rPr>
              <a:t>t-1</a:t>
            </a:r>
            <a:r>
              <a:rPr lang="en-US" sz="2400" b="1">
                <a:latin typeface="Times New Roman" pitchFamily="18" charset="0"/>
                <a:cs typeface="Arial" charset="0"/>
              </a:rPr>
              <a:t>+u</a:t>
            </a:r>
            <a:r>
              <a:rPr lang="en-US" sz="2400" b="1" baseline="-25000">
                <a:latin typeface="Times New Roman" pitchFamily="18" charset="0"/>
                <a:cs typeface="Arial" charset="0"/>
              </a:rPr>
              <a:t>t    				 </a:t>
            </a:r>
            <a:r>
              <a:rPr lang="en-US" sz="2400" b="1">
                <a:latin typeface="Times New Roman" pitchFamily="18" charset="0"/>
                <a:cs typeface="Arial" charset="0"/>
              </a:rPr>
              <a:t>(</a:t>
            </a:r>
            <a:r>
              <a:rPr lang="en-US" sz="2400" b="1">
                <a:latin typeface="Times New Roman" pitchFamily="18" charset="0"/>
              </a:rPr>
              <a:t>∆ Y</a:t>
            </a:r>
            <a:r>
              <a:rPr lang="en-US" sz="2400" b="1" baseline="-25000">
                <a:latin typeface="Times New Roman" pitchFamily="18" charset="0"/>
              </a:rPr>
              <a:t>t</a:t>
            </a:r>
            <a:r>
              <a:rPr lang="en-US" sz="2400" b="1">
                <a:latin typeface="Times New Roman" pitchFamily="18" charset="0"/>
              </a:rPr>
              <a:t> = Y</a:t>
            </a:r>
            <a:r>
              <a:rPr lang="en-US" sz="2400" b="1" baseline="-25000">
                <a:latin typeface="Times New Roman" pitchFamily="18" charset="0"/>
              </a:rPr>
              <a:t>t</a:t>
            </a:r>
            <a:r>
              <a:rPr lang="en-US" sz="2400" b="1">
                <a:latin typeface="Times New Roman" pitchFamily="18" charset="0"/>
              </a:rPr>
              <a:t>-Y</a:t>
            </a:r>
            <a:r>
              <a:rPr lang="en-US" sz="2400" b="1" baseline="-25000">
                <a:latin typeface="Times New Roman" pitchFamily="18" charset="0"/>
              </a:rPr>
              <a:t>t-1</a:t>
            </a:r>
            <a:r>
              <a:rPr lang="en-US" sz="2400" b="1">
                <a:latin typeface="Times New Roman" pitchFamily="18" charset="0"/>
              </a:rPr>
              <a:t>)</a:t>
            </a:r>
          </a:p>
          <a:p>
            <a:endParaRPr lang="en-US" sz="2400" b="1">
              <a:latin typeface="Times New Roman" pitchFamily="18" charset="0"/>
            </a:endParaRPr>
          </a:p>
          <a:p>
            <a:r>
              <a:rPr lang="el-GR" sz="2400" b="1">
                <a:latin typeface="Times New Roman" pitchFamily="18" charset="0"/>
                <a:cs typeface="Times New Roman" pitchFamily="18" charset="0"/>
              </a:rPr>
              <a:t>δ</a:t>
            </a:r>
            <a:r>
              <a:rPr lang="en-US" sz="2400" b="1">
                <a:latin typeface="Times New Roman" pitchFamily="18" charset="0"/>
                <a:cs typeface="Times New Roman" pitchFamily="18" charset="0"/>
              </a:rPr>
              <a:t> = </a:t>
            </a:r>
            <a:r>
              <a:rPr lang="en-US" sz="2400" b="1">
                <a:latin typeface="Times New Roman" pitchFamily="18" charset="0"/>
              </a:rPr>
              <a:t>(</a:t>
            </a:r>
            <a:r>
              <a:rPr lang="el-GR" sz="2400" b="1">
                <a:latin typeface="Times New Roman" pitchFamily="18" charset="0"/>
              </a:rPr>
              <a:t>ρ</a:t>
            </a:r>
            <a:r>
              <a:rPr lang="en-US" sz="2400" b="1">
                <a:latin typeface="Times New Roman" pitchFamily="18" charset="0"/>
              </a:rPr>
              <a:t>-1)</a:t>
            </a:r>
          </a:p>
          <a:p>
            <a:endParaRPr lang="en-US" sz="2400" b="1">
              <a:latin typeface="Times New Roman" pitchFamily="18" charset="0"/>
            </a:endParaRPr>
          </a:p>
          <a:p>
            <a:r>
              <a:rPr lang="en-US" sz="2400" b="1">
                <a:latin typeface="Times New Roman" pitchFamily="18" charset="0"/>
              </a:rPr>
              <a:t>Null: </a:t>
            </a:r>
            <a:r>
              <a:rPr lang="el-GR" sz="2400" b="1">
                <a:latin typeface="Times New Roman" pitchFamily="18" charset="0"/>
              </a:rPr>
              <a:t>δ</a:t>
            </a:r>
            <a:r>
              <a:rPr lang="en-US" sz="2400" b="1">
                <a:latin typeface="Times New Roman" pitchFamily="18" charset="0"/>
              </a:rPr>
              <a:t> = 0 (Why)</a:t>
            </a:r>
          </a:p>
          <a:p>
            <a:endParaRPr lang="en-US" sz="2400" b="1">
              <a:latin typeface="Times New Roman" pitchFamily="18" charset="0"/>
            </a:endParaRPr>
          </a:p>
          <a:p>
            <a:r>
              <a:rPr lang="en-US" b="1"/>
              <a:t>∆ Y</a:t>
            </a:r>
            <a:r>
              <a:rPr lang="en-US" b="1" baseline="-25000"/>
              <a:t>t</a:t>
            </a:r>
            <a:r>
              <a:rPr lang="en-US" b="1"/>
              <a:t> = Y</a:t>
            </a:r>
            <a:r>
              <a:rPr lang="en-US" b="1" baseline="-25000"/>
              <a:t>t</a:t>
            </a:r>
            <a:r>
              <a:rPr lang="en-US" b="1"/>
              <a:t> –Y </a:t>
            </a:r>
            <a:r>
              <a:rPr lang="en-US" b="1" baseline="-25000"/>
              <a:t>t-1</a:t>
            </a:r>
            <a:r>
              <a:rPr lang="en-US" b="1"/>
              <a:t> = u</a:t>
            </a:r>
            <a:r>
              <a:rPr lang="en-US" b="1" baseline="-25000"/>
              <a:t>t</a:t>
            </a:r>
            <a:r>
              <a:rPr lang="en-US"/>
              <a:t> </a:t>
            </a:r>
            <a:endParaRPr lang="el-GR"/>
          </a:p>
        </p:txBody>
      </p:sp>
      <p:sp>
        <p:nvSpPr>
          <p:cNvPr id="25604" name="Rectangle 7"/>
          <p:cNvSpPr>
            <a:spLocks noChangeArrowheads="1"/>
          </p:cNvSpPr>
          <p:nvPr/>
        </p:nvSpPr>
        <p:spPr bwMode="auto">
          <a:xfrm>
            <a:off x="457200" y="3962400"/>
            <a:ext cx="8534400" cy="1187450"/>
          </a:xfrm>
          <a:prstGeom prst="rect">
            <a:avLst/>
          </a:prstGeom>
          <a:noFill/>
          <a:ln w="9525">
            <a:noFill/>
            <a:miter lim="800000"/>
            <a:headEnd/>
            <a:tailEnd/>
          </a:ln>
        </p:spPr>
        <p:txBody>
          <a:bodyPr>
            <a:spAutoFit/>
          </a:bodyPr>
          <a:lstStyle/>
          <a:p>
            <a:pPr algn="just"/>
            <a:r>
              <a:rPr lang="en-US" sz="2400" b="1">
                <a:latin typeface="Times New Roman" pitchFamily="18" charset="0"/>
                <a:sym typeface="Symbol" pitchFamily="18" charset="2"/>
              </a:rPr>
              <a:t>Test statistic is t-test.</a:t>
            </a:r>
          </a:p>
          <a:p>
            <a:pPr algn="just"/>
            <a:endParaRPr lang="en-US" sz="2400" b="1">
              <a:latin typeface="Times New Roman" pitchFamily="18" charset="0"/>
              <a:sym typeface="Symbol" pitchFamily="18" charset="2"/>
            </a:endParaRPr>
          </a:p>
          <a:p>
            <a:pPr algn="just"/>
            <a:endParaRPr lang="en-US" sz="2400" b="1">
              <a:latin typeface="Times New Roman" pitchFamily="18" charset="0"/>
              <a:sym typeface="Symbol" pitchFamily="18" charset="2"/>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98" name="Group 2"/>
          <p:cNvGraphicFramePr>
            <a:graphicFrameLocks noGrp="1"/>
          </p:cNvGraphicFramePr>
          <p:nvPr/>
        </p:nvGraphicFramePr>
        <p:xfrm>
          <a:off x="468313" y="333375"/>
          <a:ext cx="8280400" cy="5637213"/>
        </p:xfrm>
        <a:graphic>
          <a:graphicData uri="http://schemas.openxmlformats.org/drawingml/2006/table">
            <a:tbl>
              <a:tblPr/>
              <a:tblGrid>
                <a:gridCol w="4140200"/>
                <a:gridCol w="4140200"/>
              </a:tblGrid>
              <a:tr h="6477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tx1"/>
                          </a:solidFill>
                          <a:effectLst/>
                          <a:latin typeface="Arial" pitchFamily="34" charset="0"/>
                        </a:rPr>
                        <a:t>Stationary</a:t>
                      </a:r>
                      <a:r>
                        <a:rPr kumimoji="0" lang="en-US" sz="2000" b="0" i="0" u="none" strike="noStrike" cap="none" normalizeH="0" baseline="0" smtClean="0">
                          <a:ln>
                            <a:noFill/>
                          </a:ln>
                          <a:solidFill>
                            <a:schemeClr val="tx1"/>
                          </a:solidFill>
                          <a:effectLst/>
                          <a:latin typeface="Arial" pitchFamily="34" charset="0"/>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tx1"/>
                          </a:solidFill>
                          <a:effectLst/>
                          <a:latin typeface="Arial" pitchFamily="34" charset="0"/>
                        </a:rPr>
                        <a:t>Non-stationary</a:t>
                      </a:r>
                      <a:r>
                        <a:rPr kumimoji="0" lang="en-US" sz="2000" b="0" i="0" u="none" strike="noStrike" cap="none" normalizeH="0" baseline="0" smtClean="0">
                          <a:ln>
                            <a:noFill/>
                          </a:ln>
                          <a:solidFill>
                            <a:schemeClr val="tx1"/>
                          </a:solidFill>
                          <a:effectLst/>
                          <a:latin typeface="Arial" pitchFamily="34" charset="0"/>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08063">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pitchFamily="34" charset="0"/>
                        </a:rPr>
                        <a:t> Exhibits </a:t>
                      </a:r>
                      <a:r>
                        <a:rPr kumimoji="0" lang="en-US" sz="2000" b="0" i="1" u="none" strike="noStrike" cap="none" normalizeH="0" baseline="0" smtClean="0">
                          <a:ln>
                            <a:noFill/>
                          </a:ln>
                          <a:solidFill>
                            <a:schemeClr val="tx1"/>
                          </a:solidFill>
                          <a:effectLst/>
                          <a:latin typeface="Arial" pitchFamily="34" charset="0"/>
                        </a:rPr>
                        <a:t>mean reversion</a:t>
                      </a:r>
                      <a:r>
                        <a:rPr kumimoji="0" lang="en-US" sz="2000" b="1" i="0" u="none" strike="noStrike" cap="none" normalizeH="0" baseline="0" smtClean="0">
                          <a:ln>
                            <a:noFill/>
                          </a:ln>
                          <a:solidFill>
                            <a:schemeClr val="tx1"/>
                          </a:solidFill>
                          <a:effectLst/>
                          <a:latin typeface="Arial" pitchFamily="34" charset="0"/>
                        </a:rPr>
                        <a:t> </a:t>
                      </a:r>
                      <a:r>
                        <a:rPr kumimoji="0" lang="en-US" sz="2000" b="0" i="0" u="none" strike="noStrike" cap="none" normalizeH="0" baseline="0" smtClean="0">
                          <a:ln>
                            <a:noFill/>
                          </a:ln>
                          <a:solidFill>
                            <a:schemeClr val="tx1"/>
                          </a:solidFill>
                          <a:effectLst/>
                          <a:latin typeface="Arial" pitchFamily="34" charset="0"/>
                        </a:rPr>
                        <a:t>in that it fluctuates around a constant long run mean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pitchFamily="34" charset="0"/>
                        </a:rPr>
                        <a:t>There is no long-run mean to which the series returns.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79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pitchFamily="34" charset="0"/>
                        </a:rPr>
                        <a:t>Has a finite variance that is time invariant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pitchFamily="34" charset="0"/>
                        </a:rPr>
                        <a:t>The variance is time dependent and goes to infinity as time approaches to infinity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4509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pitchFamily="34" charset="0"/>
                        </a:rPr>
                        <a:t>Has a theoretical correlogram that diminishes as lag length increases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pitchFamily="34" charset="0"/>
                        </a:rPr>
                        <a:t>Theoretical autocorrelations do not decay but, in finite samples, the sample correlogram dies out slowly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4509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smtClean="0">
                        <a:ln>
                          <a:noFill/>
                        </a:ln>
                        <a:solidFill>
                          <a:schemeClr val="tx1"/>
                        </a:solidFill>
                        <a:effectLst/>
                        <a:latin typeface="Arial"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Arial" pitchFamily="34" charset="0"/>
                        </a:rPr>
                        <a:t>Examples: Share prices, Exchange Rate, Income etc.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dirty="0" smtClean="0"/>
              <a:t>Preparing data for Analysis…</a:t>
            </a:r>
          </a:p>
        </p:txBody>
      </p:sp>
      <p:sp>
        <p:nvSpPr>
          <p:cNvPr id="17411" name="Rectangle 3"/>
          <p:cNvSpPr>
            <a:spLocks noGrp="1" noChangeArrowheads="1"/>
          </p:cNvSpPr>
          <p:nvPr>
            <p:ph type="body" idx="1"/>
          </p:nvPr>
        </p:nvSpPr>
        <p:spPr/>
        <p:txBody>
          <a:bodyPr/>
          <a:lstStyle/>
          <a:p>
            <a:pPr eaLnBrk="1" hangingPunct="1">
              <a:buFontTx/>
              <a:buNone/>
            </a:pPr>
            <a:r>
              <a:rPr lang="en-US" dirty="0" smtClean="0">
                <a:solidFill>
                  <a:srgbClr val="CC0000"/>
                </a:solidFill>
              </a:rPr>
              <a:t>Testing for </a:t>
            </a:r>
            <a:r>
              <a:rPr lang="en-US" dirty="0" err="1" smtClean="0">
                <a:solidFill>
                  <a:srgbClr val="CC0000"/>
                </a:solidFill>
              </a:rPr>
              <a:t>homoscedasticity</a:t>
            </a:r>
            <a:r>
              <a:rPr lang="en-US" dirty="0" smtClean="0">
                <a:solidFill>
                  <a:schemeClr val="accent2"/>
                </a:solidFill>
              </a:rPr>
              <a:t> –variable exhibits equal level of variance across  time</a:t>
            </a:r>
          </a:p>
          <a:p>
            <a:pPr eaLnBrk="1" hangingPunct="1">
              <a:buFontTx/>
              <a:buNone/>
            </a:pPr>
            <a:r>
              <a:rPr lang="en-US" dirty="0" smtClean="0">
                <a:solidFill>
                  <a:schemeClr val="accent2"/>
                </a:solidFill>
              </a:rPr>
              <a:t>Unequal dispersion -  wide range of values of data, skewed distribution</a:t>
            </a:r>
          </a:p>
          <a:p>
            <a:pPr eaLnBrk="1" hangingPunct="1">
              <a:buFontTx/>
              <a:buNone/>
            </a:pPr>
            <a:r>
              <a:rPr lang="en-US" dirty="0" smtClean="0">
                <a:solidFill>
                  <a:schemeClr val="accent2"/>
                </a:solidFill>
              </a:rPr>
              <a:t>Transform data  similar to normality</a:t>
            </a:r>
          </a:p>
          <a:p>
            <a:pPr eaLnBrk="1" hangingPunct="1">
              <a:buFontTx/>
              <a:buNone/>
            </a:pPr>
            <a:endParaRPr lang="en-US" dirty="0" smtClean="0">
              <a:solidFill>
                <a:schemeClr val="accent2"/>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smtClean="0"/>
              <a:t>Preparing data for Analysis…</a:t>
            </a:r>
          </a:p>
        </p:txBody>
      </p:sp>
      <p:sp>
        <p:nvSpPr>
          <p:cNvPr id="18435" name="Rectangle 3"/>
          <p:cNvSpPr>
            <a:spLocks noGrp="1" noChangeArrowheads="1"/>
          </p:cNvSpPr>
          <p:nvPr>
            <p:ph type="body" idx="1"/>
          </p:nvPr>
        </p:nvSpPr>
        <p:spPr/>
        <p:txBody>
          <a:bodyPr/>
          <a:lstStyle/>
          <a:p>
            <a:pPr eaLnBrk="1" hangingPunct="1">
              <a:buFontTx/>
              <a:buNone/>
            </a:pPr>
            <a:r>
              <a:rPr lang="en-US" smtClean="0">
                <a:solidFill>
                  <a:srgbClr val="CC0000"/>
                </a:solidFill>
              </a:rPr>
              <a:t>Testing for linearity</a:t>
            </a:r>
          </a:p>
          <a:p>
            <a:pPr eaLnBrk="1" hangingPunct="1">
              <a:buFontTx/>
              <a:buNone/>
            </a:pPr>
            <a:r>
              <a:rPr lang="en-US" smtClean="0">
                <a:solidFill>
                  <a:schemeClr val="accent2"/>
                </a:solidFill>
              </a:rPr>
              <a:t>Scatter plots</a:t>
            </a:r>
          </a:p>
          <a:p>
            <a:pPr eaLnBrk="1" hangingPunct="1">
              <a:buFontTx/>
              <a:buNone/>
            </a:pPr>
            <a:r>
              <a:rPr lang="en-US" smtClean="0">
                <a:solidFill>
                  <a:schemeClr val="accent2"/>
                </a:solidFill>
              </a:rPr>
              <a:t>Examine residuals in regression</a:t>
            </a:r>
          </a:p>
          <a:p>
            <a:pPr eaLnBrk="1" hangingPunct="1">
              <a:buFontTx/>
              <a:buNone/>
            </a:pPr>
            <a:endParaRPr lang="en-US" smtClean="0">
              <a:solidFill>
                <a:schemeClr val="accent2"/>
              </a:solidFill>
            </a:endParaRPr>
          </a:p>
          <a:p>
            <a:pPr eaLnBrk="1" hangingPunct="1">
              <a:buFontTx/>
              <a:buNone/>
            </a:pPr>
            <a:endParaRPr lang="en-US" smtClean="0">
              <a:solidFill>
                <a:schemeClr val="accent2"/>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Develop the model</a:t>
            </a:r>
            <a:endParaRPr lang="en-IN" dirty="0"/>
          </a:p>
        </p:txBody>
      </p:sp>
      <p:sp>
        <p:nvSpPr>
          <p:cNvPr id="3" name="Content Placeholder 2"/>
          <p:cNvSpPr>
            <a:spLocks noGrp="1"/>
          </p:cNvSpPr>
          <p:nvPr>
            <p:ph idx="1"/>
          </p:nvPr>
        </p:nvSpPr>
        <p:spPr/>
        <p:txBody>
          <a:bodyPr>
            <a:normAutofit/>
          </a:bodyPr>
          <a:lstStyle/>
          <a:p>
            <a:r>
              <a:rPr lang="en-IN" dirty="0" smtClean="0"/>
              <a:t> Prepare the data and understand the data </a:t>
            </a:r>
          </a:p>
          <a:p>
            <a:r>
              <a:rPr lang="en-US" dirty="0" smtClean="0"/>
              <a:t>Understand the underlying theory</a:t>
            </a:r>
          </a:p>
          <a:p>
            <a:r>
              <a:rPr lang="en-IN" dirty="0" smtClean="0"/>
              <a:t>Choose the technique for model building   and develop the model. </a:t>
            </a:r>
          </a:p>
          <a:p>
            <a:pPr>
              <a:buNone/>
            </a:pPr>
            <a:r>
              <a:rPr lang="en-IN" dirty="0" smtClean="0"/>
              <a:t>	 - understand the techniques  before choosing them for  model building. </a:t>
            </a:r>
          </a:p>
          <a:p>
            <a:r>
              <a:rPr lang="en-US" dirty="0" smtClean="0"/>
              <a:t>Develop the model and experiment</a:t>
            </a:r>
          </a:p>
          <a:p>
            <a:r>
              <a:rPr lang="en-US" dirty="0" smtClean="0"/>
              <a:t>Test for robustness </a:t>
            </a:r>
          </a:p>
          <a:p>
            <a:pPr>
              <a:buNone/>
            </a:pPr>
            <a:endParaRPr lang="en-IN" dirty="0" smtClean="0"/>
          </a:p>
          <a:p>
            <a:pPr>
              <a:buNone/>
            </a:pPr>
            <a:endParaRPr lang="en-IN"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609600" y="0"/>
            <a:ext cx="7772400" cy="685800"/>
          </a:xfrm>
        </p:spPr>
        <p:txBody>
          <a:bodyPr/>
          <a:lstStyle/>
          <a:p>
            <a:pPr eaLnBrk="1" hangingPunct="1"/>
            <a:r>
              <a:rPr lang="en-US" sz="3600" smtClean="0"/>
              <a:t>Final thoughts</a:t>
            </a:r>
          </a:p>
        </p:txBody>
      </p:sp>
      <p:sp>
        <p:nvSpPr>
          <p:cNvPr id="32771" name="Rectangle 3"/>
          <p:cNvSpPr>
            <a:spLocks noGrp="1" noChangeArrowheads="1"/>
          </p:cNvSpPr>
          <p:nvPr>
            <p:ph type="body" idx="1"/>
          </p:nvPr>
        </p:nvSpPr>
        <p:spPr>
          <a:xfrm>
            <a:off x="228600" y="914400"/>
            <a:ext cx="8610600" cy="5791200"/>
          </a:xfrm>
        </p:spPr>
        <p:txBody>
          <a:bodyPr>
            <a:normAutofit/>
          </a:bodyPr>
          <a:lstStyle/>
          <a:p>
            <a:pPr eaLnBrk="1" hangingPunct="1"/>
            <a:endParaRPr lang="en-US" sz="2800" dirty="0" smtClean="0"/>
          </a:p>
          <a:p>
            <a:pPr eaLnBrk="1" hangingPunct="1"/>
            <a:r>
              <a:rPr lang="en-US" dirty="0" smtClean="0"/>
              <a:t>Quantitative techniques – Tools to aid decision making </a:t>
            </a:r>
          </a:p>
          <a:p>
            <a:pPr eaLnBrk="1" hangingPunct="1">
              <a:buNone/>
            </a:pPr>
            <a:endParaRPr lang="en-US" dirty="0" smtClean="0"/>
          </a:p>
          <a:p>
            <a:pPr eaLnBrk="1" hangingPunct="1">
              <a:buNone/>
            </a:pPr>
            <a:r>
              <a:rPr lang="en-US" dirty="0" smtClean="0"/>
              <a:t> But remember ….</a:t>
            </a:r>
          </a:p>
          <a:p>
            <a:pPr lvl="1" eaLnBrk="1" hangingPunct="1">
              <a:buFont typeface="Wingdings" pitchFamily="2" charset="2"/>
              <a:buNone/>
            </a:pPr>
            <a:endParaRPr lang="en-US" dirty="0" smtClean="0"/>
          </a:p>
          <a:p>
            <a:pPr lvl="1" eaLnBrk="1" hangingPunct="1"/>
            <a:r>
              <a:rPr lang="en-US" dirty="0" smtClean="0"/>
              <a:t>Best aid to decision making is </a:t>
            </a:r>
          </a:p>
          <a:p>
            <a:pPr lvl="1" eaLnBrk="1" hangingPunct="1">
              <a:buFont typeface="Wingdings" pitchFamily="2" charset="2"/>
              <a:buNone/>
            </a:pPr>
            <a:r>
              <a:rPr lang="en-US" dirty="0" smtClean="0"/>
              <a:t>                        </a:t>
            </a:r>
            <a:r>
              <a:rPr lang="en-US" sz="3600" dirty="0" smtClean="0">
                <a:solidFill>
                  <a:srgbClr val="990099"/>
                </a:solidFill>
              </a:rPr>
              <a:t>COMMON SENSE</a:t>
            </a:r>
          </a:p>
        </p:txBody>
      </p:sp>
    </p:spTree>
    <p:extLst>
      <p:ext uri="{BB962C8B-B14F-4D97-AF65-F5344CB8AC3E}">
        <p14:creationId xmlns:p14="http://schemas.microsoft.com/office/powerpoint/2010/main" val="79122327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type="body" idx="1"/>
          </p:nvPr>
        </p:nvSpPr>
        <p:spPr>
          <a:xfrm>
            <a:off x="838200" y="1447800"/>
            <a:ext cx="7772400" cy="3886200"/>
          </a:xfrm>
        </p:spPr>
        <p:txBody>
          <a:bodyPr>
            <a:normAutofit lnSpcReduction="10000"/>
          </a:bodyPr>
          <a:lstStyle/>
          <a:p>
            <a:pPr>
              <a:lnSpc>
                <a:spcPct val="90000"/>
              </a:lnSpc>
            </a:pPr>
            <a:endParaRPr lang="en-US" sz="2800"/>
          </a:p>
          <a:p>
            <a:pPr>
              <a:lnSpc>
                <a:spcPct val="90000"/>
              </a:lnSpc>
            </a:pPr>
            <a:endParaRPr lang="en-US" sz="2800"/>
          </a:p>
          <a:p>
            <a:pPr>
              <a:lnSpc>
                <a:spcPct val="90000"/>
              </a:lnSpc>
            </a:pPr>
            <a:endParaRPr lang="en-US" sz="2800"/>
          </a:p>
          <a:p>
            <a:pPr algn="ctr">
              <a:lnSpc>
                <a:spcPct val="90000"/>
              </a:lnSpc>
              <a:buFont typeface="Wingdings" pitchFamily="2" charset="2"/>
              <a:buNone/>
            </a:pPr>
            <a:endParaRPr lang="en-US" sz="5400">
              <a:solidFill>
                <a:schemeClr val="tx2"/>
              </a:solidFill>
            </a:endParaRPr>
          </a:p>
          <a:p>
            <a:pPr algn="ctr">
              <a:lnSpc>
                <a:spcPct val="90000"/>
              </a:lnSpc>
              <a:buFont typeface="Wingdings" pitchFamily="2" charset="2"/>
              <a:buNone/>
            </a:pPr>
            <a:endParaRPr lang="en-US" sz="5400">
              <a:solidFill>
                <a:schemeClr val="tx2"/>
              </a:solidFill>
            </a:endParaRPr>
          </a:p>
          <a:p>
            <a:pPr algn="ctr">
              <a:lnSpc>
                <a:spcPct val="90000"/>
              </a:lnSpc>
              <a:buFont typeface="Wingdings" pitchFamily="2" charset="2"/>
              <a:buNone/>
            </a:pPr>
            <a:r>
              <a:rPr lang="en-US" sz="5400">
                <a:solidFill>
                  <a:schemeClr val="tx2"/>
                </a:solidFill>
              </a:rPr>
              <a:t>THANK YOU</a:t>
            </a:r>
          </a:p>
          <a:p>
            <a:pPr>
              <a:lnSpc>
                <a:spcPct val="90000"/>
              </a:lnSpc>
            </a:pPr>
            <a:endParaRPr lang="en-US" sz="5400">
              <a:solidFill>
                <a:schemeClr val="tx2"/>
              </a:solidFill>
            </a:endParaRPr>
          </a:p>
        </p:txBody>
      </p:sp>
      <p:graphicFrame>
        <p:nvGraphicFramePr>
          <p:cNvPr id="37895" name="Object 7"/>
          <p:cNvGraphicFramePr>
            <a:graphicFrameLocks noChangeAspect="1"/>
          </p:cNvGraphicFramePr>
          <p:nvPr/>
        </p:nvGraphicFramePr>
        <p:xfrm>
          <a:off x="2514600" y="1524000"/>
          <a:ext cx="3910013" cy="2998788"/>
        </p:xfrm>
        <a:graphic>
          <a:graphicData uri="http://schemas.openxmlformats.org/presentationml/2006/ole">
            <mc:AlternateContent xmlns:mc="http://schemas.openxmlformats.org/markup-compatibility/2006">
              <mc:Choice xmlns:v="urn:schemas-microsoft-com:vml" Requires="v">
                <p:oleObj spid="_x0000_s140294" name="Clip" r:id="rId3" imgW="27108111" imgH="20792970" progId="">
                  <p:embed/>
                </p:oleObj>
              </mc:Choice>
              <mc:Fallback>
                <p:oleObj name="Clip" r:id="rId3" imgW="27108111" imgH="2079297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1524000"/>
                        <a:ext cx="3910013" cy="2998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862059189"/>
      </p:ext>
    </p:extLst>
  </p:cSld>
  <p:clrMapOvr>
    <a:masterClrMapping/>
  </p:clrMapOvr>
  <p:transition advClick="0" advTm="2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afterEffect">
                                  <p:stCondLst>
                                    <p:cond delay="0"/>
                                  </p:stCondLst>
                                  <p:childTnLst>
                                    <p:set>
                                      <p:cBhvr>
                                        <p:cTn id="6" dur="1" fill="hold">
                                          <p:stCondLst>
                                            <p:cond delay="0"/>
                                          </p:stCondLst>
                                        </p:cTn>
                                        <p:tgtEl>
                                          <p:spTgt spid="37895"/>
                                        </p:tgtEl>
                                        <p:attrNameLst>
                                          <p:attrName>style.visibility</p:attrName>
                                        </p:attrNameLst>
                                      </p:cBhvr>
                                      <p:to>
                                        <p:strVal val="visible"/>
                                      </p:to>
                                    </p:set>
                                    <p:animEffect transition="in" filter="slide(fromTop)">
                                      <p:cBhvr>
                                        <p:cTn id="7" dur="500"/>
                                        <p:tgtEl>
                                          <p:spTgt spid="378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431</TotalTime>
  <Words>3651</Words>
  <Application>Microsoft Office PowerPoint</Application>
  <PresentationFormat>On-screen Show (4:3)</PresentationFormat>
  <Paragraphs>515</Paragraphs>
  <Slides>73</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2</vt:i4>
      </vt:variant>
      <vt:variant>
        <vt:lpstr>Slide Titles</vt:lpstr>
      </vt:variant>
      <vt:variant>
        <vt:i4>73</vt:i4>
      </vt:variant>
    </vt:vector>
  </HeadingPairs>
  <TitlesOfParts>
    <vt:vector size="82" baseType="lpstr">
      <vt:lpstr>Arial</vt:lpstr>
      <vt:lpstr>Calibri</vt:lpstr>
      <vt:lpstr>Comic Sans MS</vt:lpstr>
      <vt:lpstr>Symbol</vt:lpstr>
      <vt:lpstr>Times New Roman</vt:lpstr>
      <vt:lpstr>Wingdings</vt:lpstr>
      <vt:lpstr>Office Theme</vt:lpstr>
      <vt:lpstr>Equation</vt:lpstr>
      <vt:lpstr>Clip</vt:lpstr>
      <vt:lpstr>Financial  Modeling -Basics</vt:lpstr>
      <vt:lpstr> Nobel Prize Winners  – Financial Economics</vt:lpstr>
      <vt:lpstr>Eugene Fama</vt:lpstr>
      <vt:lpstr>EUGENE F. FAMA “The Father of Modern Finance” Currently, a professor in University of Chicago. </vt:lpstr>
      <vt:lpstr>Fama’s Efficient Market Hypothesis (EMH) </vt:lpstr>
      <vt:lpstr>PowerPoint Presentation</vt:lpstr>
      <vt:lpstr>EMH </vt:lpstr>
      <vt:lpstr>Books Published</vt:lpstr>
      <vt:lpstr>Awards</vt:lpstr>
      <vt:lpstr>Awards For Research Papers</vt:lpstr>
      <vt:lpstr>Publications</vt:lpstr>
      <vt:lpstr>PowerPoint Presentation</vt:lpstr>
      <vt:lpstr>Robert J. Shiller</vt:lpstr>
      <vt:lpstr>About ‘Bob’ Shiller</vt:lpstr>
      <vt:lpstr>Domains</vt:lpstr>
      <vt:lpstr>Some Publications</vt:lpstr>
      <vt:lpstr>Books</vt:lpstr>
      <vt:lpstr>Case study</vt:lpstr>
      <vt:lpstr>Modeling data - understand the dynamics of the data</vt:lpstr>
      <vt:lpstr>Modeling data - understand the dynamics of the data</vt:lpstr>
      <vt:lpstr>Nobel Prize Winners  – Financial Economics</vt:lpstr>
      <vt:lpstr>Lars Peter Hansen</vt:lpstr>
      <vt:lpstr>PowerPoint Presentation</vt:lpstr>
      <vt:lpstr>PowerPoint Presentation</vt:lpstr>
      <vt:lpstr>PowerPoint Presentation</vt:lpstr>
      <vt:lpstr>PowerPoint Presentation</vt:lpstr>
      <vt:lpstr>PowerPoint Presentation</vt:lpstr>
      <vt:lpstr>Robert Engle (1982) </vt:lpstr>
      <vt:lpstr>Robert Engle  </vt:lpstr>
      <vt:lpstr>Robert Engle  </vt:lpstr>
      <vt:lpstr>Clive Granger (2003 – Nobel Prize ) </vt:lpstr>
      <vt:lpstr>Cointegration</vt:lpstr>
      <vt:lpstr>PowerPoint Presentation</vt:lpstr>
      <vt:lpstr>Case study</vt:lpstr>
      <vt:lpstr>Modeling data - understand the dynamics of the data</vt:lpstr>
      <vt:lpstr>Modeling data - understand the dynamics of the data</vt:lpstr>
      <vt:lpstr>Financial Data Characteristics</vt:lpstr>
      <vt:lpstr>Financial modeling process</vt:lpstr>
      <vt:lpstr>Steps in Analysis</vt:lpstr>
      <vt:lpstr> Testing Data distribution</vt:lpstr>
      <vt:lpstr>Adjusting data for analysis </vt:lpstr>
      <vt:lpstr>TESTING NORMALITY</vt:lpstr>
      <vt:lpstr>Preparing data for Analysis</vt:lpstr>
      <vt:lpstr>PowerPoint Presentation</vt:lpstr>
      <vt:lpstr>Testing Normality</vt:lpstr>
      <vt:lpstr>Descriptive plots</vt:lpstr>
      <vt:lpstr>Theory driven plots</vt:lpstr>
      <vt:lpstr>Descriptive statistics</vt:lpstr>
      <vt:lpstr>Kolmogorov-Smirnov test    now K-S Lilliefors test  </vt:lpstr>
      <vt:lpstr>Shapiro-Wilks W test</vt:lpstr>
      <vt:lpstr>Jarque Bera test</vt:lpstr>
      <vt:lpstr>Jarque Bera test</vt:lpstr>
      <vt:lpstr>Jarque Bera test</vt:lpstr>
      <vt:lpstr>Transforming data for  normality </vt:lpstr>
      <vt:lpstr>Returns</vt:lpstr>
      <vt:lpstr>Preparing data for Analysis…</vt:lpstr>
      <vt:lpstr>PowerPoint Presentation</vt:lpstr>
      <vt:lpstr> Stationarity</vt:lpstr>
      <vt:lpstr> Stationarity</vt:lpstr>
      <vt:lpstr>Making a series stationary</vt:lpstr>
      <vt:lpstr>Making a series stationary</vt:lpstr>
      <vt:lpstr>PowerPoint Presentation</vt:lpstr>
      <vt:lpstr>PowerPoint Presentation</vt:lpstr>
      <vt:lpstr>Autocorrelation Function (ACF) </vt:lpstr>
      <vt:lpstr>Responses to autocorrelation</vt:lpstr>
      <vt:lpstr>Unit Root Hypothesis</vt:lpstr>
      <vt:lpstr>Dickey-Fuller test</vt:lpstr>
      <vt:lpstr>PowerPoint Presentation</vt:lpstr>
      <vt:lpstr>Preparing data for Analysis…</vt:lpstr>
      <vt:lpstr>Preparing data for Analysis…</vt:lpstr>
      <vt:lpstr>Develop the model</vt:lpstr>
      <vt:lpstr>Final thoughts</vt:lpstr>
      <vt:lpstr>PowerPoint Presentation</vt:lpstr>
    </vt:vector>
  </TitlesOfParts>
  <Company>individual</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 Modeling &amp; Anaytics Workshop 2013</dc:title>
  <dc:creator>abcde xyz</dc:creator>
  <cp:lastModifiedBy>Microsoft account</cp:lastModifiedBy>
  <cp:revision>67</cp:revision>
  <dcterms:created xsi:type="dcterms:W3CDTF">2013-10-30T06:22:48Z</dcterms:created>
  <dcterms:modified xsi:type="dcterms:W3CDTF">2026-09-25T03:12:15Z</dcterms:modified>
</cp:coreProperties>
</file>